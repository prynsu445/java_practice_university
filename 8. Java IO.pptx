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3" r:id="rId16"/>
    <p:sldId id="276" r:id="rId17"/>
    <p:sldId id="277" r:id="rId18"/>
    <p:sldId id="278" r:id="rId19"/>
    <p:sldId id="27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73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7C16EE5A-8543-4E0D-ACD1-47C32AE1F7AB}" type="datetimeFigureOut">
              <a:rPr lang="en-IN" smtClean="0"/>
              <a:t>06-11-2024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8425C6-75BB-4658-8AB3-8F9CAFEC6A71}"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C16EE5A-8543-4E0D-ACD1-47C32AE1F7AB}" type="datetimeFigureOut">
              <a:rPr lang="en-IN" smtClean="0"/>
              <a:t>06-11-2024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8425C6-75BB-4658-8AB3-8F9CAFEC6A71}"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C16EE5A-8543-4E0D-ACD1-47C32AE1F7AB}" type="datetimeFigureOut">
              <a:rPr lang="en-IN" smtClean="0"/>
              <a:t>06-11-2024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8425C6-75BB-4658-8AB3-8F9CAFEC6A71}"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7C16EE5A-8543-4E0D-ACD1-47C32AE1F7AB}" type="datetimeFigureOut">
              <a:rPr lang="en-IN" smtClean="0"/>
              <a:t>06-11-2024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8425C6-75BB-4658-8AB3-8F9CAFEC6A71}"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7C16EE5A-8543-4E0D-ACD1-47C32AE1F7AB}" type="datetimeFigureOut">
              <a:rPr lang="en-IN" smtClean="0"/>
              <a:t>06-11-2024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18425C6-75BB-4658-8AB3-8F9CAFEC6A71}"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7C16EE5A-8543-4E0D-ACD1-47C32AE1F7AB}" type="datetimeFigureOut">
              <a:rPr lang="en-IN" smtClean="0"/>
              <a:t>06-11-2024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18425C6-75BB-4658-8AB3-8F9CAFEC6A71}"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16EE5A-8543-4E0D-ACD1-47C32AE1F7AB}" type="datetimeFigureOut">
              <a:rPr lang="en-IN" smtClean="0"/>
              <a:t>06-11-2024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18425C6-75BB-4658-8AB3-8F9CAFEC6A71}"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C16EE5A-8543-4E0D-ACD1-47C32AE1F7AB}" type="datetimeFigureOut">
              <a:rPr lang="en-IN" smtClean="0"/>
              <a:t>06-11-2024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8425C6-75BB-4658-8AB3-8F9CAFEC6A71}"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C16EE5A-8543-4E0D-ACD1-47C32AE1F7AB}" type="datetimeFigureOut">
              <a:rPr lang="en-IN" smtClean="0"/>
              <a:t>06-11-2024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8425C6-75BB-4658-8AB3-8F9CAFEC6A71}"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C16EE5A-8543-4E0D-ACD1-47C32AE1F7AB}" type="datetimeFigureOut">
              <a:rPr lang="en-IN" smtClean="0"/>
              <a:t>06-11-2024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8425C6-75BB-4658-8AB3-8F9CAFEC6A71}"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C16EE5A-8543-4E0D-ACD1-47C32AE1F7AB}" type="datetimeFigureOut">
              <a:rPr lang="en-IN" smtClean="0"/>
              <a:t>06-11-2024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8425C6-75BB-4658-8AB3-8F9CAFEC6A71}"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16EE5A-8543-4E0D-ACD1-47C32AE1F7AB}" type="datetimeFigureOut">
              <a:rPr lang="en-IN" smtClean="0"/>
              <a:t>06-11-2024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8425C6-75BB-4658-8AB3-8F9CAFEC6A71}"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329261"/>
            <a:ext cx="9144000" cy="2740510"/>
          </a:xfrm>
        </p:spPr>
        <p:txBody>
          <a:bodyPr>
            <a:normAutofit/>
          </a:bodyPr>
          <a:lstStyle/>
          <a:p>
            <a:r>
              <a:rPr lang="en-IN" b="1" dirty="0">
                <a:latin typeface="Times New Roman" panose="02020603050405020304" pitchFamily="18" charset="0"/>
                <a:cs typeface="Times New Roman" panose="02020603050405020304" pitchFamily="18" charset="0"/>
              </a:rPr>
              <a:t>OBJECT ORIENTED PROGRAMMING</a:t>
            </a: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Java I/O</a:t>
            </a:r>
          </a:p>
        </p:txBody>
      </p:sp>
      <p:sp>
        <p:nvSpPr>
          <p:cNvPr id="3" name="Subtitle 2"/>
          <p:cNvSpPr>
            <a:spLocks noGrp="1"/>
          </p:cNvSpPr>
          <p:nvPr>
            <p:ph type="subTitle" idx="1"/>
          </p:nvPr>
        </p:nvSpPr>
        <p:spPr/>
        <p:txBody>
          <a:bodyPr>
            <a:normAutofit lnSpcReduction="10000"/>
          </a:bodyPr>
          <a:lstStyle/>
          <a:p>
            <a:r>
              <a:rPr lang="en-IN" dirty="0"/>
              <a:t>Prepared by </a:t>
            </a:r>
          </a:p>
          <a:p>
            <a:r>
              <a:rPr lang="en-IN" dirty="0" err="1"/>
              <a:t>Dr.</a:t>
            </a:r>
            <a:r>
              <a:rPr lang="en-IN" dirty="0"/>
              <a:t> </a:t>
            </a:r>
            <a:r>
              <a:rPr lang="en-IN" dirty="0" err="1"/>
              <a:t>Abinash</a:t>
            </a:r>
            <a:r>
              <a:rPr lang="en-IN" dirty="0"/>
              <a:t> Tripathy</a:t>
            </a:r>
          </a:p>
          <a:p>
            <a:r>
              <a:rPr lang="en-IN" dirty="0"/>
              <a:t>School of Computer Application</a:t>
            </a:r>
          </a:p>
          <a:p>
            <a:r>
              <a:rPr lang="en-IN" dirty="0"/>
              <a:t>KIIT Deemed to be University, Bhubaneswar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58606"/>
          </a:xfrm>
        </p:spPr>
        <p:txBody>
          <a:bodyPr>
            <a:normAutofit fontScale="90000"/>
          </a:bodyPr>
          <a:lstStyle/>
          <a:p>
            <a:pPr algn="ctr"/>
            <a:r>
              <a:rPr lang="en-IN" dirty="0">
                <a:latin typeface="Times New Roman" panose="02020603050405020304" pitchFamily="18" charset="0"/>
                <a:cs typeface="Times New Roman" panose="02020603050405020304" pitchFamily="18" charset="0"/>
              </a:rPr>
              <a:t>Java File</a:t>
            </a:r>
          </a:p>
        </p:txBody>
      </p:sp>
      <p:sp>
        <p:nvSpPr>
          <p:cNvPr id="3" name="Content Placeholder 2"/>
          <p:cNvSpPr>
            <a:spLocks noGrp="1"/>
          </p:cNvSpPr>
          <p:nvPr>
            <p:ph idx="1"/>
          </p:nvPr>
        </p:nvSpPr>
        <p:spPr>
          <a:xfrm>
            <a:off x="838200" y="1396417"/>
            <a:ext cx="10515600" cy="4351338"/>
          </a:xfrm>
        </p:spPr>
        <p:txBody>
          <a:bodyPr/>
          <a:lstStyle/>
          <a:p>
            <a:r>
              <a:rPr lang="en-US" dirty="0">
                <a:latin typeface="Times New Roman" panose="02020603050405020304" pitchFamily="18" charset="0"/>
                <a:cs typeface="Times New Roman" panose="02020603050405020304" pitchFamily="18" charset="0"/>
              </a:rPr>
              <a:t>In Java, with the help of File Class, we can work with files.</a:t>
            </a:r>
          </a:p>
          <a:p>
            <a:r>
              <a:rPr lang="en-US" dirty="0">
                <a:latin typeface="Times New Roman" panose="02020603050405020304" pitchFamily="18" charset="0"/>
                <a:cs typeface="Times New Roman" panose="02020603050405020304" pitchFamily="18" charset="0"/>
              </a:rPr>
              <a:t> This File Class is inside the java.io package. </a:t>
            </a:r>
          </a:p>
          <a:p>
            <a:r>
              <a:rPr lang="en-US" dirty="0">
                <a:latin typeface="Times New Roman" panose="02020603050405020304" pitchFamily="18" charset="0"/>
                <a:cs typeface="Times New Roman" panose="02020603050405020304" pitchFamily="18" charset="0"/>
              </a:rPr>
              <a:t>The File class can be used by creating an object of the class and then specifying the name of the file.</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14589"/>
          </a:xfrm>
        </p:spPr>
        <p:txBody>
          <a:bodyPr>
            <a:normAutofit fontScale="90000"/>
          </a:bodyPr>
          <a:lstStyle/>
          <a:p>
            <a:pPr algn="ctr"/>
            <a:r>
              <a:rPr lang="en-IN" dirty="0">
                <a:latin typeface="Times New Roman" panose="02020603050405020304" pitchFamily="18" charset="0"/>
                <a:cs typeface="Times New Roman" panose="02020603050405020304" pitchFamily="18" charset="0"/>
              </a:rPr>
              <a:t>Why File Handling Needed</a:t>
            </a:r>
          </a:p>
        </p:txBody>
      </p:sp>
      <p:sp>
        <p:nvSpPr>
          <p:cNvPr id="3" name="Content Placeholder 2"/>
          <p:cNvSpPr>
            <a:spLocks noGrp="1"/>
          </p:cNvSpPr>
          <p:nvPr>
            <p:ph idx="1"/>
          </p:nvPr>
        </p:nvSpPr>
        <p:spPr>
          <a:xfrm>
            <a:off x="838200" y="1396417"/>
            <a:ext cx="10515600" cy="4351338"/>
          </a:xfrm>
        </p:spPr>
        <p:txBody>
          <a:bodyPr/>
          <a:lstStyle/>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File Handling is an integral part of any programming language as file handling enables us to store the output of any particular program in a file and allows us to perform certain operations on it.</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 simple words, file handling means reading and writing data to a file.</a:t>
            </a:r>
          </a:p>
          <a:p>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1860"/>
            <a:ext cx="10515600" cy="633251"/>
          </a:xfrm>
        </p:spPr>
        <p:txBody>
          <a:bodyPr>
            <a:normAutofit fontScale="90000"/>
          </a:bodyPr>
          <a:lstStyle/>
          <a:p>
            <a:pPr algn="ctr"/>
            <a:r>
              <a:rPr lang="en-IN" dirty="0">
                <a:latin typeface="Times New Roman" panose="02020603050405020304" pitchFamily="18" charset="0"/>
                <a:cs typeface="Times New Roman" panose="02020603050405020304" pitchFamily="18" charset="0"/>
              </a:rPr>
              <a:t>Streams</a:t>
            </a:r>
            <a:r>
              <a:rPr lang="en-IN" dirty="0"/>
              <a:t> in Java</a:t>
            </a:r>
          </a:p>
        </p:txBody>
      </p:sp>
      <p:sp>
        <p:nvSpPr>
          <p:cNvPr id="3" name="Content Placeholder 2"/>
          <p:cNvSpPr>
            <a:spLocks noGrp="1"/>
          </p:cNvSpPr>
          <p:nvPr>
            <p:ph idx="1"/>
          </p:nvPr>
        </p:nvSpPr>
        <p:spPr>
          <a:xfrm>
            <a:off x="903514" y="1253331"/>
            <a:ext cx="10515600" cy="4351338"/>
          </a:xfrm>
        </p:spPr>
        <p:txBody>
          <a:bodyPr/>
          <a:lstStyle/>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 Java, a sequence of data is known as a stream.</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concept is used to perform I/O operations on a file.</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There are two types of streams :</a:t>
            </a:r>
          </a:p>
          <a:p>
            <a:pPr lvl="1"/>
            <a:r>
              <a:rPr lang="en-IN" dirty="0">
                <a:latin typeface="Times New Roman" panose="02020603050405020304" pitchFamily="18" charset="0"/>
                <a:cs typeface="Times New Roman" panose="02020603050405020304" pitchFamily="18" charset="0"/>
              </a:rPr>
              <a:t>Input Stream</a:t>
            </a:r>
          </a:p>
          <a:p>
            <a:pPr lvl="1"/>
            <a:r>
              <a:rPr lang="en-IN" dirty="0">
                <a:latin typeface="Times New Roman" panose="02020603050405020304" pitchFamily="18" charset="0"/>
                <a:cs typeface="Times New Roman" panose="02020603050405020304" pitchFamily="18" charset="0"/>
              </a:rPr>
              <a:t>Output Stream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5837"/>
            <a:ext cx="10515600" cy="661242"/>
          </a:xfrm>
        </p:spPr>
        <p:txBody>
          <a:bodyPr>
            <a:normAutofit fontScale="90000"/>
          </a:bodyPr>
          <a:lstStyle/>
          <a:p>
            <a:pPr algn="ctr"/>
            <a:r>
              <a:rPr lang="en-IN" dirty="0">
                <a:latin typeface="Times New Roman" panose="02020603050405020304" pitchFamily="18" charset="0"/>
                <a:cs typeface="Times New Roman" panose="02020603050405020304" pitchFamily="18" charset="0"/>
              </a:rPr>
              <a:t>INPUT STREAM</a:t>
            </a:r>
          </a:p>
        </p:txBody>
      </p:sp>
      <p:sp>
        <p:nvSpPr>
          <p:cNvPr id="3" name="Content Placeholder 2"/>
          <p:cNvSpPr>
            <a:spLocks noGrp="1"/>
          </p:cNvSpPr>
          <p:nvPr>
            <p:ph idx="1"/>
          </p:nvPr>
        </p:nvSpPr>
        <p:spPr>
          <a:xfrm>
            <a:off x="838200" y="1069845"/>
            <a:ext cx="10515600" cy="4351338"/>
          </a:xfrm>
        </p:spPr>
        <p:txBody>
          <a:bodyPr>
            <a:normAutofit fontScale="85000" lnSpcReduction="10000"/>
          </a:bodyPr>
          <a:lstStyle/>
          <a:p>
            <a:r>
              <a:rPr lang="en-US" dirty="0">
                <a:latin typeface="Times New Roman" panose="02020603050405020304" pitchFamily="18" charset="0"/>
                <a:cs typeface="Times New Roman" panose="02020603050405020304" pitchFamily="18" charset="0"/>
              </a:rPr>
              <a:t>The Java </a:t>
            </a:r>
            <a:r>
              <a:rPr lang="en-US" dirty="0" err="1">
                <a:latin typeface="Times New Roman" panose="02020603050405020304" pitchFamily="18" charset="0"/>
                <a:cs typeface="Times New Roman" panose="02020603050405020304" pitchFamily="18" charset="0"/>
              </a:rPr>
              <a:t>InputStream</a:t>
            </a:r>
            <a:r>
              <a:rPr lang="en-US" dirty="0">
                <a:latin typeface="Times New Roman" panose="02020603050405020304" pitchFamily="18" charset="0"/>
                <a:cs typeface="Times New Roman" panose="02020603050405020304" pitchFamily="18" charset="0"/>
              </a:rPr>
              <a:t> class is the superclass of all input streams. </a:t>
            </a:r>
          </a:p>
          <a:p>
            <a:r>
              <a:rPr lang="en-US" dirty="0">
                <a:latin typeface="Times New Roman" panose="02020603050405020304" pitchFamily="18" charset="0"/>
                <a:cs typeface="Times New Roman" panose="02020603050405020304" pitchFamily="18" charset="0"/>
              </a:rPr>
              <a:t>The input stream is used to read data from numerous input devices like the keyboard, network, etc. </a:t>
            </a:r>
          </a:p>
          <a:p>
            <a:r>
              <a:rPr lang="en-US" dirty="0" err="1">
                <a:latin typeface="Times New Roman" panose="02020603050405020304" pitchFamily="18" charset="0"/>
                <a:cs typeface="Times New Roman" panose="02020603050405020304" pitchFamily="18" charset="0"/>
              </a:rPr>
              <a:t>InputStream</a:t>
            </a:r>
            <a:r>
              <a:rPr lang="en-US" dirty="0">
                <a:latin typeface="Times New Roman" panose="02020603050405020304" pitchFamily="18" charset="0"/>
                <a:cs typeface="Times New Roman" panose="02020603050405020304" pitchFamily="18" charset="0"/>
              </a:rPr>
              <a:t> is an abstract class, and because of this, it is not useful by itself. </a:t>
            </a:r>
          </a:p>
          <a:p>
            <a:r>
              <a:rPr lang="en-US" dirty="0">
                <a:latin typeface="Times New Roman" panose="02020603050405020304" pitchFamily="18" charset="0"/>
                <a:cs typeface="Times New Roman" panose="02020603050405020304" pitchFamily="18" charset="0"/>
              </a:rPr>
              <a:t>However, its subclasses are used to read data.</a:t>
            </a:r>
          </a:p>
          <a:p>
            <a:r>
              <a:rPr lang="en-US" dirty="0">
                <a:latin typeface="Times New Roman" panose="02020603050405020304" pitchFamily="18" charset="0"/>
                <a:cs typeface="Times New Roman" panose="02020603050405020304" pitchFamily="18" charset="0"/>
              </a:rPr>
              <a:t>There are several subclasses of the </a:t>
            </a:r>
            <a:r>
              <a:rPr lang="en-US" dirty="0" err="1">
                <a:latin typeface="Times New Roman" panose="02020603050405020304" pitchFamily="18" charset="0"/>
                <a:cs typeface="Times New Roman" panose="02020603050405020304" pitchFamily="18" charset="0"/>
              </a:rPr>
              <a:t>InputStream</a:t>
            </a:r>
            <a:r>
              <a:rPr lang="en-US" dirty="0">
                <a:latin typeface="Times New Roman" panose="02020603050405020304" pitchFamily="18" charset="0"/>
                <a:cs typeface="Times New Roman" panose="02020603050405020304" pitchFamily="18" charset="0"/>
              </a:rPr>
              <a:t> class, which are as follows:</a:t>
            </a:r>
          </a:p>
          <a:p>
            <a:pPr lvl="1">
              <a:spcBef>
                <a:spcPts val="1200"/>
              </a:spcBef>
              <a:buFont typeface="+mj-lt"/>
              <a:buAutoNum type="arabicPeriod"/>
            </a:pPr>
            <a:r>
              <a:rPr lang="en-US" dirty="0" err="1">
                <a:latin typeface="Times New Roman" panose="02020603050405020304" pitchFamily="18" charset="0"/>
                <a:cs typeface="Times New Roman" panose="02020603050405020304" pitchFamily="18" charset="0"/>
              </a:rPr>
              <a:t>AudioInputStream</a:t>
            </a:r>
            <a:endParaRPr lang="en-US" dirty="0">
              <a:latin typeface="Times New Roman" panose="02020603050405020304" pitchFamily="18" charset="0"/>
              <a:cs typeface="Times New Roman" panose="02020603050405020304" pitchFamily="18" charset="0"/>
            </a:endParaRPr>
          </a:p>
          <a:p>
            <a:pPr lvl="1">
              <a:spcBef>
                <a:spcPts val="1200"/>
              </a:spcBef>
              <a:buFont typeface="+mj-lt"/>
              <a:buAutoNum type="arabicPeriod"/>
            </a:pPr>
            <a:r>
              <a:rPr lang="en-US" dirty="0" err="1">
                <a:latin typeface="Times New Roman" panose="02020603050405020304" pitchFamily="18" charset="0"/>
                <a:cs typeface="Times New Roman" panose="02020603050405020304" pitchFamily="18" charset="0"/>
              </a:rPr>
              <a:t>ByteArrayInputStream</a:t>
            </a:r>
            <a:endParaRPr lang="en-US" dirty="0">
              <a:latin typeface="Times New Roman" panose="02020603050405020304" pitchFamily="18" charset="0"/>
              <a:cs typeface="Times New Roman" panose="02020603050405020304" pitchFamily="18" charset="0"/>
            </a:endParaRPr>
          </a:p>
          <a:p>
            <a:pPr lvl="1">
              <a:spcBef>
                <a:spcPts val="1200"/>
              </a:spcBef>
              <a:buFont typeface="+mj-lt"/>
              <a:buAutoNum type="arabicPeriod"/>
            </a:pPr>
            <a:r>
              <a:rPr lang="en-US" dirty="0" err="1">
                <a:latin typeface="Times New Roman" panose="02020603050405020304" pitchFamily="18" charset="0"/>
                <a:cs typeface="Times New Roman" panose="02020603050405020304" pitchFamily="18" charset="0"/>
              </a:rPr>
              <a:t>FileInputStream</a:t>
            </a:r>
            <a:endParaRPr lang="en-US" dirty="0">
              <a:latin typeface="Times New Roman" panose="02020603050405020304" pitchFamily="18" charset="0"/>
              <a:cs typeface="Times New Roman" panose="02020603050405020304" pitchFamily="18" charset="0"/>
            </a:endParaRPr>
          </a:p>
          <a:p>
            <a:pPr lvl="1">
              <a:spcBef>
                <a:spcPts val="1200"/>
              </a:spcBef>
              <a:buFont typeface="+mj-lt"/>
              <a:buAutoNum type="arabicPeriod"/>
            </a:pPr>
            <a:r>
              <a:rPr lang="en-US" altLang="en-US" dirty="0" err="1">
                <a:latin typeface="Times New Roman" panose="02020603050405020304" pitchFamily="18" charset="0"/>
                <a:cs typeface="Times New Roman" panose="02020603050405020304" pitchFamily="18" charset="0"/>
              </a:rPr>
              <a:t>ObjectInputStream</a:t>
            </a:r>
            <a:endParaRPr lang="en-US" altLang="en-US" dirty="0">
              <a:latin typeface="Times New Roman" panose="02020603050405020304" pitchFamily="18" charset="0"/>
              <a:cs typeface="Times New Roman" panose="02020603050405020304" pitchFamily="18" charset="0"/>
            </a:endParaRPr>
          </a:p>
          <a:p>
            <a:pPr lvl="1">
              <a:spcBef>
                <a:spcPts val="1200"/>
              </a:spcBef>
              <a:buFont typeface="+mj-lt"/>
              <a:buAutoNum type="arabicPeriod"/>
            </a:pPr>
            <a:r>
              <a:rPr lang="en-US" altLang="en-US" dirty="0" err="1">
                <a:latin typeface="Times New Roman" panose="02020603050405020304" pitchFamily="18" charset="0"/>
                <a:cs typeface="Times New Roman" panose="02020603050405020304" pitchFamily="18" charset="0"/>
              </a:rPr>
              <a:t>StringBufferInputStream</a:t>
            </a:r>
            <a:endParaRPr lang="en-US" altLang="en-US" dirty="0">
              <a:latin typeface="Times New Roman" panose="02020603050405020304" pitchFamily="18" charset="0"/>
              <a:cs typeface="Times New Roman" panose="02020603050405020304" pitchFamily="18" charset="0"/>
            </a:endParaRPr>
          </a:p>
          <a:p>
            <a:pPr marL="457200" lvl="1" indent="0">
              <a:buNone/>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lvl="1">
              <a:buFont typeface="+mj-lt"/>
              <a:buAutoNum type="arabicPeriod"/>
            </a:pPr>
            <a:endParaRPr lang="en-US" dirty="0">
              <a:latin typeface="Times New Roman" panose="02020603050405020304" pitchFamily="18" charset="0"/>
              <a:cs typeface="Times New Roman" panose="02020603050405020304" pitchFamily="18" charset="0"/>
            </a:endParaRPr>
          </a:p>
          <a:p>
            <a:pPr lvl="1">
              <a:buFont typeface="+mj-lt"/>
              <a:buAutoNum type="arabicPeriod"/>
            </a:pPr>
            <a:endParaRPr lang="en-US" dirty="0">
              <a:latin typeface="Times New Roman" panose="02020603050405020304" pitchFamily="18" charset="0"/>
              <a:cs typeface="Times New Roman" panose="02020603050405020304" pitchFamily="18" charset="0"/>
            </a:endParaRPr>
          </a:p>
          <a:p>
            <a:pPr lvl="1">
              <a:buFont typeface="+mj-lt"/>
              <a:buAutoNum type="arabicPeriod"/>
            </a:pPr>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86597"/>
          </a:xfrm>
        </p:spPr>
        <p:txBody>
          <a:bodyPr>
            <a:normAutofit fontScale="90000"/>
          </a:bodyPr>
          <a:lstStyle/>
          <a:p>
            <a:pPr algn="ctr"/>
            <a:r>
              <a:rPr lang="en-IN" dirty="0">
                <a:latin typeface="Times New Roman" panose="02020603050405020304" pitchFamily="18" charset="0"/>
                <a:cs typeface="Times New Roman" panose="02020603050405020304" pitchFamily="18" charset="0"/>
              </a:rPr>
              <a:t>Methods in </a:t>
            </a:r>
            <a:r>
              <a:rPr lang="en-IN" dirty="0" err="1">
                <a:latin typeface="Times New Roman" panose="02020603050405020304" pitchFamily="18" charset="0"/>
                <a:cs typeface="Times New Roman" panose="02020603050405020304" pitchFamily="18" charset="0"/>
              </a:rPr>
              <a:t>InputStream</a:t>
            </a:r>
            <a:endParaRPr lang="en-IN" dirty="0">
              <a:latin typeface="Times New Roman" panose="02020603050405020304" pitchFamily="18" charset="0"/>
              <a:cs typeface="Times New Roman" panose="02020603050405020304" pitchFamily="18" charset="0"/>
            </a:endParaRPr>
          </a:p>
        </p:txBody>
      </p:sp>
      <p:graphicFrame>
        <p:nvGraphicFramePr>
          <p:cNvPr id="5" name="Table 5"/>
          <p:cNvGraphicFramePr>
            <a:graphicFrameLocks noGrp="1"/>
          </p:cNvGraphicFramePr>
          <p:nvPr/>
        </p:nvGraphicFramePr>
        <p:xfrm>
          <a:off x="1996751" y="1372809"/>
          <a:ext cx="8947020" cy="3672840"/>
        </p:xfrm>
        <a:graphic>
          <a:graphicData uri="http://schemas.openxmlformats.org/drawingml/2006/table">
            <a:tbl>
              <a:tblPr firstRow="1" bandRow="1">
                <a:tableStyleId>{5C22544A-7EE6-4342-B048-85BDC9FD1C3A}</a:tableStyleId>
              </a:tblPr>
              <a:tblGrid>
                <a:gridCol w="2668555">
                  <a:extLst>
                    <a:ext uri="{9D8B030D-6E8A-4147-A177-3AD203B41FA5}">
                      <a16:colId xmlns:a16="http://schemas.microsoft.com/office/drawing/2014/main" val="20000"/>
                    </a:ext>
                  </a:extLst>
                </a:gridCol>
                <a:gridCol w="6278465">
                  <a:extLst>
                    <a:ext uri="{9D8B030D-6E8A-4147-A177-3AD203B41FA5}">
                      <a16:colId xmlns:a16="http://schemas.microsoft.com/office/drawing/2014/main" val="20001"/>
                    </a:ext>
                  </a:extLst>
                </a:gridCol>
              </a:tblGrid>
              <a:tr h="370840">
                <a:tc>
                  <a:txBody>
                    <a:bodyPr/>
                    <a:lstStyle/>
                    <a:p>
                      <a:pPr algn="ctr"/>
                      <a:r>
                        <a:rPr lang="en-IN" dirty="0"/>
                        <a:t>Method </a:t>
                      </a:r>
                    </a:p>
                  </a:txBody>
                  <a:tcPr/>
                </a:tc>
                <a:tc>
                  <a:txBody>
                    <a:bodyPr/>
                    <a:lstStyle/>
                    <a:p>
                      <a:pPr algn="ctr"/>
                      <a:r>
                        <a:rPr lang="en-IN" dirty="0"/>
                        <a:t>Description</a:t>
                      </a:r>
                    </a:p>
                  </a:txBody>
                  <a:tcPr/>
                </a:tc>
                <a:extLst>
                  <a:ext uri="{0D108BD9-81ED-4DB2-BD59-A6C34878D82A}">
                    <a16:rowId xmlns:a16="http://schemas.microsoft.com/office/drawing/2014/main" val="10000"/>
                  </a:ext>
                </a:extLst>
              </a:tr>
              <a:tr h="370840">
                <a:tc>
                  <a:txBody>
                    <a:bodyPr/>
                    <a:lstStyle/>
                    <a:p>
                      <a:r>
                        <a:rPr lang="en-IN" dirty="0"/>
                        <a:t>read()</a:t>
                      </a:r>
                    </a:p>
                  </a:txBody>
                  <a:tcPr/>
                </a:tc>
                <a:tc>
                  <a:txBody>
                    <a:bodyPr/>
                    <a:lstStyle/>
                    <a:p>
                      <a:r>
                        <a:rPr lang="en-IN" dirty="0"/>
                        <a:t>Read one b</a:t>
                      </a:r>
                      <a:r>
                        <a:rPr lang="en-US" altLang="en-IN" dirty="0"/>
                        <a:t>its</a:t>
                      </a:r>
                      <a:r>
                        <a:rPr lang="en-IN" dirty="0"/>
                        <a:t> of data from input stream</a:t>
                      </a:r>
                    </a:p>
                  </a:txBody>
                  <a:tcPr/>
                </a:tc>
                <a:extLst>
                  <a:ext uri="{0D108BD9-81ED-4DB2-BD59-A6C34878D82A}">
                    <a16:rowId xmlns:a16="http://schemas.microsoft.com/office/drawing/2014/main" val="10001"/>
                  </a:ext>
                </a:extLst>
              </a:tr>
              <a:tr h="370840">
                <a:tc>
                  <a:txBody>
                    <a:bodyPr/>
                    <a:lstStyle/>
                    <a:p>
                      <a:r>
                        <a:rPr lang="en-IN" dirty="0"/>
                        <a:t>read( byte [] array)</a:t>
                      </a:r>
                    </a:p>
                  </a:txBody>
                  <a:tcPr/>
                </a:tc>
                <a:tc>
                  <a:txBody>
                    <a:bodyPr/>
                    <a:lstStyle/>
                    <a:p>
                      <a:r>
                        <a:rPr lang="en-US" dirty="0"/>
                        <a:t>Reads byte from the stream and stores that byte in the specified array.</a:t>
                      </a:r>
                      <a:endParaRPr lang="en-IN" dirty="0"/>
                    </a:p>
                  </a:txBody>
                  <a:tcPr/>
                </a:tc>
                <a:extLst>
                  <a:ext uri="{0D108BD9-81ED-4DB2-BD59-A6C34878D82A}">
                    <a16:rowId xmlns:a16="http://schemas.microsoft.com/office/drawing/2014/main" val="10002"/>
                  </a:ext>
                </a:extLst>
              </a:tr>
              <a:tr h="370840">
                <a:tc>
                  <a:txBody>
                    <a:bodyPr/>
                    <a:lstStyle/>
                    <a:p>
                      <a:r>
                        <a:rPr lang="en-IN" dirty="0"/>
                        <a:t>mark()</a:t>
                      </a:r>
                    </a:p>
                  </a:txBody>
                  <a:tcPr/>
                </a:tc>
                <a:tc>
                  <a:txBody>
                    <a:bodyPr/>
                    <a:lstStyle/>
                    <a:p>
                      <a:r>
                        <a:rPr lang="en-US" dirty="0"/>
                        <a:t>It marks the position in the input stream until the data has been read.</a:t>
                      </a:r>
                      <a:endParaRPr lang="en-IN" dirty="0"/>
                    </a:p>
                  </a:txBody>
                  <a:tcPr/>
                </a:tc>
                <a:extLst>
                  <a:ext uri="{0D108BD9-81ED-4DB2-BD59-A6C34878D82A}">
                    <a16:rowId xmlns:a16="http://schemas.microsoft.com/office/drawing/2014/main" val="10003"/>
                  </a:ext>
                </a:extLst>
              </a:tr>
              <a:tr h="370840">
                <a:tc>
                  <a:txBody>
                    <a:bodyPr/>
                    <a:lstStyle/>
                    <a:p>
                      <a:pPr algn="l"/>
                      <a:r>
                        <a:rPr lang="en-IN" dirty="0"/>
                        <a:t>reset()</a:t>
                      </a:r>
                    </a:p>
                  </a:txBody>
                  <a:tcPr/>
                </a:tc>
                <a:tc>
                  <a:txBody>
                    <a:bodyPr/>
                    <a:lstStyle/>
                    <a:p>
                      <a:r>
                        <a:rPr lang="en-US" dirty="0"/>
                        <a:t>Returns the control to the point where the mark was set inside the stream.</a:t>
                      </a:r>
                      <a:endParaRPr lang="en-IN" dirty="0"/>
                    </a:p>
                  </a:txBody>
                  <a:tcPr/>
                </a:tc>
                <a:extLst>
                  <a:ext uri="{0D108BD9-81ED-4DB2-BD59-A6C34878D82A}">
                    <a16:rowId xmlns:a16="http://schemas.microsoft.com/office/drawing/2014/main" val="10004"/>
                  </a:ext>
                </a:extLst>
              </a:tr>
              <a:tr h="370840">
                <a:tc>
                  <a:txBody>
                    <a:bodyPr/>
                    <a:lstStyle/>
                    <a:p>
                      <a:r>
                        <a:rPr lang="en-IN" dirty="0"/>
                        <a:t>skips ()</a:t>
                      </a:r>
                    </a:p>
                  </a:txBody>
                  <a:tcPr/>
                </a:tc>
                <a:tc>
                  <a:txBody>
                    <a:bodyPr/>
                    <a:lstStyle/>
                    <a:p>
                      <a:r>
                        <a:rPr lang="en-US" dirty="0"/>
                        <a:t> Skips and removes a particular number of bytes from the input stream.</a:t>
                      </a:r>
                      <a:endParaRPr lang="en-IN" dirty="0"/>
                    </a:p>
                  </a:txBody>
                  <a:tcPr/>
                </a:tc>
                <a:extLst>
                  <a:ext uri="{0D108BD9-81ED-4DB2-BD59-A6C34878D82A}">
                    <a16:rowId xmlns:a16="http://schemas.microsoft.com/office/drawing/2014/main" val="10005"/>
                  </a:ext>
                </a:extLst>
              </a:tr>
              <a:tr h="370840">
                <a:tc>
                  <a:txBody>
                    <a:bodyPr/>
                    <a:lstStyle/>
                    <a:p>
                      <a:r>
                        <a:rPr lang="en-IN" dirty="0"/>
                        <a:t>close () </a:t>
                      </a:r>
                    </a:p>
                  </a:txBody>
                  <a:tcPr/>
                </a:tc>
                <a:tc>
                  <a:txBody>
                    <a:bodyPr/>
                    <a:lstStyle/>
                    <a:p>
                      <a:r>
                        <a:rPr lang="en-IN" dirty="0"/>
                        <a:t>Close the input stream</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9182"/>
            <a:ext cx="10515600" cy="726557"/>
          </a:xfrm>
        </p:spPr>
        <p:txBody>
          <a:bodyPr/>
          <a:lstStyle/>
          <a:p>
            <a:pPr algn="ctr"/>
            <a:r>
              <a:rPr lang="en-IN" dirty="0"/>
              <a:t>Output Stream</a:t>
            </a:r>
          </a:p>
        </p:txBody>
      </p:sp>
      <p:sp>
        <p:nvSpPr>
          <p:cNvPr id="3" name="Content Placeholder 2"/>
          <p:cNvSpPr>
            <a:spLocks noGrp="1"/>
          </p:cNvSpPr>
          <p:nvPr>
            <p:ph idx="1"/>
          </p:nvPr>
        </p:nvSpPr>
        <p:spPr>
          <a:xfrm>
            <a:off x="838200" y="1032524"/>
            <a:ext cx="10515600" cy="4351338"/>
          </a:xfrm>
        </p:spPr>
        <p:txBody>
          <a:bodyPr>
            <a:normAutofit lnSpcReduction="10000"/>
          </a:bodyPr>
          <a:lstStyle/>
          <a:p>
            <a:pPr algn="just"/>
            <a:r>
              <a:rPr lang="en-US" sz="2400" dirty="0">
                <a:latin typeface="Times New Roman" panose="02020603050405020304" pitchFamily="18" charset="0"/>
                <a:cs typeface="Times New Roman" panose="02020603050405020304" pitchFamily="18" charset="0"/>
              </a:rPr>
              <a:t>The output stream is used to write data to numerous output devices like the monitor, file, etc. </a:t>
            </a:r>
          </a:p>
          <a:p>
            <a:pPr algn="just"/>
            <a:r>
              <a:rPr lang="en-US" sz="2400" dirty="0" err="1">
                <a:latin typeface="Times New Roman" panose="02020603050405020304" pitchFamily="18" charset="0"/>
                <a:cs typeface="Times New Roman" panose="02020603050405020304" pitchFamily="18" charset="0"/>
              </a:rPr>
              <a:t>OutputStream</a:t>
            </a:r>
            <a:r>
              <a:rPr lang="en-US" sz="2400" dirty="0">
                <a:latin typeface="Times New Roman" panose="02020603050405020304" pitchFamily="18" charset="0"/>
                <a:cs typeface="Times New Roman" panose="02020603050405020304" pitchFamily="18" charset="0"/>
              </a:rPr>
              <a:t> is an abstract superclass that represents an output stream. </a:t>
            </a:r>
          </a:p>
          <a:p>
            <a:pPr algn="just"/>
            <a:r>
              <a:rPr lang="en-US" sz="2400" dirty="0" err="1">
                <a:latin typeface="Times New Roman" panose="02020603050405020304" pitchFamily="18" charset="0"/>
                <a:cs typeface="Times New Roman" panose="02020603050405020304" pitchFamily="18" charset="0"/>
              </a:rPr>
              <a:t>OutputStream</a:t>
            </a:r>
            <a:r>
              <a:rPr lang="en-US" sz="2400" dirty="0">
                <a:latin typeface="Times New Roman" panose="02020603050405020304" pitchFamily="18" charset="0"/>
                <a:cs typeface="Times New Roman" panose="02020603050405020304" pitchFamily="18" charset="0"/>
              </a:rPr>
              <a:t> is an abstract class and because of this, it is not useful by itself. However, its subclasses are used to write data.</a:t>
            </a:r>
          </a:p>
          <a:p>
            <a:r>
              <a:rPr lang="en-US" sz="2400" dirty="0">
                <a:latin typeface="Times New Roman" panose="02020603050405020304" pitchFamily="18" charset="0"/>
                <a:cs typeface="Times New Roman" panose="02020603050405020304" pitchFamily="18" charset="0"/>
              </a:rPr>
              <a:t>There are several subclasses of the </a:t>
            </a:r>
            <a:r>
              <a:rPr lang="en-US" sz="2400" dirty="0" err="1">
                <a:latin typeface="Times New Roman" panose="02020603050405020304" pitchFamily="18" charset="0"/>
                <a:cs typeface="Times New Roman" panose="02020603050405020304" pitchFamily="18" charset="0"/>
              </a:rPr>
              <a:t>OutputStream</a:t>
            </a:r>
            <a:r>
              <a:rPr lang="en-US" sz="2400" dirty="0">
                <a:latin typeface="Times New Roman" panose="02020603050405020304" pitchFamily="18" charset="0"/>
                <a:cs typeface="Times New Roman" panose="02020603050405020304" pitchFamily="18" charset="0"/>
              </a:rPr>
              <a:t> class which are as follows:</a:t>
            </a:r>
          </a:p>
          <a:p>
            <a:pPr lvl="1">
              <a:buFont typeface="+mj-lt"/>
              <a:buAutoNum type="arabicPeriod"/>
            </a:pPr>
            <a:r>
              <a:rPr lang="en-US" sz="2000" dirty="0" err="1">
                <a:latin typeface="Times New Roman" panose="02020603050405020304" pitchFamily="18" charset="0"/>
                <a:cs typeface="Times New Roman" panose="02020603050405020304" pitchFamily="18" charset="0"/>
              </a:rPr>
              <a:t>ByteArrayOutputStream</a:t>
            </a:r>
            <a:endParaRPr lang="en-US" sz="2000" dirty="0">
              <a:latin typeface="Times New Roman" panose="02020603050405020304" pitchFamily="18" charset="0"/>
              <a:cs typeface="Times New Roman" panose="02020603050405020304" pitchFamily="18" charset="0"/>
            </a:endParaRPr>
          </a:p>
          <a:p>
            <a:pPr lvl="1">
              <a:buFont typeface="+mj-lt"/>
              <a:buAutoNum type="arabicPeriod"/>
            </a:pPr>
            <a:r>
              <a:rPr lang="en-US" sz="2000" dirty="0" err="1">
                <a:latin typeface="Times New Roman" panose="02020603050405020304" pitchFamily="18" charset="0"/>
                <a:cs typeface="Times New Roman" panose="02020603050405020304" pitchFamily="18" charset="0"/>
              </a:rPr>
              <a:t>FileOutputStream</a:t>
            </a:r>
            <a:endParaRPr lang="en-US" sz="2000" dirty="0">
              <a:latin typeface="Times New Roman" panose="02020603050405020304" pitchFamily="18" charset="0"/>
              <a:cs typeface="Times New Roman" panose="02020603050405020304" pitchFamily="18" charset="0"/>
            </a:endParaRPr>
          </a:p>
          <a:p>
            <a:pPr lvl="1">
              <a:buFont typeface="+mj-lt"/>
              <a:buAutoNum type="arabicPeriod"/>
            </a:pPr>
            <a:r>
              <a:rPr lang="en-US" sz="2000" dirty="0" err="1">
                <a:latin typeface="Times New Roman" panose="02020603050405020304" pitchFamily="18" charset="0"/>
                <a:cs typeface="Times New Roman" panose="02020603050405020304" pitchFamily="18" charset="0"/>
              </a:rPr>
              <a:t>StringBufferOutputStream</a:t>
            </a:r>
            <a:endParaRPr lang="en-US" sz="2000" dirty="0">
              <a:latin typeface="Times New Roman" panose="02020603050405020304" pitchFamily="18" charset="0"/>
              <a:cs typeface="Times New Roman" panose="02020603050405020304" pitchFamily="18" charset="0"/>
            </a:endParaRPr>
          </a:p>
          <a:p>
            <a:pPr lvl="1">
              <a:buFont typeface="+mj-lt"/>
              <a:buAutoNum type="arabicPeriod"/>
            </a:pPr>
            <a:r>
              <a:rPr lang="en-US" sz="2000" dirty="0" err="1">
                <a:latin typeface="Times New Roman" panose="02020603050405020304" pitchFamily="18" charset="0"/>
                <a:cs typeface="Times New Roman" panose="02020603050405020304" pitchFamily="18" charset="0"/>
              </a:rPr>
              <a:t>ObjectOutputStream</a:t>
            </a:r>
            <a:endParaRPr lang="en-US" sz="2000" dirty="0">
              <a:latin typeface="Times New Roman" panose="02020603050405020304" pitchFamily="18" charset="0"/>
              <a:cs typeface="Times New Roman" panose="02020603050405020304" pitchFamily="18" charset="0"/>
            </a:endParaRPr>
          </a:p>
          <a:p>
            <a:pPr lvl="1">
              <a:buFont typeface="+mj-lt"/>
              <a:buAutoNum type="arabicPeriod"/>
            </a:pPr>
            <a:r>
              <a:rPr lang="en-US" sz="2000" dirty="0" err="1">
                <a:latin typeface="Times New Roman" panose="02020603050405020304" pitchFamily="18" charset="0"/>
                <a:cs typeface="Times New Roman" panose="02020603050405020304" pitchFamily="18" charset="0"/>
              </a:rPr>
              <a:t>DataOutputStream</a:t>
            </a:r>
            <a:endParaRPr lang="en-US" sz="2000" dirty="0">
              <a:latin typeface="Times New Roman" panose="02020603050405020304" pitchFamily="18" charset="0"/>
              <a:cs typeface="Times New Roman" panose="02020603050405020304" pitchFamily="18" charset="0"/>
            </a:endParaRPr>
          </a:p>
          <a:p>
            <a:pPr lvl="1">
              <a:buFont typeface="+mj-lt"/>
              <a:buAutoNum type="arabicPeriod"/>
            </a:pPr>
            <a:r>
              <a:rPr lang="en-US" sz="2000" dirty="0" err="1">
                <a:latin typeface="Times New Roman" panose="02020603050405020304" pitchFamily="18" charset="0"/>
                <a:cs typeface="Times New Roman" panose="02020603050405020304" pitchFamily="18" charset="0"/>
              </a:rPr>
              <a:t>PrintStream</a:t>
            </a:r>
            <a:endParaRPr lang="en-US" sz="20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5166"/>
            <a:ext cx="10515600" cy="661242"/>
          </a:xfrm>
        </p:spPr>
        <p:txBody>
          <a:bodyPr>
            <a:normAutofit fontScale="90000"/>
          </a:bodyPr>
          <a:lstStyle/>
          <a:p>
            <a:pPr algn="ctr"/>
            <a:r>
              <a:rPr lang="en-IN" dirty="0"/>
              <a:t>Methods in </a:t>
            </a:r>
            <a:r>
              <a:rPr lang="en-IN" dirty="0" err="1"/>
              <a:t>OutputStream</a:t>
            </a:r>
            <a:endParaRPr lang="en-IN" dirty="0"/>
          </a:p>
        </p:txBody>
      </p:sp>
      <p:graphicFrame>
        <p:nvGraphicFramePr>
          <p:cNvPr id="4" name="Table 5"/>
          <p:cNvGraphicFramePr>
            <a:graphicFrameLocks noGrp="1"/>
          </p:cNvGraphicFramePr>
          <p:nvPr/>
        </p:nvGraphicFramePr>
        <p:xfrm>
          <a:off x="1996751" y="1372809"/>
          <a:ext cx="8947020" cy="2392680"/>
        </p:xfrm>
        <a:graphic>
          <a:graphicData uri="http://schemas.openxmlformats.org/drawingml/2006/table">
            <a:tbl>
              <a:tblPr firstRow="1" bandRow="1">
                <a:tableStyleId>{5C22544A-7EE6-4342-B048-85BDC9FD1C3A}</a:tableStyleId>
              </a:tblPr>
              <a:tblGrid>
                <a:gridCol w="2668555">
                  <a:extLst>
                    <a:ext uri="{9D8B030D-6E8A-4147-A177-3AD203B41FA5}">
                      <a16:colId xmlns:a16="http://schemas.microsoft.com/office/drawing/2014/main" val="20000"/>
                    </a:ext>
                  </a:extLst>
                </a:gridCol>
                <a:gridCol w="6278465">
                  <a:extLst>
                    <a:ext uri="{9D8B030D-6E8A-4147-A177-3AD203B41FA5}">
                      <a16:colId xmlns:a16="http://schemas.microsoft.com/office/drawing/2014/main" val="20001"/>
                    </a:ext>
                  </a:extLst>
                </a:gridCol>
              </a:tblGrid>
              <a:tr h="370840">
                <a:tc>
                  <a:txBody>
                    <a:bodyPr/>
                    <a:lstStyle/>
                    <a:p>
                      <a:pPr algn="ctr"/>
                      <a:r>
                        <a:rPr lang="en-IN" dirty="0"/>
                        <a:t>Method </a:t>
                      </a:r>
                    </a:p>
                  </a:txBody>
                  <a:tcPr/>
                </a:tc>
                <a:tc>
                  <a:txBody>
                    <a:bodyPr/>
                    <a:lstStyle/>
                    <a:p>
                      <a:pPr algn="ctr"/>
                      <a:r>
                        <a:rPr lang="en-IN" dirty="0"/>
                        <a:t>Description</a:t>
                      </a:r>
                    </a:p>
                  </a:txBody>
                  <a:tcPr/>
                </a:tc>
                <a:extLst>
                  <a:ext uri="{0D108BD9-81ED-4DB2-BD59-A6C34878D82A}">
                    <a16:rowId xmlns:a16="http://schemas.microsoft.com/office/drawing/2014/main" val="10000"/>
                  </a:ext>
                </a:extLst>
              </a:tr>
              <a:tr h="370840">
                <a:tc>
                  <a:txBody>
                    <a:bodyPr/>
                    <a:lstStyle/>
                    <a:p>
                      <a:r>
                        <a:rPr lang="en-IN" dirty="0"/>
                        <a:t>write()</a:t>
                      </a:r>
                    </a:p>
                  </a:txBody>
                  <a:tcPr/>
                </a:tc>
                <a:tc>
                  <a:txBody>
                    <a:bodyPr/>
                    <a:lstStyle/>
                    <a:p>
                      <a:r>
                        <a:rPr lang="en-IN" dirty="0"/>
                        <a:t>Write the specified b</a:t>
                      </a:r>
                      <a:r>
                        <a:rPr lang="en-US" altLang="en-IN" dirty="0"/>
                        <a:t>it </a:t>
                      </a:r>
                      <a:r>
                        <a:rPr lang="en-IN" dirty="0"/>
                        <a:t>to Output stream</a:t>
                      </a:r>
                    </a:p>
                  </a:txBody>
                  <a:tcPr/>
                </a:tc>
                <a:extLst>
                  <a:ext uri="{0D108BD9-81ED-4DB2-BD59-A6C34878D82A}">
                    <a16:rowId xmlns:a16="http://schemas.microsoft.com/office/drawing/2014/main" val="10001"/>
                  </a:ext>
                </a:extLst>
              </a:tr>
              <a:tr h="370840">
                <a:tc>
                  <a:txBody>
                    <a:bodyPr/>
                    <a:lstStyle/>
                    <a:p>
                      <a:r>
                        <a:rPr lang="en-IN" dirty="0"/>
                        <a:t>write ( byte [] array)</a:t>
                      </a:r>
                    </a:p>
                  </a:txBody>
                  <a:tcPr/>
                </a:tc>
                <a:tc>
                  <a:txBody>
                    <a:bodyPr/>
                    <a:lstStyle/>
                    <a:p>
                      <a:r>
                        <a:rPr lang="en-US" dirty="0"/>
                        <a:t>Writes the bytes which are inside a specific array to the output stream.</a:t>
                      </a:r>
                      <a:endParaRPr lang="en-IN" dirty="0"/>
                    </a:p>
                  </a:txBody>
                  <a:tcPr/>
                </a:tc>
                <a:extLst>
                  <a:ext uri="{0D108BD9-81ED-4DB2-BD59-A6C34878D82A}">
                    <a16:rowId xmlns:a16="http://schemas.microsoft.com/office/drawing/2014/main" val="10002"/>
                  </a:ext>
                </a:extLst>
              </a:tr>
              <a:tr h="370840">
                <a:tc>
                  <a:txBody>
                    <a:bodyPr/>
                    <a:lstStyle/>
                    <a:p>
                      <a:r>
                        <a:rPr lang="en-IN" dirty="0"/>
                        <a:t>close () </a:t>
                      </a:r>
                    </a:p>
                  </a:txBody>
                  <a:tcPr/>
                </a:tc>
                <a:tc>
                  <a:txBody>
                    <a:bodyPr/>
                    <a:lstStyle/>
                    <a:p>
                      <a:r>
                        <a:rPr lang="en-IN" dirty="0"/>
                        <a:t>Close the output stream</a:t>
                      </a:r>
                    </a:p>
                  </a:txBody>
                  <a:tcPr/>
                </a:tc>
                <a:extLst>
                  <a:ext uri="{0D108BD9-81ED-4DB2-BD59-A6C34878D82A}">
                    <a16:rowId xmlns:a16="http://schemas.microsoft.com/office/drawing/2014/main" val="10003"/>
                  </a:ext>
                </a:extLst>
              </a:tr>
              <a:tr h="370840">
                <a:tc>
                  <a:txBody>
                    <a:bodyPr/>
                    <a:lstStyle/>
                    <a:p>
                      <a:r>
                        <a:rPr lang="en-IN" dirty="0"/>
                        <a:t>flush()</a:t>
                      </a:r>
                    </a:p>
                  </a:txBody>
                  <a:tcPr/>
                </a:tc>
                <a:tc>
                  <a:txBody>
                    <a:bodyPr/>
                    <a:lstStyle/>
                    <a:p>
                      <a:r>
                        <a:rPr lang="en-IN" dirty="0"/>
                        <a:t>Force to write all the data present  in an output stream  to the destination.</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5166"/>
            <a:ext cx="10515600" cy="539944"/>
          </a:xfrm>
        </p:spPr>
        <p:txBody>
          <a:bodyPr>
            <a:normAutofit fontScale="90000"/>
          </a:bodyPr>
          <a:lstStyle/>
          <a:p>
            <a:pPr algn="ctr"/>
            <a:r>
              <a:rPr lang="en-IN" dirty="0"/>
              <a:t>Types of streams</a:t>
            </a:r>
          </a:p>
        </p:txBody>
      </p:sp>
      <p:sp>
        <p:nvSpPr>
          <p:cNvPr id="3" name="Content Placeholder 2"/>
          <p:cNvSpPr>
            <a:spLocks noGrp="1"/>
          </p:cNvSpPr>
          <p:nvPr>
            <p:ph idx="1"/>
          </p:nvPr>
        </p:nvSpPr>
        <p:spPr>
          <a:xfrm>
            <a:off x="838200" y="932318"/>
            <a:ext cx="10515600" cy="4351338"/>
          </a:xfrm>
        </p:spPr>
        <p:txBody>
          <a:bodyPr>
            <a:normAutofit fontScale="92500" lnSpcReduction="20000"/>
          </a:bodyPr>
          <a:lstStyle/>
          <a:p>
            <a:pPr algn="just">
              <a:spcBef>
                <a:spcPts val="1200"/>
              </a:spcBef>
            </a:pPr>
            <a:r>
              <a:rPr lang="en-IN" dirty="0">
                <a:latin typeface="Times New Roman" panose="02020603050405020304" pitchFamily="18" charset="0"/>
                <a:cs typeface="Times New Roman" panose="02020603050405020304" pitchFamily="18" charset="0"/>
              </a:rPr>
              <a:t>Based on the data types, streams can be classified as</a:t>
            </a:r>
          </a:p>
          <a:p>
            <a:pPr marL="914400" lvl="1" indent="-457200" algn="just">
              <a:spcBef>
                <a:spcPts val="1200"/>
              </a:spcBef>
              <a:buFont typeface="+mj-lt"/>
              <a:buAutoNum type="arabicPeriod"/>
            </a:pPr>
            <a:r>
              <a:rPr lang="en-IN" dirty="0">
                <a:latin typeface="Times New Roman" panose="02020603050405020304" pitchFamily="18" charset="0"/>
                <a:cs typeface="Times New Roman" panose="02020603050405020304" pitchFamily="18" charset="0"/>
              </a:rPr>
              <a:t>Byte Stream</a:t>
            </a:r>
          </a:p>
          <a:p>
            <a:pPr marL="914400" lvl="1" indent="-457200" algn="just">
              <a:spcBef>
                <a:spcPts val="1200"/>
              </a:spcBef>
              <a:buFont typeface="+mj-lt"/>
              <a:buAutoNum type="arabicPeriod"/>
            </a:pPr>
            <a:r>
              <a:rPr lang="en-IN" dirty="0">
                <a:latin typeface="Times New Roman" panose="02020603050405020304" pitchFamily="18" charset="0"/>
                <a:cs typeface="Times New Roman" panose="02020603050405020304" pitchFamily="18" charset="0"/>
              </a:rPr>
              <a:t>Character or text stream</a:t>
            </a:r>
          </a:p>
          <a:p>
            <a:pPr marL="342900" lvl="1" indent="-342900" algn="just">
              <a:spcBef>
                <a:spcPts val="1200"/>
              </a:spcBef>
            </a:pPr>
            <a:r>
              <a:rPr lang="en-IN" dirty="0">
                <a:latin typeface="Times New Roman" panose="02020603050405020304" pitchFamily="18" charset="0"/>
                <a:cs typeface="Times New Roman" panose="02020603050405020304" pitchFamily="18" charset="0"/>
              </a:rPr>
              <a:t>Byte streams represent data in the form of individual bytes where as Character stream represent data as the character each of 2 bytes.</a:t>
            </a:r>
          </a:p>
          <a:p>
            <a:pPr marL="342900" lvl="1" indent="-342900" algn="just">
              <a:spcBef>
                <a:spcPts val="1200"/>
              </a:spcBef>
            </a:pPr>
            <a:r>
              <a:rPr lang="en-IN" dirty="0">
                <a:latin typeface="Times New Roman" panose="02020603050405020304" pitchFamily="18" charset="0"/>
                <a:cs typeface="Times New Roman" panose="02020603050405020304" pitchFamily="18" charset="0"/>
              </a:rPr>
              <a:t>If a class name ends with the word “Stream”, then it comes under Byte Stream i.e., </a:t>
            </a:r>
            <a:r>
              <a:rPr lang="en-IN" b="1" dirty="0" err="1">
                <a:latin typeface="Times New Roman" panose="02020603050405020304" pitchFamily="18" charset="0"/>
                <a:cs typeface="Times New Roman" panose="02020603050405020304" pitchFamily="18" charset="0"/>
              </a:rPr>
              <a:t>InputStream</a:t>
            </a:r>
            <a:r>
              <a:rPr lang="en-IN" b="1"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reads bytes and </a:t>
            </a:r>
            <a:r>
              <a:rPr lang="en-IN" b="1" dirty="0" err="1">
                <a:latin typeface="Times New Roman" panose="02020603050405020304" pitchFamily="18" charset="0"/>
                <a:cs typeface="Times New Roman" panose="02020603050405020304" pitchFamily="18" charset="0"/>
              </a:rPr>
              <a:t>OutputStream</a:t>
            </a:r>
            <a:r>
              <a:rPr lang="en-IN" dirty="0">
                <a:latin typeface="Times New Roman" panose="02020603050405020304" pitchFamily="18" charset="0"/>
                <a:cs typeface="Times New Roman" panose="02020603050405020304" pitchFamily="18" charset="0"/>
              </a:rPr>
              <a:t> write bytes. If a class ends with the word “ Reader” or “Writer” , then it is considered as Character Stream i.e. Reader reads text and Write writes text</a:t>
            </a:r>
          </a:p>
          <a:p>
            <a:pPr marL="342900" lvl="1" indent="-342900" algn="just">
              <a:spcBef>
                <a:spcPts val="1200"/>
              </a:spcBef>
            </a:pPr>
            <a:r>
              <a:rPr lang="en-IN" dirty="0">
                <a:latin typeface="Times New Roman" panose="02020603050405020304" pitchFamily="18" charset="0"/>
                <a:cs typeface="Times New Roman" panose="02020603050405020304" pitchFamily="18" charset="0"/>
              </a:rPr>
              <a:t>Byte Streams are used to handle any characters, images, audios and video files. For example: for storing an image file, we should go for byte stream. Character Stream can store and retrieve data in the form of character only, i.e., it is suitable for handling text files.</a:t>
            </a:r>
          </a:p>
          <a:p>
            <a:pPr marL="342900" lvl="1" indent="-342900" algn="just">
              <a:spcBef>
                <a:spcPts val="1200"/>
              </a:spcBef>
            </a:pPr>
            <a:endParaRPr lang="en-IN" dirty="0">
              <a:latin typeface="Times New Roman" panose="02020603050405020304" pitchFamily="18" charset="0"/>
              <a:cs typeface="Times New Roman" panose="02020603050405020304" pitchFamily="18" charset="0"/>
            </a:endParaRPr>
          </a:p>
          <a:p>
            <a:pPr marL="457200" lvl="1" indent="0" algn="just">
              <a:spcBef>
                <a:spcPts val="1200"/>
              </a:spcBef>
              <a:buNone/>
            </a:pP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0028"/>
            <a:ext cx="10515600" cy="636824"/>
          </a:xfrm>
        </p:spPr>
        <p:txBody>
          <a:bodyPr>
            <a:normAutofit fontScale="90000"/>
          </a:bodyPr>
          <a:lstStyle/>
          <a:p>
            <a:pPr algn="ctr"/>
            <a:r>
              <a:rPr lang="en-IN" dirty="0"/>
              <a:t>Creating file using </a:t>
            </a:r>
            <a:r>
              <a:rPr lang="en-IN" dirty="0" err="1"/>
              <a:t>FileOutputStream</a:t>
            </a:r>
            <a:endParaRPr lang="en-IN" dirty="0"/>
          </a:p>
        </p:txBody>
      </p:sp>
      <p:sp>
        <p:nvSpPr>
          <p:cNvPr id="3" name="Content Placeholder 2"/>
          <p:cNvSpPr>
            <a:spLocks noGrp="1"/>
          </p:cNvSpPr>
          <p:nvPr>
            <p:ph idx="1"/>
          </p:nvPr>
        </p:nvSpPr>
        <p:spPr>
          <a:xfrm>
            <a:off x="838200" y="1136599"/>
            <a:ext cx="10515600" cy="5351750"/>
          </a:xfrm>
        </p:spPr>
        <p:txBody>
          <a:bodyPr>
            <a:normAutofit/>
          </a:bodyPr>
          <a:lstStyle/>
          <a:p>
            <a:pPr algn="just"/>
            <a:r>
              <a:rPr lang="en-IN" sz="2000" dirty="0"/>
              <a:t>First, we read the data from keyboard. For that purpose, we should add keyboard to some input stream class. The code for using </a:t>
            </a:r>
            <a:r>
              <a:rPr lang="en-IN" sz="2000" dirty="0" err="1"/>
              <a:t>DataInputStream</a:t>
            </a:r>
            <a:r>
              <a:rPr lang="en-IN" sz="2000" dirty="0"/>
              <a:t>  class for reading data from keyboard is as:</a:t>
            </a:r>
          </a:p>
          <a:p>
            <a:pPr marL="0" indent="0" algn="ctr">
              <a:buNone/>
            </a:pPr>
            <a:r>
              <a:rPr lang="en-IN" sz="2000" dirty="0" err="1">
                <a:highlight>
                  <a:srgbClr val="FFFF00"/>
                </a:highlight>
              </a:rPr>
              <a:t>DataInputStream</a:t>
            </a:r>
            <a:r>
              <a:rPr lang="en-IN" sz="2000" dirty="0">
                <a:highlight>
                  <a:srgbClr val="FFFF00"/>
                </a:highlight>
              </a:rPr>
              <a:t> dis = new </a:t>
            </a:r>
            <a:r>
              <a:rPr lang="en-IN" sz="2000" dirty="0" err="1">
                <a:highlight>
                  <a:srgbClr val="FFFF00"/>
                </a:highlight>
              </a:rPr>
              <a:t>DataInputStream</a:t>
            </a:r>
            <a:r>
              <a:rPr lang="en-IN" sz="2000" dirty="0">
                <a:highlight>
                  <a:srgbClr val="FFFF00"/>
                </a:highlight>
              </a:rPr>
              <a:t> (System.in);</a:t>
            </a:r>
          </a:p>
          <a:p>
            <a:r>
              <a:rPr lang="en-IN" sz="2000" dirty="0"/>
              <a:t>Then, we have to attach a file where data is stored. Here, we take the help of </a:t>
            </a:r>
            <a:r>
              <a:rPr lang="en-IN" sz="2000" dirty="0" err="1"/>
              <a:t>FileOutputStream</a:t>
            </a:r>
            <a:r>
              <a:rPr lang="en-IN" sz="2000" dirty="0"/>
              <a:t> which can send data to file. Attaching the file “myfile.txt” to </a:t>
            </a:r>
            <a:r>
              <a:rPr lang="en-IN" sz="2000" dirty="0" err="1"/>
              <a:t>FileOutputStream</a:t>
            </a:r>
            <a:r>
              <a:rPr lang="en-IN" sz="2000" dirty="0"/>
              <a:t> can be done as:</a:t>
            </a:r>
          </a:p>
          <a:p>
            <a:pPr marL="0" indent="0" algn="ctr">
              <a:buNone/>
            </a:pPr>
            <a:r>
              <a:rPr lang="en-IN" sz="2000" dirty="0" err="1">
                <a:highlight>
                  <a:srgbClr val="FFFF00"/>
                </a:highlight>
              </a:rPr>
              <a:t>FileOutputStream</a:t>
            </a:r>
            <a:r>
              <a:rPr lang="en-IN" sz="2000" dirty="0">
                <a:highlight>
                  <a:srgbClr val="FFFF00"/>
                </a:highlight>
              </a:rPr>
              <a:t> </a:t>
            </a:r>
            <a:r>
              <a:rPr lang="en-IN" sz="2000" dirty="0" err="1">
                <a:highlight>
                  <a:srgbClr val="FFFF00"/>
                </a:highlight>
              </a:rPr>
              <a:t>fout</a:t>
            </a:r>
            <a:r>
              <a:rPr lang="en-IN" sz="2000" dirty="0">
                <a:highlight>
                  <a:srgbClr val="FFFF00"/>
                </a:highlight>
              </a:rPr>
              <a:t> = new </a:t>
            </a:r>
            <a:r>
              <a:rPr lang="en-IN" sz="2000" dirty="0" err="1">
                <a:highlight>
                  <a:srgbClr val="FFFF00"/>
                </a:highlight>
              </a:rPr>
              <a:t>FileOutputStream</a:t>
            </a:r>
            <a:r>
              <a:rPr lang="en-IN" sz="2000" dirty="0">
                <a:highlight>
                  <a:srgbClr val="FFFF00"/>
                </a:highlight>
              </a:rPr>
              <a:t> (“</a:t>
            </a:r>
            <a:r>
              <a:rPr lang="en-IN" sz="2000" dirty="0" err="1">
                <a:highlight>
                  <a:srgbClr val="FFFF00"/>
                </a:highlight>
              </a:rPr>
              <a:t>myfile.text</a:t>
            </a:r>
            <a:r>
              <a:rPr lang="en-IN" sz="2000" dirty="0">
                <a:highlight>
                  <a:srgbClr val="FFFF00"/>
                </a:highlight>
              </a:rPr>
              <a:t>”);</a:t>
            </a:r>
          </a:p>
          <a:p>
            <a:r>
              <a:rPr lang="en-IN" sz="2000" dirty="0"/>
              <a:t>The next step is to read data from </a:t>
            </a:r>
            <a:r>
              <a:rPr lang="en-IN" sz="2000" dirty="0" err="1"/>
              <a:t>DataInputStream</a:t>
            </a:r>
            <a:r>
              <a:rPr lang="en-IN" sz="2000" dirty="0"/>
              <a:t>  and write it into </a:t>
            </a:r>
            <a:r>
              <a:rPr lang="en-IN" sz="2000" dirty="0" err="1"/>
              <a:t>FileOutputStream</a:t>
            </a:r>
            <a:r>
              <a:rPr lang="en-IN" sz="2000" dirty="0"/>
              <a:t>, i.e., read data from </a:t>
            </a:r>
            <a:r>
              <a:rPr lang="en-IN" sz="2000" dirty="0">
                <a:highlight>
                  <a:srgbClr val="FFFF00"/>
                </a:highlight>
              </a:rPr>
              <a:t>dis</a:t>
            </a:r>
            <a:r>
              <a:rPr lang="en-IN" sz="2000" dirty="0"/>
              <a:t> object and write it into  </a:t>
            </a:r>
            <a:r>
              <a:rPr lang="en-IN" sz="2000" dirty="0" err="1">
                <a:highlight>
                  <a:srgbClr val="FFFF00"/>
                </a:highlight>
              </a:rPr>
              <a:t>fout</a:t>
            </a:r>
            <a:r>
              <a:rPr lang="en-IN" sz="2000" dirty="0"/>
              <a:t> object</a:t>
            </a:r>
          </a:p>
          <a:p>
            <a:pPr marL="0" indent="0" algn="ctr">
              <a:buNone/>
            </a:pPr>
            <a:r>
              <a:rPr lang="en-IN" sz="2000" dirty="0" err="1">
                <a:highlight>
                  <a:srgbClr val="FFFF00"/>
                </a:highlight>
              </a:rPr>
              <a:t>ch</a:t>
            </a:r>
            <a:r>
              <a:rPr lang="en-IN" sz="2000" dirty="0">
                <a:highlight>
                  <a:srgbClr val="FFFF00"/>
                </a:highlight>
              </a:rPr>
              <a:t> = (char) </a:t>
            </a:r>
            <a:r>
              <a:rPr lang="en-IN" sz="2000" dirty="0" err="1">
                <a:highlight>
                  <a:srgbClr val="FFFF00"/>
                </a:highlight>
              </a:rPr>
              <a:t>dis.read</a:t>
            </a:r>
            <a:r>
              <a:rPr lang="en-IN" sz="2000" dirty="0">
                <a:highlight>
                  <a:srgbClr val="FFFF00"/>
                </a:highlight>
              </a:rPr>
              <a:t>();</a:t>
            </a:r>
          </a:p>
          <a:p>
            <a:pPr marL="0" indent="0" algn="ctr">
              <a:buNone/>
            </a:pPr>
            <a:r>
              <a:rPr lang="en-IN" sz="2000" dirty="0" err="1">
                <a:highlight>
                  <a:srgbClr val="FFFF00"/>
                </a:highlight>
              </a:rPr>
              <a:t>fout.write</a:t>
            </a:r>
            <a:r>
              <a:rPr lang="en-IN" sz="2000" dirty="0">
                <a:highlight>
                  <a:srgbClr val="FFFF00"/>
                </a:highlight>
              </a:rPr>
              <a:t>(</a:t>
            </a:r>
            <a:r>
              <a:rPr lang="en-IN" sz="2000" dirty="0" err="1">
                <a:highlight>
                  <a:srgbClr val="FFFF00"/>
                </a:highlight>
              </a:rPr>
              <a:t>ch</a:t>
            </a:r>
            <a:r>
              <a:rPr lang="en-IN" sz="2000" dirty="0">
                <a:highlight>
                  <a:srgbClr val="FFFF00"/>
                </a:highlight>
              </a:rPr>
              <a:t>); </a:t>
            </a:r>
          </a:p>
          <a:p>
            <a:r>
              <a:rPr lang="en-IN" sz="2000" dirty="0"/>
              <a:t>Finally , any file need to be closed after preforming the input and output operation, else data of the file may be corrupted. Closing this file is done by closing the associated streams</a:t>
            </a:r>
          </a:p>
          <a:p>
            <a:pPr marL="0" indent="0" algn="ctr">
              <a:buNone/>
            </a:pPr>
            <a:r>
              <a:rPr lang="en-IN" sz="2000" dirty="0" err="1">
                <a:highlight>
                  <a:srgbClr val="FFFF00"/>
                </a:highlight>
              </a:rPr>
              <a:t>fout.close</a:t>
            </a:r>
            <a:r>
              <a:rPr lang="en-IN" sz="2000" dirty="0">
                <a:highlight>
                  <a:srgbClr val="FFFF00"/>
                </a:highlight>
              </a:rPr>
              <a:t>();</a:t>
            </a:r>
          </a:p>
          <a:p>
            <a:endParaRPr lang="en-IN"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1934"/>
            <a:ext cx="10515600" cy="461726"/>
          </a:xfrm>
        </p:spPr>
        <p:txBody>
          <a:bodyPr>
            <a:normAutofit fontScale="90000"/>
          </a:bodyPr>
          <a:lstStyle/>
          <a:p>
            <a:pPr algn="ctr"/>
            <a:r>
              <a:rPr lang="en-IN" sz="3200" dirty="0">
                <a:latin typeface="Times New Roman" panose="02020603050405020304" pitchFamily="18" charset="0"/>
                <a:cs typeface="Times New Roman" panose="02020603050405020304" pitchFamily="18" charset="0"/>
              </a:rPr>
              <a:t>Program to create a file using </a:t>
            </a:r>
            <a:r>
              <a:rPr lang="en-IN" sz="3200" dirty="0" err="1">
                <a:latin typeface="Times New Roman" panose="02020603050405020304" pitchFamily="18" charset="0"/>
                <a:cs typeface="Times New Roman" panose="02020603050405020304" pitchFamily="18" charset="0"/>
              </a:rPr>
              <a:t>FileOutputStream</a:t>
            </a:r>
            <a:endParaRPr lang="en-IN" sz="32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926559" y="1035520"/>
            <a:ext cx="6982028" cy="3970318"/>
          </a:xfrm>
          <a:prstGeom prst="rect">
            <a:avLst/>
          </a:prstGeom>
          <a:noFill/>
        </p:spPr>
        <p:txBody>
          <a:bodyPr wrap="square">
            <a:spAutoFit/>
          </a:bodyPr>
          <a:lstStyle/>
          <a:p>
            <a:r>
              <a:rPr lang="en-IN" dirty="0"/>
              <a:t>import java.io.*;</a:t>
            </a:r>
          </a:p>
          <a:p>
            <a:r>
              <a:rPr lang="en-IN" dirty="0"/>
              <a:t>class Create</a:t>
            </a:r>
          </a:p>
          <a:p>
            <a:r>
              <a:rPr lang="en-IN" dirty="0"/>
              <a:t>{</a:t>
            </a:r>
          </a:p>
          <a:p>
            <a:r>
              <a:rPr lang="en-IN" dirty="0"/>
              <a:t>public static void main (String </a:t>
            </a:r>
            <a:r>
              <a:rPr lang="en-IN" dirty="0" err="1"/>
              <a:t>args</a:t>
            </a:r>
            <a:r>
              <a:rPr lang="en-IN" dirty="0"/>
              <a:t>[])throws </a:t>
            </a:r>
            <a:r>
              <a:rPr lang="en-IN" dirty="0" err="1"/>
              <a:t>IOException</a:t>
            </a:r>
            <a:endParaRPr lang="en-IN" dirty="0"/>
          </a:p>
          <a:p>
            <a:r>
              <a:rPr lang="en-IN" dirty="0"/>
              <a:t>{</a:t>
            </a:r>
          </a:p>
          <a:p>
            <a:r>
              <a:rPr lang="en-IN" dirty="0"/>
              <a:t>	</a:t>
            </a:r>
            <a:r>
              <a:rPr lang="en-IN" dirty="0" err="1"/>
              <a:t>DataInputStream</a:t>
            </a:r>
            <a:r>
              <a:rPr lang="en-IN" dirty="0"/>
              <a:t> dis = new </a:t>
            </a:r>
            <a:r>
              <a:rPr lang="en-IN" dirty="0" err="1"/>
              <a:t>DataInputStream</a:t>
            </a:r>
            <a:r>
              <a:rPr lang="en-IN" dirty="0"/>
              <a:t>(System.in);</a:t>
            </a:r>
          </a:p>
          <a:p>
            <a:r>
              <a:rPr lang="en-IN" dirty="0"/>
              <a:t>	</a:t>
            </a:r>
            <a:r>
              <a:rPr lang="en-IN" dirty="0" err="1"/>
              <a:t>FileOutputStream</a:t>
            </a:r>
            <a:r>
              <a:rPr lang="en-IN" dirty="0"/>
              <a:t> </a:t>
            </a:r>
            <a:r>
              <a:rPr lang="en-IN" dirty="0" err="1"/>
              <a:t>fout</a:t>
            </a:r>
            <a:r>
              <a:rPr lang="en-IN" dirty="0"/>
              <a:t> = new </a:t>
            </a:r>
            <a:r>
              <a:rPr lang="en-IN" dirty="0" err="1"/>
              <a:t>FileOutputStream</a:t>
            </a:r>
            <a:r>
              <a:rPr lang="en-IN" dirty="0"/>
              <a:t>("myfile1.txt");</a:t>
            </a:r>
          </a:p>
          <a:p>
            <a:r>
              <a:rPr lang="en-IN" dirty="0"/>
              <a:t>	</a:t>
            </a:r>
            <a:r>
              <a:rPr lang="en-IN" dirty="0" err="1"/>
              <a:t>System.out.println</a:t>
            </a:r>
            <a:r>
              <a:rPr lang="en-IN" dirty="0"/>
              <a:t>("Enter text (@ at the end):");</a:t>
            </a:r>
          </a:p>
          <a:p>
            <a:r>
              <a:rPr lang="en-IN" dirty="0"/>
              <a:t>	char c;</a:t>
            </a:r>
          </a:p>
          <a:p>
            <a:r>
              <a:rPr lang="en-IN" dirty="0"/>
              <a:t>	while((c = (char) </a:t>
            </a:r>
            <a:r>
              <a:rPr lang="en-IN" dirty="0" err="1"/>
              <a:t>dis.read</a:t>
            </a:r>
            <a:r>
              <a:rPr lang="en-IN" dirty="0"/>
              <a:t> ()) != '@')</a:t>
            </a:r>
          </a:p>
          <a:p>
            <a:r>
              <a:rPr lang="en-IN" dirty="0"/>
              <a:t>		</a:t>
            </a:r>
            <a:r>
              <a:rPr lang="en-IN" dirty="0" err="1"/>
              <a:t>fout.write</a:t>
            </a:r>
            <a:r>
              <a:rPr lang="en-IN" dirty="0"/>
              <a:t>(c);</a:t>
            </a:r>
          </a:p>
          <a:p>
            <a:r>
              <a:rPr lang="en-IN" dirty="0"/>
              <a:t>	</a:t>
            </a:r>
            <a:r>
              <a:rPr lang="en-IN" dirty="0" err="1"/>
              <a:t>fout.close</a:t>
            </a:r>
            <a:r>
              <a:rPr lang="en-IN" dirty="0"/>
              <a:t>();</a:t>
            </a:r>
          </a:p>
          <a:p>
            <a:r>
              <a:rPr lang="en-IN" dirty="0"/>
              <a:t>}</a:t>
            </a:r>
          </a:p>
          <a:p>
            <a:r>
              <a:rPr lang="en-IN" dirty="0"/>
              <a:t>}</a:t>
            </a:r>
          </a:p>
        </p:txBody>
      </p:sp>
      <p:sp>
        <p:nvSpPr>
          <p:cNvPr id="6" name="TextBox 5"/>
          <p:cNvSpPr txBox="1"/>
          <p:nvPr/>
        </p:nvSpPr>
        <p:spPr>
          <a:xfrm>
            <a:off x="6313251" y="3735421"/>
            <a:ext cx="5321030" cy="1200329"/>
          </a:xfrm>
          <a:prstGeom prst="rect">
            <a:avLst/>
          </a:prstGeom>
          <a:noFill/>
        </p:spPr>
        <p:txBody>
          <a:bodyPr wrap="square" rtlCol="0">
            <a:spAutoFit/>
          </a:bodyPr>
          <a:lstStyle/>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 this program, we read the data from the keyboard and write it to myfile.txt</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program accepts data from the keyboard till the user types @ when he does not want to continue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2034"/>
            <a:ext cx="10515600" cy="559003"/>
          </a:xfrm>
        </p:spPr>
        <p:txBody>
          <a:bodyPr>
            <a:normAutofit fontScale="90000"/>
          </a:bodyPr>
          <a:lstStyle/>
          <a:p>
            <a:pPr algn="ctr"/>
            <a:r>
              <a:rPr lang="en-IN" sz="3600" dirty="0">
                <a:latin typeface="Times New Roman" panose="02020603050405020304" pitchFamily="18" charset="0"/>
                <a:cs typeface="Times New Roman" panose="02020603050405020304" pitchFamily="18" charset="0"/>
              </a:rPr>
              <a:t>Reading data from a file using </a:t>
            </a:r>
            <a:r>
              <a:rPr lang="en-IN" sz="3600" dirty="0" err="1">
                <a:latin typeface="Times New Roman" panose="02020603050405020304" pitchFamily="18" charset="0"/>
                <a:cs typeface="Times New Roman" panose="02020603050405020304" pitchFamily="18" charset="0"/>
              </a:rPr>
              <a:t>FileInputStream</a:t>
            </a: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253330"/>
            <a:ext cx="10515600" cy="4962643"/>
          </a:xfrm>
        </p:spPr>
        <p:txBody>
          <a:bodyPr>
            <a:normAutofit lnSpcReduction="10000"/>
          </a:bodyPr>
          <a:lstStyle/>
          <a:p>
            <a:r>
              <a:rPr lang="en-IN" sz="2400" dirty="0">
                <a:latin typeface="Times New Roman" panose="02020603050405020304" pitchFamily="18" charset="0"/>
                <a:cs typeface="Times New Roman" panose="02020603050405020304" pitchFamily="18" charset="0"/>
              </a:rPr>
              <a:t>First, we have to attach the file to a </a:t>
            </a:r>
            <a:r>
              <a:rPr lang="en-IN" sz="2400" dirty="0" err="1">
                <a:latin typeface="Times New Roman" panose="02020603050405020304" pitchFamily="18" charset="0"/>
                <a:cs typeface="Times New Roman" panose="02020603050405020304" pitchFamily="18" charset="0"/>
              </a:rPr>
              <a:t>FileInputStream</a:t>
            </a:r>
            <a:r>
              <a:rPr lang="en-IN" sz="2400" dirty="0">
                <a:latin typeface="Times New Roman" panose="02020603050405020304" pitchFamily="18" charset="0"/>
                <a:cs typeface="Times New Roman" panose="02020603050405020304" pitchFamily="18" charset="0"/>
              </a:rPr>
              <a:t> as shown below:</a:t>
            </a:r>
          </a:p>
          <a:p>
            <a:pPr marL="0" indent="0">
              <a:buNone/>
            </a:pPr>
            <a:r>
              <a:rPr lang="en-IN" sz="2400" dirty="0">
                <a:latin typeface="Times New Roman" panose="02020603050405020304" pitchFamily="18" charset="0"/>
                <a:cs typeface="Times New Roman" panose="02020603050405020304" pitchFamily="18" charset="0"/>
              </a:rPr>
              <a:t>	 </a:t>
            </a:r>
            <a:r>
              <a:rPr lang="en-IN" sz="2400" dirty="0" err="1">
                <a:highlight>
                  <a:srgbClr val="FFFF00"/>
                </a:highlight>
                <a:latin typeface="Times New Roman" panose="02020603050405020304" pitchFamily="18" charset="0"/>
                <a:cs typeface="Times New Roman" panose="02020603050405020304" pitchFamily="18" charset="0"/>
              </a:rPr>
              <a:t>FileInputStream</a:t>
            </a:r>
            <a:r>
              <a:rPr lang="en-IN" sz="2400" dirty="0">
                <a:highlight>
                  <a:srgbClr val="FFFF00"/>
                </a:highlight>
                <a:latin typeface="Times New Roman" panose="02020603050405020304" pitchFamily="18" charset="0"/>
                <a:cs typeface="Times New Roman" panose="02020603050405020304" pitchFamily="18" charset="0"/>
              </a:rPr>
              <a:t> fin = new </a:t>
            </a:r>
            <a:r>
              <a:rPr lang="en-IN" sz="2400" dirty="0" err="1">
                <a:highlight>
                  <a:srgbClr val="FFFF00"/>
                </a:highlight>
                <a:latin typeface="Times New Roman" panose="02020603050405020304" pitchFamily="18" charset="0"/>
                <a:cs typeface="Times New Roman" panose="02020603050405020304" pitchFamily="18" charset="0"/>
              </a:rPr>
              <a:t>FileInputStream</a:t>
            </a:r>
            <a:r>
              <a:rPr lang="en-IN" sz="2400" dirty="0">
                <a:highlight>
                  <a:srgbClr val="FFFF00"/>
                </a:highlight>
                <a:latin typeface="Times New Roman" panose="02020603050405020304" pitchFamily="18" charset="0"/>
                <a:cs typeface="Times New Roman" panose="02020603050405020304" pitchFamily="18" charset="0"/>
              </a:rPr>
              <a:t> (“</a:t>
            </a:r>
            <a:r>
              <a:rPr lang="en-IN" sz="2400" dirty="0" err="1">
                <a:highlight>
                  <a:srgbClr val="FFFF00"/>
                </a:highlight>
                <a:latin typeface="Times New Roman" panose="02020603050405020304" pitchFamily="18" charset="0"/>
                <a:cs typeface="Times New Roman" panose="02020603050405020304" pitchFamily="18" charset="0"/>
              </a:rPr>
              <a:t>myfile.text</a:t>
            </a:r>
            <a:r>
              <a:rPr lang="en-IN" sz="2400" dirty="0">
                <a:highlight>
                  <a:srgbClr val="FFFF00"/>
                </a:highlight>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This will enable us to read data from the file, then to read the data from the file, we should read data from </a:t>
            </a:r>
            <a:r>
              <a:rPr lang="en-IN" sz="2400" dirty="0" err="1">
                <a:latin typeface="Times New Roman" panose="02020603050405020304" pitchFamily="18" charset="0"/>
                <a:cs typeface="Times New Roman" panose="02020603050405020304" pitchFamily="18" charset="0"/>
              </a:rPr>
              <a:t>FileInputStream</a:t>
            </a:r>
            <a:r>
              <a:rPr lang="en-IN" sz="2400" dirty="0">
                <a:latin typeface="Times New Roman" panose="02020603050405020304" pitchFamily="18" charset="0"/>
                <a:cs typeface="Times New Roman" panose="02020603050405020304" pitchFamily="18" charset="0"/>
              </a:rPr>
              <a:t> as</a:t>
            </a:r>
          </a:p>
          <a:p>
            <a:pPr marL="0" indent="0" algn="ctr">
              <a:buNone/>
            </a:pPr>
            <a:r>
              <a:rPr lang="en-IN" sz="2400" dirty="0" err="1">
                <a:highlight>
                  <a:srgbClr val="FFFF00"/>
                </a:highlight>
                <a:latin typeface="Times New Roman" panose="02020603050405020304" pitchFamily="18" charset="0"/>
                <a:cs typeface="Times New Roman" panose="02020603050405020304" pitchFamily="18" charset="0"/>
              </a:rPr>
              <a:t>ch</a:t>
            </a:r>
            <a:r>
              <a:rPr lang="en-IN" sz="2400" dirty="0">
                <a:highlight>
                  <a:srgbClr val="FFFF00"/>
                </a:highlight>
                <a:latin typeface="Times New Roman" panose="02020603050405020304" pitchFamily="18" charset="0"/>
                <a:cs typeface="Times New Roman" panose="02020603050405020304" pitchFamily="18" charset="0"/>
              </a:rPr>
              <a:t> = </a:t>
            </a:r>
            <a:r>
              <a:rPr lang="en-IN" sz="2400" dirty="0" err="1">
                <a:highlight>
                  <a:srgbClr val="FFFF00"/>
                </a:highlight>
                <a:latin typeface="Times New Roman" panose="02020603050405020304" pitchFamily="18" charset="0"/>
                <a:cs typeface="Times New Roman" panose="02020603050405020304" pitchFamily="18" charset="0"/>
              </a:rPr>
              <a:t>fin.read</a:t>
            </a:r>
            <a:r>
              <a:rPr lang="en-IN" sz="2400" dirty="0">
                <a:highlight>
                  <a:srgbClr val="FFFF00"/>
                </a:highlight>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The read () reads all characters from the file, till it reach the end of the file. When there is no more data available to read </a:t>
            </a:r>
            <a:r>
              <a:rPr lang="en-IN" sz="2400" dirty="0" err="1">
                <a:latin typeface="Times New Roman" panose="02020603050405020304" pitchFamily="18" charset="0"/>
                <a:cs typeface="Times New Roman" panose="02020603050405020304" pitchFamily="18" charset="0"/>
              </a:rPr>
              <a:t>futher</a:t>
            </a:r>
            <a:r>
              <a:rPr lang="en-IN" sz="2400" dirty="0">
                <a:latin typeface="Times New Roman" panose="02020603050405020304" pitchFamily="18" charset="0"/>
                <a:cs typeface="Times New Roman" panose="02020603050405020304" pitchFamily="18" charset="0"/>
              </a:rPr>
              <a:t>, the read() returns -1;</a:t>
            </a:r>
          </a:p>
          <a:p>
            <a:r>
              <a:rPr lang="en-IN" sz="2400" dirty="0">
                <a:latin typeface="Times New Roman" panose="02020603050405020304" pitchFamily="18" charset="0"/>
                <a:cs typeface="Times New Roman" panose="02020603050405020304" pitchFamily="18" charset="0"/>
              </a:rPr>
              <a:t>Then, we have to attach the monitor to some output steam. For displaying the data, we can use </a:t>
            </a:r>
            <a:r>
              <a:rPr lang="en-IN" sz="2400" dirty="0" err="1">
                <a:highlight>
                  <a:srgbClr val="FFFF00"/>
                </a:highlight>
                <a:latin typeface="Times New Roman" panose="02020603050405020304" pitchFamily="18" charset="0"/>
                <a:cs typeface="Times New Roman" panose="02020603050405020304" pitchFamily="18" charset="0"/>
              </a:rPr>
              <a:t>system.out</a:t>
            </a:r>
            <a:r>
              <a:rPr lang="en-IN" sz="2400" dirty="0">
                <a:highlight>
                  <a:srgbClr val="FFFF00"/>
                </a:highlight>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which is nothing but </a:t>
            </a:r>
            <a:r>
              <a:rPr lang="en-IN" sz="2400" dirty="0" err="1">
                <a:latin typeface="Times New Roman" panose="02020603050405020304" pitchFamily="18" charset="0"/>
                <a:cs typeface="Times New Roman" panose="02020603050405020304" pitchFamily="18" charset="0"/>
              </a:rPr>
              <a:t>PrintStream</a:t>
            </a:r>
            <a:r>
              <a:rPr lang="en-IN" sz="2400" dirty="0">
                <a:latin typeface="Times New Roman" panose="02020603050405020304" pitchFamily="18" charset="0"/>
                <a:cs typeface="Times New Roman" panose="02020603050405020304" pitchFamily="18" charset="0"/>
              </a:rPr>
              <a:t> object.</a:t>
            </a:r>
          </a:p>
          <a:p>
            <a:pPr marL="0" indent="0" algn="ctr">
              <a:buNone/>
            </a:pPr>
            <a:r>
              <a:rPr lang="en-IN" sz="2400" dirty="0" err="1">
                <a:highlight>
                  <a:srgbClr val="FFFF00"/>
                </a:highlight>
                <a:latin typeface="Times New Roman" panose="02020603050405020304" pitchFamily="18" charset="0"/>
                <a:cs typeface="Times New Roman" panose="02020603050405020304" pitchFamily="18" charset="0"/>
              </a:rPr>
              <a:t>System.out.print</a:t>
            </a:r>
            <a:r>
              <a:rPr lang="en-IN" sz="2400" dirty="0">
                <a:highlight>
                  <a:srgbClr val="FFFF00"/>
                </a:highlight>
                <a:latin typeface="Times New Roman" panose="02020603050405020304" pitchFamily="18" charset="0"/>
                <a:cs typeface="Times New Roman" panose="02020603050405020304" pitchFamily="18" charset="0"/>
              </a:rPr>
              <a:t>(</a:t>
            </a:r>
            <a:r>
              <a:rPr lang="en-IN" sz="2400" dirty="0" err="1">
                <a:highlight>
                  <a:srgbClr val="FFFF00"/>
                </a:highlight>
                <a:latin typeface="Times New Roman" panose="02020603050405020304" pitchFamily="18" charset="0"/>
                <a:cs typeface="Times New Roman" panose="02020603050405020304" pitchFamily="18" charset="0"/>
              </a:rPr>
              <a:t>ch</a:t>
            </a:r>
            <a:r>
              <a:rPr lang="en-IN" sz="2400" dirty="0">
                <a:highlight>
                  <a:srgbClr val="FFFF00"/>
                </a:highlight>
                <a:latin typeface="Times New Roman" panose="02020603050405020304" pitchFamily="18" charset="0"/>
                <a:cs typeface="Times New Roman" panose="02020603050405020304" pitchFamily="18" charset="0"/>
              </a:rPr>
              <a:t>); </a:t>
            </a:r>
          </a:p>
          <a:p>
            <a:r>
              <a:rPr lang="en-IN" sz="2400" dirty="0">
                <a:latin typeface="Times New Roman" panose="02020603050405020304" pitchFamily="18" charset="0"/>
                <a:cs typeface="Times New Roman" panose="02020603050405020304" pitchFamily="18" charset="0"/>
              </a:rPr>
              <a:t>Finally, we have to close the file </a:t>
            </a:r>
          </a:p>
          <a:p>
            <a:pPr marL="0" indent="0" algn="ctr">
              <a:buNone/>
            </a:pPr>
            <a:r>
              <a:rPr lang="en-IN" sz="2400" dirty="0" err="1">
                <a:highlight>
                  <a:srgbClr val="FFFF00"/>
                </a:highlight>
                <a:latin typeface="Times New Roman" panose="02020603050405020304" pitchFamily="18" charset="0"/>
                <a:cs typeface="Times New Roman" panose="02020603050405020304" pitchFamily="18" charset="0"/>
              </a:rPr>
              <a:t>fin.close</a:t>
            </a:r>
            <a:r>
              <a:rPr lang="en-IN" sz="2400" dirty="0">
                <a:highlight>
                  <a:srgbClr val="FFFF00"/>
                </a:highlight>
                <a:latin typeface="Times New Roman" panose="02020603050405020304" pitchFamily="18" charset="0"/>
                <a:cs typeface="Times New Roman" panose="02020603050405020304" pitchFamily="18" charset="0"/>
              </a:rPr>
              <a:t>();</a:t>
            </a:r>
          </a:p>
          <a:p>
            <a:endParaRPr lang="en-IN" sz="2400" dirty="0">
              <a:highlight>
                <a:srgbClr val="FFFF00"/>
              </a:highlight>
              <a:latin typeface="Times New Roman" panose="02020603050405020304" pitchFamily="18" charset="0"/>
              <a:cs typeface="Times New Roman" panose="02020603050405020304" pitchFamily="18" charset="0"/>
            </a:endParaRPr>
          </a:p>
          <a:p>
            <a:endParaRPr lang="en-IN" sz="2400" dirty="0">
              <a:highlight>
                <a:srgbClr val="FFFF00"/>
              </a:highlight>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9482"/>
            <a:ext cx="10515600" cy="675735"/>
          </a:xfrm>
        </p:spPr>
        <p:txBody>
          <a:bodyPr>
            <a:normAutofit/>
          </a:bodyPr>
          <a:lstStyle/>
          <a:p>
            <a:pPr algn="ctr"/>
            <a:r>
              <a:rPr lang="en-IN" sz="3600" dirty="0">
                <a:latin typeface="Times New Roman" panose="02020603050405020304" pitchFamily="18" charset="0"/>
                <a:cs typeface="Times New Roman" panose="02020603050405020304" pitchFamily="18" charset="0"/>
              </a:rPr>
              <a:t>Reading  data from a file using </a:t>
            </a:r>
            <a:r>
              <a:rPr lang="en-IN" sz="3600" dirty="0" err="1">
                <a:latin typeface="Times New Roman" panose="02020603050405020304" pitchFamily="18" charset="0"/>
                <a:cs typeface="Times New Roman" panose="02020603050405020304" pitchFamily="18" charset="0"/>
              </a:rPr>
              <a:t>FileInputStream</a:t>
            </a:r>
            <a:endParaRPr lang="en-IN" sz="36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1741251" y="1181194"/>
            <a:ext cx="7234945" cy="3693319"/>
          </a:xfrm>
          <a:prstGeom prst="rect">
            <a:avLst/>
          </a:prstGeom>
          <a:noFill/>
        </p:spPr>
        <p:txBody>
          <a:bodyPr wrap="square">
            <a:spAutoFit/>
          </a:bodyPr>
          <a:lstStyle/>
          <a:p>
            <a:r>
              <a:rPr lang="en-IN" dirty="0"/>
              <a:t>import java.io.*;</a:t>
            </a:r>
          </a:p>
          <a:p>
            <a:r>
              <a:rPr lang="en-IN" dirty="0"/>
              <a:t>class Read</a:t>
            </a:r>
          </a:p>
          <a:p>
            <a:r>
              <a:rPr lang="en-IN" dirty="0"/>
              <a:t>{</a:t>
            </a:r>
          </a:p>
          <a:p>
            <a:r>
              <a:rPr lang="en-IN" dirty="0"/>
              <a:t>public static void main (String </a:t>
            </a:r>
            <a:r>
              <a:rPr lang="en-IN" dirty="0" err="1"/>
              <a:t>args</a:t>
            </a:r>
            <a:r>
              <a:rPr lang="en-IN" dirty="0"/>
              <a:t>[])throws </a:t>
            </a:r>
            <a:r>
              <a:rPr lang="en-IN" dirty="0" err="1"/>
              <a:t>IOException</a:t>
            </a:r>
            <a:endParaRPr lang="en-IN" dirty="0"/>
          </a:p>
          <a:p>
            <a:r>
              <a:rPr lang="en-IN" dirty="0"/>
              <a:t>{</a:t>
            </a:r>
          </a:p>
          <a:p>
            <a:r>
              <a:rPr lang="en-IN" dirty="0"/>
              <a:t>	</a:t>
            </a:r>
            <a:r>
              <a:rPr lang="en-IN" dirty="0" err="1"/>
              <a:t>FileInputStream</a:t>
            </a:r>
            <a:r>
              <a:rPr lang="en-IN" dirty="0"/>
              <a:t> fin = new </a:t>
            </a:r>
            <a:r>
              <a:rPr lang="en-IN" dirty="0" err="1"/>
              <a:t>FileInputStream</a:t>
            </a:r>
            <a:r>
              <a:rPr lang="en-IN" dirty="0"/>
              <a:t>("myfile1.txt");</a:t>
            </a:r>
          </a:p>
          <a:p>
            <a:r>
              <a:rPr lang="en-IN" dirty="0"/>
              <a:t>	</a:t>
            </a:r>
            <a:r>
              <a:rPr lang="en-IN" dirty="0" err="1"/>
              <a:t>System.out.println</a:t>
            </a:r>
            <a:r>
              <a:rPr lang="en-IN" dirty="0"/>
              <a:t>("File contents");</a:t>
            </a:r>
          </a:p>
          <a:p>
            <a:r>
              <a:rPr lang="en-IN" dirty="0"/>
              <a:t>	int </a:t>
            </a:r>
            <a:r>
              <a:rPr lang="en-IN" dirty="0" err="1"/>
              <a:t>ch</a:t>
            </a:r>
            <a:r>
              <a:rPr lang="en-IN" dirty="0"/>
              <a:t>;</a:t>
            </a:r>
          </a:p>
          <a:p>
            <a:r>
              <a:rPr lang="en-IN" dirty="0"/>
              <a:t>	while((</a:t>
            </a:r>
            <a:r>
              <a:rPr lang="en-IN" dirty="0" err="1"/>
              <a:t>ch</a:t>
            </a:r>
            <a:r>
              <a:rPr lang="en-IN" dirty="0"/>
              <a:t> = </a:t>
            </a:r>
            <a:r>
              <a:rPr lang="en-IN" dirty="0" err="1"/>
              <a:t>fin.read</a:t>
            </a:r>
            <a:r>
              <a:rPr lang="en-IN" dirty="0"/>
              <a:t>()) != -1)</a:t>
            </a:r>
          </a:p>
          <a:p>
            <a:r>
              <a:rPr lang="en-IN" dirty="0"/>
              <a:t>		</a:t>
            </a:r>
            <a:r>
              <a:rPr lang="en-IN" dirty="0" err="1"/>
              <a:t>System.out.print</a:t>
            </a:r>
            <a:r>
              <a:rPr lang="en-IN" dirty="0"/>
              <a:t>((char)</a:t>
            </a:r>
            <a:r>
              <a:rPr lang="en-IN" dirty="0" err="1"/>
              <a:t>ch</a:t>
            </a:r>
            <a:r>
              <a:rPr lang="en-IN" dirty="0"/>
              <a:t>);</a:t>
            </a:r>
          </a:p>
          <a:p>
            <a:r>
              <a:rPr lang="en-IN" dirty="0"/>
              <a:t>	</a:t>
            </a:r>
            <a:r>
              <a:rPr lang="en-IN" dirty="0" err="1"/>
              <a:t>fin.close</a:t>
            </a:r>
            <a:r>
              <a:rPr lang="en-IN" dirty="0"/>
              <a:t>();</a:t>
            </a:r>
          </a:p>
          <a:p>
            <a:r>
              <a:rPr lang="en-IN" dirty="0"/>
              <a:t>}</a:t>
            </a:r>
          </a:p>
          <a:p>
            <a:r>
              <a:rPr lang="en-IN" dirty="0"/>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1490"/>
            <a:ext cx="10515600" cy="539547"/>
          </a:xfrm>
        </p:spPr>
        <p:txBody>
          <a:bodyPr>
            <a:normAutofit fontScale="90000"/>
          </a:bodyPr>
          <a:lstStyle/>
          <a:p>
            <a:pPr algn="ctr"/>
            <a:r>
              <a:rPr lang="en-IN" dirty="0">
                <a:latin typeface="Times New Roman" panose="02020603050405020304" pitchFamily="18" charset="0"/>
                <a:cs typeface="Times New Roman" panose="02020603050405020304" pitchFamily="18" charset="0"/>
              </a:rPr>
              <a:t>Create a File using </a:t>
            </a:r>
            <a:r>
              <a:rPr lang="en-IN" dirty="0" err="1">
                <a:latin typeface="Times New Roman" panose="02020603050405020304" pitchFamily="18" charset="0"/>
                <a:cs typeface="Times New Roman" panose="02020603050405020304" pitchFamily="18" charset="0"/>
              </a:rPr>
              <a:t>FileWriter</a:t>
            </a:r>
            <a:endParaRPr lang="en-IN" dirty="0">
              <a:latin typeface="Times New Roman" panose="02020603050405020304" pitchFamily="18" charset="0"/>
              <a:cs typeface="Times New Roman" panose="02020603050405020304" pitchFamily="18" charset="0"/>
            </a:endParaRPr>
          </a:p>
        </p:txBody>
      </p:sp>
      <p:sp>
        <p:nvSpPr>
          <p:cNvPr id="5" name="TextBox 4"/>
          <p:cNvSpPr txBox="1"/>
          <p:nvPr/>
        </p:nvSpPr>
        <p:spPr>
          <a:xfrm>
            <a:off x="838200" y="989432"/>
            <a:ext cx="8303367" cy="4495398"/>
          </a:xfrm>
          <a:prstGeom prst="rect">
            <a:avLst/>
          </a:prstGeom>
          <a:noFill/>
        </p:spPr>
        <p:txBody>
          <a:bodyPr wrap="square">
            <a:spAutoFit/>
          </a:bodyPr>
          <a:lstStyle/>
          <a:p>
            <a:pPr>
              <a:lnSpc>
                <a:spcPct val="114000"/>
              </a:lnSpc>
            </a:pPr>
            <a:r>
              <a:rPr lang="en-IN" dirty="0"/>
              <a:t>import java.io.*;</a:t>
            </a:r>
          </a:p>
          <a:p>
            <a:pPr>
              <a:lnSpc>
                <a:spcPct val="114000"/>
              </a:lnSpc>
            </a:pPr>
            <a:r>
              <a:rPr lang="en-IN" dirty="0"/>
              <a:t>class Create1</a:t>
            </a:r>
          </a:p>
          <a:p>
            <a:pPr>
              <a:lnSpc>
                <a:spcPct val="114000"/>
              </a:lnSpc>
            </a:pPr>
            <a:r>
              <a:rPr lang="en-IN" dirty="0"/>
              <a:t>{</a:t>
            </a:r>
          </a:p>
          <a:p>
            <a:pPr>
              <a:lnSpc>
                <a:spcPct val="114000"/>
              </a:lnSpc>
            </a:pPr>
            <a:r>
              <a:rPr lang="en-IN" dirty="0"/>
              <a:t>	public static void main (String </a:t>
            </a:r>
            <a:r>
              <a:rPr lang="en-IN" dirty="0" err="1"/>
              <a:t>args</a:t>
            </a:r>
            <a:r>
              <a:rPr lang="en-IN" dirty="0"/>
              <a:t>[]) throws </a:t>
            </a:r>
            <a:r>
              <a:rPr lang="en-IN" dirty="0" err="1"/>
              <a:t>IOException</a:t>
            </a:r>
            <a:endParaRPr lang="en-IN" dirty="0"/>
          </a:p>
          <a:p>
            <a:pPr>
              <a:lnSpc>
                <a:spcPct val="114000"/>
              </a:lnSpc>
            </a:pPr>
            <a:r>
              <a:rPr lang="en-IN" dirty="0"/>
              <a:t>	{</a:t>
            </a:r>
          </a:p>
          <a:p>
            <a:pPr>
              <a:lnSpc>
                <a:spcPct val="114000"/>
              </a:lnSpc>
            </a:pPr>
            <a:r>
              <a:rPr lang="en-IN" dirty="0"/>
              <a:t>		String Str  = "This is a book on Java" + "\n I am a student of MCA";</a:t>
            </a:r>
          </a:p>
          <a:p>
            <a:pPr>
              <a:lnSpc>
                <a:spcPct val="114000"/>
              </a:lnSpc>
            </a:pPr>
            <a:r>
              <a:rPr lang="en-IN" dirty="0"/>
              <a:t>		</a:t>
            </a:r>
            <a:r>
              <a:rPr lang="en-IN" dirty="0" err="1"/>
              <a:t>FileWriter</a:t>
            </a:r>
            <a:r>
              <a:rPr lang="en-IN" dirty="0"/>
              <a:t> </a:t>
            </a:r>
            <a:r>
              <a:rPr lang="en-IN" dirty="0" err="1"/>
              <a:t>fw</a:t>
            </a:r>
            <a:r>
              <a:rPr lang="en-IN" dirty="0"/>
              <a:t> = new </a:t>
            </a:r>
            <a:r>
              <a:rPr lang="en-IN" dirty="0" err="1"/>
              <a:t>FileWriter</a:t>
            </a:r>
            <a:r>
              <a:rPr lang="en-IN" dirty="0"/>
              <a:t> ("myfile2.txt");</a:t>
            </a:r>
          </a:p>
          <a:p>
            <a:pPr>
              <a:lnSpc>
                <a:spcPct val="114000"/>
              </a:lnSpc>
            </a:pPr>
            <a:r>
              <a:rPr lang="en-IN" dirty="0"/>
              <a:t>		for(int </a:t>
            </a:r>
            <a:r>
              <a:rPr lang="en-IN" dirty="0" err="1"/>
              <a:t>i</a:t>
            </a:r>
            <a:r>
              <a:rPr lang="en-IN" dirty="0"/>
              <a:t> = 0; </a:t>
            </a:r>
            <a:r>
              <a:rPr lang="en-IN" dirty="0" err="1"/>
              <a:t>i</a:t>
            </a:r>
            <a:r>
              <a:rPr lang="en-IN" dirty="0"/>
              <a:t> &lt; </a:t>
            </a:r>
            <a:r>
              <a:rPr lang="en-IN" dirty="0" err="1"/>
              <a:t>Str.length</a:t>
            </a:r>
            <a:r>
              <a:rPr lang="en-IN" dirty="0"/>
              <a:t>(); </a:t>
            </a:r>
            <a:r>
              <a:rPr lang="en-IN" dirty="0" err="1"/>
              <a:t>i</a:t>
            </a:r>
            <a:r>
              <a:rPr lang="en-IN" dirty="0"/>
              <a:t>++)</a:t>
            </a:r>
          </a:p>
          <a:p>
            <a:pPr>
              <a:lnSpc>
                <a:spcPct val="114000"/>
              </a:lnSpc>
            </a:pPr>
            <a:r>
              <a:rPr lang="en-IN" dirty="0"/>
              <a:t>		{</a:t>
            </a:r>
          </a:p>
          <a:p>
            <a:pPr>
              <a:lnSpc>
                <a:spcPct val="114000"/>
              </a:lnSpc>
            </a:pPr>
            <a:r>
              <a:rPr lang="en-IN" dirty="0"/>
              <a:t>		</a:t>
            </a:r>
            <a:r>
              <a:rPr lang="en-IN" dirty="0" err="1"/>
              <a:t>fw.write</a:t>
            </a:r>
            <a:r>
              <a:rPr lang="en-IN" dirty="0"/>
              <a:t>(</a:t>
            </a:r>
            <a:r>
              <a:rPr lang="en-IN" dirty="0" err="1"/>
              <a:t>Str.charAt</a:t>
            </a:r>
            <a:r>
              <a:rPr lang="en-IN" dirty="0"/>
              <a:t>(</a:t>
            </a:r>
            <a:r>
              <a:rPr lang="en-IN" dirty="0" err="1"/>
              <a:t>i</a:t>
            </a:r>
            <a:r>
              <a:rPr lang="en-IN" dirty="0"/>
              <a:t>));</a:t>
            </a:r>
          </a:p>
          <a:p>
            <a:pPr>
              <a:lnSpc>
                <a:spcPct val="114000"/>
              </a:lnSpc>
            </a:pPr>
            <a:r>
              <a:rPr lang="en-IN" dirty="0"/>
              <a:t>		}</a:t>
            </a:r>
          </a:p>
          <a:p>
            <a:pPr>
              <a:lnSpc>
                <a:spcPct val="114000"/>
              </a:lnSpc>
            </a:pPr>
            <a:r>
              <a:rPr lang="en-IN" dirty="0"/>
              <a:t>		</a:t>
            </a:r>
            <a:r>
              <a:rPr lang="en-IN" dirty="0" err="1"/>
              <a:t>fw.close</a:t>
            </a:r>
            <a:r>
              <a:rPr lang="en-IN" dirty="0"/>
              <a:t>();</a:t>
            </a:r>
          </a:p>
          <a:p>
            <a:pPr>
              <a:lnSpc>
                <a:spcPct val="114000"/>
              </a:lnSpc>
            </a:pPr>
            <a:r>
              <a:rPr lang="en-IN" dirty="0"/>
              <a:t>	}</a:t>
            </a:r>
          </a:p>
          <a:p>
            <a:pPr>
              <a:lnSpc>
                <a:spcPct val="114000"/>
              </a:lnSpc>
            </a:pPr>
            <a:r>
              <a:rPr lang="en-IN" dirty="0"/>
              <a:t>}</a:t>
            </a:r>
          </a:p>
        </p:txBody>
      </p:sp>
      <p:sp>
        <p:nvSpPr>
          <p:cNvPr id="7" name="TextBox 6"/>
          <p:cNvSpPr txBox="1"/>
          <p:nvPr/>
        </p:nvSpPr>
        <p:spPr>
          <a:xfrm>
            <a:off x="6750996" y="4085617"/>
            <a:ext cx="4834647" cy="923330"/>
          </a:xfrm>
          <a:prstGeom prst="rect">
            <a:avLst/>
          </a:prstGeom>
          <a:noFill/>
        </p:spPr>
        <p:txBody>
          <a:bodyPr wrap="square" rtlCol="0">
            <a:spAutoFit/>
          </a:bodyPr>
          <a:lstStyle/>
          <a:p>
            <a:r>
              <a:rPr lang="en-IN" dirty="0"/>
              <a:t>In this program, we are taking a string where the characters are read and written into a </a:t>
            </a:r>
            <a:r>
              <a:rPr lang="en-IN" dirty="0" err="1">
                <a:highlight>
                  <a:srgbClr val="FFFF00"/>
                </a:highlight>
              </a:rPr>
              <a:t>FileWriter</a:t>
            </a:r>
            <a:r>
              <a:rPr lang="en-IN" dirty="0"/>
              <a:t>, which is attached to a file named </a:t>
            </a:r>
            <a:r>
              <a:rPr lang="en-IN" i="1" dirty="0">
                <a:highlight>
                  <a:srgbClr val="FFFF00"/>
                </a:highlight>
              </a:rPr>
              <a:t>myfile2.txt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8393"/>
            <a:ext cx="10515600" cy="539547"/>
          </a:xfrm>
        </p:spPr>
        <p:txBody>
          <a:bodyPr>
            <a:normAutofit fontScale="90000"/>
          </a:bodyPr>
          <a:lstStyle/>
          <a:p>
            <a:pPr algn="ctr"/>
            <a:r>
              <a:rPr lang="en-IN" dirty="0"/>
              <a:t>Reading a file using </a:t>
            </a:r>
            <a:r>
              <a:rPr lang="en-IN" dirty="0" err="1"/>
              <a:t>FileReader</a:t>
            </a:r>
            <a:endParaRPr lang="en-IN" dirty="0"/>
          </a:p>
        </p:txBody>
      </p:sp>
      <p:sp>
        <p:nvSpPr>
          <p:cNvPr id="5" name="TextBox 4"/>
          <p:cNvSpPr txBox="1"/>
          <p:nvPr/>
        </p:nvSpPr>
        <p:spPr>
          <a:xfrm>
            <a:off x="916021" y="977296"/>
            <a:ext cx="9521757" cy="5632311"/>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import java.io.*;</a:t>
            </a:r>
          </a:p>
          <a:p>
            <a:r>
              <a:rPr lang="en-IN" dirty="0">
                <a:latin typeface="Times New Roman" panose="02020603050405020304" pitchFamily="18" charset="0"/>
                <a:cs typeface="Times New Roman" panose="02020603050405020304" pitchFamily="18" charset="0"/>
              </a:rPr>
              <a:t>class Read1</a:t>
            </a:r>
          </a:p>
          <a:p>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	public static void main (String </a:t>
            </a:r>
            <a:r>
              <a:rPr lang="en-IN" dirty="0" err="1">
                <a:latin typeface="Times New Roman" panose="02020603050405020304" pitchFamily="18" charset="0"/>
                <a:cs typeface="Times New Roman" panose="02020603050405020304" pitchFamily="18" charset="0"/>
              </a:rPr>
              <a:t>args</a:t>
            </a:r>
            <a:r>
              <a:rPr lang="en-IN" dirty="0">
                <a:latin typeface="Times New Roman" panose="02020603050405020304" pitchFamily="18" charset="0"/>
                <a:cs typeface="Times New Roman" panose="02020603050405020304" pitchFamily="18" charset="0"/>
              </a:rPr>
              <a:t>[])throws </a:t>
            </a:r>
            <a:r>
              <a:rPr lang="en-IN" dirty="0" err="1">
                <a:latin typeface="Times New Roman" panose="02020603050405020304" pitchFamily="18" charset="0"/>
                <a:cs typeface="Times New Roman" panose="02020603050405020304" pitchFamily="18" charset="0"/>
              </a:rPr>
              <a:t>IOException</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		int </a:t>
            </a:r>
            <a:r>
              <a:rPr lang="en-IN" dirty="0" err="1">
                <a:latin typeface="Times New Roman" panose="02020603050405020304" pitchFamily="18" charset="0"/>
                <a:cs typeface="Times New Roman" panose="02020603050405020304" pitchFamily="18" charset="0"/>
              </a:rPr>
              <a:t>ch</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FileReader</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fr</a:t>
            </a:r>
            <a:r>
              <a:rPr lang="en-IN" dirty="0">
                <a:latin typeface="Times New Roman" panose="02020603050405020304" pitchFamily="18" charset="0"/>
                <a:cs typeface="Times New Roman" panose="02020603050405020304" pitchFamily="18" charset="0"/>
              </a:rPr>
              <a:t> = null;</a:t>
            </a:r>
          </a:p>
          <a:p>
            <a:r>
              <a:rPr lang="en-IN" dirty="0">
                <a:latin typeface="Times New Roman" panose="02020603050405020304" pitchFamily="18" charset="0"/>
                <a:cs typeface="Times New Roman" panose="02020603050405020304" pitchFamily="18" charset="0"/>
              </a:rPr>
              <a:t>		try{</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fr</a:t>
            </a:r>
            <a:r>
              <a:rPr lang="en-IN" dirty="0">
                <a:latin typeface="Times New Roman" panose="02020603050405020304" pitchFamily="18" charset="0"/>
                <a:cs typeface="Times New Roman" panose="02020603050405020304" pitchFamily="18" charset="0"/>
              </a:rPr>
              <a:t> = new </a:t>
            </a:r>
            <a:r>
              <a:rPr lang="en-IN" dirty="0" err="1">
                <a:latin typeface="Times New Roman" panose="02020603050405020304" pitchFamily="18" charset="0"/>
                <a:cs typeface="Times New Roman" panose="02020603050405020304" pitchFamily="18" charset="0"/>
              </a:rPr>
              <a:t>FileReader</a:t>
            </a:r>
            <a:r>
              <a:rPr lang="en-IN" dirty="0">
                <a:latin typeface="Times New Roman" panose="02020603050405020304" pitchFamily="18" charset="0"/>
                <a:cs typeface="Times New Roman" panose="02020603050405020304" pitchFamily="18" charset="0"/>
              </a:rPr>
              <a:t>("myfile2.txt");</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		catch(</a:t>
            </a:r>
            <a:r>
              <a:rPr lang="en-IN" dirty="0" err="1">
                <a:latin typeface="Times New Roman" panose="02020603050405020304" pitchFamily="18" charset="0"/>
                <a:cs typeface="Times New Roman" panose="02020603050405020304" pitchFamily="18" charset="0"/>
              </a:rPr>
              <a:t>FileNotFoundException</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fe</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System.out.println</a:t>
            </a:r>
            <a:r>
              <a:rPr lang="en-IN" dirty="0">
                <a:latin typeface="Times New Roman" panose="02020603050405020304" pitchFamily="18" charset="0"/>
                <a:cs typeface="Times New Roman" panose="02020603050405020304" pitchFamily="18" charset="0"/>
              </a:rPr>
              <a:t>("file not found");</a:t>
            </a:r>
          </a:p>
          <a:p>
            <a:r>
              <a:rPr lang="en-IN" dirty="0">
                <a:latin typeface="Times New Roman" panose="02020603050405020304" pitchFamily="18" charset="0"/>
                <a:cs typeface="Times New Roman" panose="02020603050405020304" pitchFamily="18" charset="0"/>
              </a:rPr>
              <a:t>			return;</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		while((</a:t>
            </a:r>
            <a:r>
              <a:rPr lang="en-IN" dirty="0" err="1">
                <a:latin typeface="Times New Roman" panose="02020603050405020304" pitchFamily="18" charset="0"/>
                <a:cs typeface="Times New Roman" panose="02020603050405020304" pitchFamily="18" charset="0"/>
              </a:rPr>
              <a:t>ch</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fr.read</a:t>
            </a:r>
            <a:r>
              <a:rPr lang="en-IN" dirty="0">
                <a:latin typeface="Times New Roman" panose="02020603050405020304" pitchFamily="18" charset="0"/>
                <a:cs typeface="Times New Roman" panose="02020603050405020304" pitchFamily="18" charset="0"/>
              </a:rPr>
              <a:t>())!= -1)</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System.out.print</a:t>
            </a:r>
            <a:r>
              <a:rPr lang="en-IN" dirty="0">
                <a:latin typeface="Times New Roman" panose="02020603050405020304" pitchFamily="18" charset="0"/>
                <a:cs typeface="Times New Roman" panose="02020603050405020304" pitchFamily="18" charset="0"/>
              </a:rPr>
              <a:t>((char)</a:t>
            </a:r>
            <a:r>
              <a:rPr lang="en-IN" dirty="0" err="1">
                <a:latin typeface="Times New Roman" panose="02020603050405020304" pitchFamily="18" charset="0"/>
                <a:cs typeface="Times New Roman" panose="02020603050405020304" pitchFamily="18" charset="0"/>
              </a:rPr>
              <a:t>ch</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fr.close</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		</a:t>
            </a:r>
          </a:p>
        </p:txBody>
      </p:sp>
      <p:sp>
        <p:nvSpPr>
          <p:cNvPr id="6" name="TextBox 5"/>
          <p:cNvSpPr txBox="1"/>
          <p:nvPr/>
        </p:nvSpPr>
        <p:spPr>
          <a:xfrm>
            <a:off x="6848272" y="4620639"/>
            <a:ext cx="4737370" cy="1200329"/>
          </a:xfrm>
          <a:prstGeom prst="rect">
            <a:avLst/>
          </a:prstGeom>
          <a:noFill/>
        </p:spPr>
        <p:txBody>
          <a:bodyPr wrap="square" rtlCol="0">
            <a:spAutoFit/>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 this program, the </a:t>
            </a:r>
            <a:r>
              <a:rPr lang="en-IN" dirty="0">
                <a:highlight>
                  <a:srgbClr val="FFFF00"/>
                </a:highlight>
                <a:latin typeface="Times New Roman" panose="02020603050405020304" pitchFamily="18" charset="0"/>
                <a:cs typeface="Times New Roman" panose="02020603050405020304" pitchFamily="18" charset="0"/>
              </a:rPr>
              <a:t>myfile2.text </a:t>
            </a:r>
            <a:r>
              <a:rPr lang="en-IN" dirty="0">
                <a:latin typeface="Times New Roman" panose="02020603050405020304" pitchFamily="18" charset="0"/>
                <a:cs typeface="Times New Roman" panose="02020603050405020304" pitchFamily="18" charset="0"/>
              </a:rPr>
              <a:t>is attached to </a:t>
            </a:r>
            <a:r>
              <a:rPr lang="en-IN" dirty="0" err="1">
                <a:highlight>
                  <a:srgbClr val="FFFF00"/>
                </a:highlight>
                <a:latin typeface="Times New Roman" panose="02020603050405020304" pitchFamily="18" charset="0"/>
                <a:cs typeface="Times New Roman" panose="02020603050405020304" pitchFamily="18" charset="0"/>
              </a:rPr>
              <a:t>FileReader</a:t>
            </a:r>
            <a:r>
              <a:rPr lang="en-IN" dirty="0">
                <a:latin typeface="Times New Roman" panose="02020603050405020304" pitchFamily="18" charset="0"/>
                <a:cs typeface="Times New Roman" panose="02020603050405020304" pitchFamily="18" charset="0"/>
              </a:rPr>
              <a:t> for reading file.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It is read using </a:t>
            </a:r>
            <a:r>
              <a:rPr lang="en-IN" dirty="0">
                <a:highlight>
                  <a:srgbClr val="FFFF00"/>
                </a:highlight>
                <a:latin typeface="Times New Roman" panose="02020603050405020304" pitchFamily="18" charset="0"/>
                <a:cs typeface="Times New Roman" panose="02020603050405020304" pitchFamily="18" charset="0"/>
              </a:rPr>
              <a:t>read() </a:t>
            </a:r>
            <a:r>
              <a:rPr lang="en-IN" dirty="0">
                <a:latin typeface="Times New Roman" panose="02020603050405020304" pitchFamily="18" charset="0"/>
                <a:cs typeface="Times New Roman" panose="02020603050405020304" pitchFamily="18" charset="0"/>
              </a:rPr>
              <a:t>method and is displayed on the monitor.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0673"/>
            <a:ext cx="10515600" cy="510364"/>
          </a:xfrm>
        </p:spPr>
        <p:txBody>
          <a:bodyPr>
            <a:normAutofit fontScale="90000"/>
          </a:bodyPr>
          <a:lstStyle/>
          <a:p>
            <a:pPr algn="ctr"/>
            <a:r>
              <a:rPr lang="en-IN" sz="3600" dirty="0">
                <a:latin typeface="Times New Roman" panose="02020603050405020304" pitchFamily="18" charset="0"/>
                <a:cs typeface="Times New Roman" panose="02020603050405020304" pitchFamily="18" charset="0"/>
              </a:rPr>
              <a:t>Storing strings into a file using </a:t>
            </a:r>
            <a:r>
              <a:rPr lang="en-IN" sz="3600" dirty="0" err="1">
                <a:latin typeface="Times New Roman" panose="02020603050405020304" pitchFamily="18" charset="0"/>
                <a:cs typeface="Times New Roman" panose="02020603050405020304" pitchFamily="18" charset="0"/>
              </a:rPr>
              <a:t>FileWriter</a:t>
            </a: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018229"/>
            <a:ext cx="10515600" cy="4351338"/>
          </a:xfrm>
        </p:spPr>
        <p:txBody>
          <a:bodyPr/>
          <a:lstStyle/>
          <a:p>
            <a:r>
              <a:rPr lang="en-IN" dirty="0"/>
              <a:t>We have written data in the form of character into a text. It is possible to write data in the form of strings also.</a:t>
            </a:r>
          </a:p>
          <a:p>
            <a:r>
              <a:rPr lang="en-IN" dirty="0"/>
              <a:t>We can write string by string into a text file.</a:t>
            </a:r>
          </a:p>
          <a:p>
            <a:r>
              <a:rPr lang="en-IN" dirty="0"/>
              <a:t>The </a:t>
            </a:r>
            <a:r>
              <a:rPr lang="en-IN" dirty="0" err="1"/>
              <a:t>readLine</a:t>
            </a:r>
            <a:r>
              <a:rPr lang="en-IN" dirty="0"/>
              <a:t>() method of </a:t>
            </a:r>
            <a:r>
              <a:rPr lang="en-IN" dirty="0" err="1"/>
              <a:t>BufferedReader</a:t>
            </a:r>
            <a:r>
              <a:rPr lang="en-IN" dirty="0"/>
              <a:t> class can read a string, that method used to read string from the keyboard.</a:t>
            </a:r>
          </a:p>
          <a:p>
            <a:r>
              <a:rPr lang="en-IN" dirty="0"/>
              <a:t>Then using the write() method of </a:t>
            </a:r>
            <a:r>
              <a:rPr lang="en-IN" dirty="0" err="1"/>
              <a:t>FileWriter</a:t>
            </a:r>
            <a:r>
              <a:rPr lang="en-IN" dirty="0"/>
              <a:t> class, we can write the string into the text file.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87304"/>
            <a:ext cx="10515600" cy="500637"/>
          </a:xfrm>
        </p:spPr>
        <p:txBody>
          <a:bodyPr>
            <a:normAutofit fontScale="90000"/>
          </a:bodyPr>
          <a:lstStyle/>
          <a:p>
            <a:pPr algn="ctr"/>
            <a:r>
              <a:rPr lang="en-IN" sz="3600" dirty="0">
                <a:latin typeface="Times New Roman" panose="02020603050405020304" pitchFamily="18" charset="0"/>
                <a:cs typeface="Times New Roman" panose="02020603050405020304" pitchFamily="18" charset="0"/>
              </a:rPr>
              <a:t>Program to store string by string into a text file</a:t>
            </a:r>
          </a:p>
        </p:txBody>
      </p:sp>
      <p:sp>
        <p:nvSpPr>
          <p:cNvPr id="5" name="TextBox 4"/>
          <p:cNvSpPr txBox="1"/>
          <p:nvPr/>
        </p:nvSpPr>
        <p:spPr>
          <a:xfrm>
            <a:off x="1072474" y="1028343"/>
            <a:ext cx="9569586" cy="3970318"/>
          </a:xfrm>
          <a:prstGeom prst="rect">
            <a:avLst/>
          </a:prstGeom>
          <a:noFill/>
        </p:spPr>
        <p:txBody>
          <a:bodyPr wrap="square">
            <a:spAutoFit/>
          </a:bodyPr>
          <a:lstStyle/>
          <a:p>
            <a:r>
              <a:rPr lang="en-IN" dirty="0"/>
              <a:t>import java.io.*;</a:t>
            </a:r>
          </a:p>
          <a:p>
            <a:r>
              <a:rPr lang="en-IN" dirty="0"/>
              <a:t>class Create2</a:t>
            </a:r>
          </a:p>
          <a:p>
            <a:r>
              <a:rPr lang="en-IN" dirty="0"/>
              <a:t>{</a:t>
            </a:r>
          </a:p>
          <a:p>
            <a:r>
              <a:rPr lang="en-IN" dirty="0"/>
              <a:t>	public static void main (String </a:t>
            </a:r>
            <a:r>
              <a:rPr lang="en-IN" dirty="0" err="1"/>
              <a:t>args</a:t>
            </a:r>
            <a:r>
              <a:rPr lang="en-IN" dirty="0"/>
              <a:t>[]) throws </a:t>
            </a:r>
            <a:r>
              <a:rPr lang="en-IN" dirty="0" err="1"/>
              <a:t>IOException</a:t>
            </a:r>
            <a:endParaRPr lang="en-IN" dirty="0"/>
          </a:p>
          <a:p>
            <a:r>
              <a:rPr lang="en-IN" dirty="0"/>
              <a:t>	{</a:t>
            </a:r>
          </a:p>
          <a:p>
            <a:r>
              <a:rPr lang="en-IN" dirty="0"/>
              <a:t>		</a:t>
            </a:r>
            <a:r>
              <a:rPr lang="en-IN" dirty="0" err="1"/>
              <a:t>BufferedReader</a:t>
            </a:r>
            <a:r>
              <a:rPr lang="en-IN" dirty="0"/>
              <a:t> </a:t>
            </a:r>
            <a:r>
              <a:rPr lang="en-IN" dirty="0" err="1"/>
              <a:t>br</a:t>
            </a:r>
            <a:r>
              <a:rPr lang="en-IN" dirty="0"/>
              <a:t> = new </a:t>
            </a:r>
            <a:r>
              <a:rPr lang="en-IN" dirty="0" err="1"/>
              <a:t>BufferedReader</a:t>
            </a:r>
            <a:r>
              <a:rPr lang="en-IN" dirty="0"/>
              <a:t>(new </a:t>
            </a:r>
            <a:r>
              <a:rPr lang="en-IN" dirty="0" err="1"/>
              <a:t>InputStreamReader</a:t>
            </a:r>
            <a:r>
              <a:rPr lang="en-IN" dirty="0"/>
              <a:t>(System.in));</a:t>
            </a:r>
          </a:p>
          <a:p>
            <a:r>
              <a:rPr lang="en-IN" dirty="0"/>
              <a:t>		String s;</a:t>
            </a:r>
          </a:p>
          <a:p>
            <a:r>
              <a:rPr lang="en-IN" dirty="0"/>
              <a:t>		</a:t>
            </a:r>
            <a:r>
              <a:rPr lang="en-IN" dirty="0" err="1"/>
              <a:t>FileWriter</a:t>
            </a:r>
            <a:r>
              <a:rPr lang="en-IN" dirty="0"/>
              <a:t> </a:t>
            </a:r>
            <a:r>
              <a:rPr lang="en-IN" dirty="0" err="1"/>
              <a:t>fw</a:t>
            </a:r>
            <a:r>
              <a:rPr lang="en-IN" dirty="0"/>
              <a:t> = new </a:t>
            </a:r>
            <a:r>
              <a:rPr lang="en-IN" dirty="0" err="1"/>
              <a:t>FileWriter</a:t>
            </a:r>
            <a:r>
              <a:rPr lang="en-IN" dirty="0"/>
              <a:t>("myfile3.txt");</a:t>
            </a:r>
          </a:p>
          <a:p>
            <a:r>
              <a:rPr lang="en-IN" dirty="0"/>
              <a:t>		</a:t>
            </a:r>
            <a:r>
              <a:rPr lang="en-IN" dirty="0" err="1"/>
              <a:t>System.out.println</a:t>
            </a:r>
            <a:r>
              <a:rPr lang="en-IN" dirty="0"/>
              <a:t>("Enter data : ");</a:t>
            </a:r>
          </a:p>
          <a:p>
            <a:r>
              <a:rPr lang="en-IN" dirty="0"/>
              <a:t>		while(!(s = </a:t>
            </a:r>
            <a:r>
              <a:rPr lang="en-IN" dirty="0" err="1"/>
              <a:t>br.readLine</a:t>
            </a:r>
            <a:r>
              <a:rPr lang="en-IN" dirty="0"/>
              <a:t>()).equals("exit"))</a:t>
            </a:r>
          </a:p>
          <a:p>
            <a:r>
              <a:rPr lang="en-IN" dirty="0"/>
              <a:t>			</a:t>
            </a:r>
            <a:r>
              <a:rPr lang="en-IN" dirty="0" err="1"/>
              <a:t>fw.write</a:t>
            </a:r>
            <a:r>
              <a:rPr lang="en-IN" dirty="0"/>
              <a:t>(s+"\n");</a:t>
            </a:r>
          </a:p>
          <a:p>
            <a:r>
              <a:rPr lang="en-IN" dirty="0"/>
              <a:t>		</a:t>
            </a:r>
            <a:r>
              <a:rPr lang="en-IN" dirty="0" err="1"/>
              <a:t>fw.close</a:t>
            </a:r>
            <a:r>
              <a:rPr lang="en-IN" dirty="0"/>
              <a:t>();</a:t>
            </a:r>
          </a:p>
          <a:p>
            <a:r>
              <a:rPr lang="en-IN" dirty="0"/>
              <a:t>	}</a:t>
            </a:r>
          </a:p>
          <a:p>
            <a:r>
              <a:rPr lang="en-IN" dirty="0"/>
              <a:t>}</a:t>
            </a:r>
          </a:p>
        </p:txBody>
      </p:sp>
      <p:sp>
        <p:nvSpPr>
          <p:cNvPr id="6" name="TextBox 5"/>
          <p:cNvSpPr txBox="1"/>
          <p:nvPr/>
        </p:nvSpPr>
        <p:spPr>
          <a:xfrm>
            <a:off x="6284068" y="4173166"/>
            <a:ext cx="5233481" cy="2031325"/>
          </a:xfrm>
          <a:prstGeom prst="rect">
            <a:avLst/>
          </a:prstGeom>
          <a:noFill/>
        </p:spPr>
        <p:txBody>
          <a:bodyPr wrap="square" rtlCol="0">
            <a:spAutoFit/>
          </a:bodyPr>
          <a:lstStyle/>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We are attaching  “\n” at the end of each string, it is to store the string line by line into text file.</a:t>
            </a:r>
          </a:p>
          <a:p>
            <a:pPr algn="just"/>
            <a:endParaRPr lang="en-IN"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If “\n” is not there, all the strings are stored in the file in the same line as a single string, which will create a problem while reading the strings from the file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7676"/>
            <a:ext cx="10515600" cy="753455"/>
          </a:xfrm>
        </p:spPr>
        <p:txBody>
          <a:bodyPr>
            <a:normAutofit/>
          </a:bodyPr>
          <a:lstStyle/>
          <a:p>
            <a:pPr algn="ctr"/>
            <a:r>
              <a:rPr lang="en-IN" sz="3600" dirty="0"/>
              <a:t>Reading strings from a file using </a:t>
            </a:r>
            <a:r>
              <a:rPr lang="en-IN" sz="3600" dirty="0" err="1"/>
              <a:t>FileReader</a:t>
            </a:r>
            <a:endParaRPr lang="en-IN" sz="3600" dirty="0"/>
          </a:p>
        </p:txBody>
      </p:sp>
      <p:sp>
        <p:nvSpPr>
          <p:cNvPr id="3" name="Content Placeholder 2"/>
          <p:cNvSpPr>
            <a:spLocks noGrp="1"/>
          </p:cNvSpPr>
          <p:nvPr>
            <p:ph idx="1"/>
          </p:nvPr>
        </p:nvSpPr>
        <p:spPr>
          <a:xfrm>
            <a:off x="838200" y="1253331"/>
            <a:ext cx="10515600" cy="4351338"/>
          </a:xfrm>
        </p:spPr>
        <p:txBody>
          <a:bodyPr/>
          <a:lstStyle/>
          <a:p>
            <a:r>
              <a:rPr lang="en-IN" dirty="0" err="1"/>
              <a:t>readLine</a:t>
            </a:r>
            <a:r>
              <a:rPr lang="en-IN" dirty="0"/>
              <a:t>() method of </a:t>
            </a:r>
            <a:r>
              <a:rPr lang="en-IN" dirty="0" err="1"/>
              <a:t>BufferedReader</a:t>
            </a:r>
            <a:r>
              <a:rPr lang="en-IN" dirty="0"/>
              <a:t> can read a string of characters, this method is used to read string by string from the text file.</a:t>
            </a:r>
          </a:p>
          <a:p>
            <a:r>
              <a:rPr lang="en-IN" dirty="0"/>
              <a:t>But, </a:t>
            </a:r>
            <a:r>
              <a:rPr lang="en-IN" dirty="0" err="1"/>
              <a:t>BufferedReader</a:t>
            </a:r>
            <a:r>
              <a:rPr lang="en-IN" dirty="0"/>
              <a:t> should be connected to </a:t>
            </a:r>
            <a:r>
              <a:rPr lang="en-IN" dirty="0" err="1"/>
              <a:t>FileReader</a:t>
            </a:r>
            <a:r>
              <a:rPr lang="en-IN" dirty="0"/>
              <a:t> as this stream can actually read the data from the text file.</a:t>
            </a:r>
          </a:p>
          <a:p>
            <a:r>
              <a:rPr lang="en-IN" dirty="0"/>
              <a:t>To read string, </a:t>
            </a:r>
            <a:r>
              <a:rPr lang="en-IN" dirty="0" err="1"/>
              <a:t>readLine</a:t>
            </a:r>
            <a:r>
              <a:rPr lang="en-IN" dirty="0"/>
              <a:t>() method of </a:t>
            </a:r>
            <a:r>
              <a:rPr lang="en-IN" dirty="0" err="1"/>
              <a:t>BufferedReader</a:t>
            </a:r>
            <a:r>
              <a:rPr lang="en-IN" dirty="0"/>
              <a:t> class. When </a:t>
            </a:r>
            <a:r>
              <a:rPr lang="en-IN" dirty="0" err="1"/>
              <a:t>readLine</a:t>
            </a:r>
            <a:r>
              <a:rPr lang="en-IN" dirty="0"/>
              <a:t>() method could not read a string from the file, it means it reach end of the file and hence, it will return ‘null’. </a:t>
            </a:r>
          </a:p>
          <a:p>
            <a:r>
              <a:rPr lang="en-IN" dirty="0"/>
              <a:t>The ‘null’ represents a null object, an object that does not exist.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67848"/>
            <a:ext cx="10515600" cy="666007"/>
          </a:xfrm>
        </p:spPr>
        <p:txBody>
          <a:bodyPr>
            <a:normAutofit/>
          </a:bodyPr>
          <a:lstStyle/>
          <a:p>
            <a:pPr algn="ctr"/>
            <a:r>
              <a:rPr lang="en-IN" sz="3600" dirty="0"/>
              <a:t>Program to read String by String from a text file</a:t>
            </a:r>
          </a:p>
        </p:txBody>
      </p:sp>
      <p:sp>
        <p:nvSpPr>
          <p:cNvPr id="5" name="TextBox 4"/>
          <p:cNvSpPr txBox="1"/>
          <p:nvPr/>
        </p:nvSpPr>
        <p:spPr>
          <a:xfrm>
            <a:off x="1272162" y="1245313"/>
            <a:ext cx="7400316" cy="3693319"/>
          </a:xfrm>
          <a:prstGeom prst="rect">
            <a:avLst/>
          </a:prstGeom>
          <a:noFill/>
        </p:spPr>
        <p:txBody>
          <a:bodyPr wrap="square">
            <a:spAutoFit/>
          </a:bodyPr>
          <a:lstStyle/>
          <a:p>
            <a:r>
              <a:rPr lang="en-IN" dirty="0"/>
              <a:t>import java.io.*;</a:t>
            </a:r>
          </a:p>
          <a:p>
            <a:r>
              <a:rPr lang="en-IN" dirty="0"/>
              <a:t>class Read2</a:t>
            </a:r>
          </a:p>
          <a:p>
            <a:r>
              <a:rPr lang="en-IN" dirty="0"/>
              <a:t>{</a:t>
            </a:r>
          </a:p>
          <a:p>
            <a:r>
              <a:rPr lang="en-IN" dirty="0"/>
              <a:t>	public static void main (String </a:t>
            </a:r>
            <a:r>
              <a:rPr lang="en-IN" dirty="0" err="1"/>
              <a:t>args</a:t>
            </a:r>
            <a:r>
              <a:rPr lang="en-IN" dirty="0"/>
              <a:t>[]) throws </a:t>
            </a:r>
            <a:r>
              <a:rPr lang="en-IN" dirty="0" err="1"/>
              <a:t>IOException</a:t>
            </a:r>
            <a:endParaRPr lang="en-IN" dirty="0"/>
          </a:p>
          <a:p>
            <a:r>
              <a:rPr lang="en-IN" dirty="0"/>
              <a:t>	{</a:t>
            </a:r>
          </a:p>
          <a:p>
            <a:r>
              <a:rPr lang="en-IN" dirty="0"/>
              <a:t>		String s;</a:t>
            </a:r>
          </a:p>
          <a:p>
            <a:r>
              <a:rPr lang="en-IN" dirty="0"/>
              <a:t>		</a:t>
            </a:r>
            <a:r>
              <a:rPr lang="en-IN" dirty="0" err="1"/>
              <a:t>FileReader</a:t>
            </a:r>
            <a:r>
              <a:rPr lang="en-IN" dirty="0"/>
              <a:t> </a:t>
            </a:r>
            <a:r>
              <a:rPr lang="en-IN" dirty="0" err="1"/>
              <a:t>fr</a:t>
            </a:r>
            <a:r>
              <a:rPr lang="en-IN" dirty="0"/>
              <a:t> = new </a:t>
            </a:r>
            <a:r>
              <a:rPr lang="en-IN" dirty="0" err="1"/>
              <a:t>FileReader</a:t>
            </a:r>
            <a:r>
              <a:rPr lang="en-IN" dirty="0"/>
              <a:t>("myfile3.txt");</a:t>
            </a:r>
          </a:p>
          <a:p>
            <a:r>
              <a:rPr lang="en-IN" dirty="0"/>
              <a:t>		</a:t>
            </a:r>
            <a:r>
              <a:rPr lang="en-IN" dirty="0" err="1"/>
              <a:t>BufferedReader</a:t>
            </a:r>
            <a:r>
              <a:rPr lang="en-IN" dirty="0"/>
              <a:t> </a:t>
            </a:r>
            <a:r>
              <a:rPr lang="en-IN" dirty="0" err="1"/>
              <a:t>br</a:t>
            </a:r>
            <a:r>
              <a:rPr lang="en-IN" dirty="0"/>
              <a:t> = new </a:t>
            </a:r>
            <a:r>
              <a:rPr lang="en-IN" dirty="0" err="1"/>
              <a:t>BufferedReader</a:t>
            </a:r>
            <a:r>
              <a:rPr lang="en-IN" dirty="0"/>
              <a:t>(</a:t>
            </a:r>
            <a:r>
              <a:rPr lang="en-IN" dirty="0" err="1"/>
              <a:t>fr</a:t>
            </a:r>
            <a:r>
              <a:rPr lang="en-IN" dirty="0"/>
              <a:t>);</a:t>
            </a:r>
          </a:p>
          <a:p>
            <a:r>
              <a:rPr lang="en-IN" dirty="0"/>
              <a:t>		while((s=</a:t>
            </a:r>
            <a:r>
              <a:rPr lang="en-IN" dirty="0" err="1"/>
              <a:t>br.readLine</a:t>
            </a:r>
            <a:r>
              <a:rPr lang="en-IN" dirty="0"/>
              <a:t>()) != null)</a:t>
            </a:r>
          </a:p>
          <a:p>
            <a:r>
              <a:rPr lang="en-IN" dirty="0"/>
              <a:t>			</a:t>
            </a:r>
            <a:r>
              <a:rPr lang="en-IN" dirty="0" err="1"/>
              <a:t>System.out.println</a:t>
            </a:r>
            <a:r>
              <a:rPr lang="en-IN" dirty="0"/>
              <a:t>(s);</a:t>
            </a:r>
          </a:p>
          <a:p>
            <a:r>
              <a:rPr lang="en-IN" dirty="0"/>
              <a:t>		</a:t>
            </a:r>
            <a:r>
              <a:rPr lang="en-IN" dirty="0" err="1"/>
              <a:t>fr.close</a:t>
            </a:r>
            <a:r>
              <a:rPr lang="en-IN" dirty="0"/>
              <a:t>();</a:t>
            </a:r>
          </a:p>
          <a:p>
            <a:r>
              <a:rPr lang="en-IN" dirty="0"/>
              <a:t>	}</a:t>
            </a:r>
          </a:p>
          <a:p>
            <a:r>
              <a:rPr lang="en-IN" dirty="0"/>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TotalTime>
  <Words>1952</Words>
  <Application>Microsoft Office PowerPoint</Application>
  <PresentationFormat>Widescreen</PresentationFormat>
  <Paragraphs>208</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Calibri Light</vt:lpstr>
      <vt:lpstr>Times New Roman</vt:lpstr>
      <vt:lpstr>Office Theme</vt:lpstr>
      <vt:lpstr>OBJECT ORIENTED PROGRAMMING Java I/O</vt:lpstr>
      <vt:lpstr>Java File</vt:lpstr>
      <vt:lpstr>Why File Handling Needed</vt:lpstr>
      <vt:lpstr>Streams in Java</vt:lpstr>
      <vt:lpstr>INPUT STREAM</vt:lpstr>
      <vt:lpstr>Methods in InputStream</vt:lpstr>
      <vt:lpstr>Output Stream</vt:lpstr>
      <vt:lpstr>Methods in OutputStream</vt:lpstr>
      <vt:lpstr>Types of streams</vt:lpstr>
      <vt:lpstr>Creating file using FileOutputStream</vt:lpstr>
      <vt:lpstr>Program to create a file using FileOutputStream</vt:lpstr>
      <vt:lpstr>Reading data from a file using FileInputStream</vt:lpstr>
      <vt:lpstr>Reading  data from a file using FileInputStream</vt:lpstr>
      <vt:lpstr>Create a File using FileWriter</vt:lpstr>
      <vt:lpstr>Reading a file using FileReader</vt:lpstr>
      <vt:lpstr>Storing strings into a file using FileWriter</vt:lpstr>
      <vt:lpstr>Program to store string by string into a text file</vt:lpstr>
      <vt:lpstr>Reading strings from a file using FileReader</vt:lpstr>
      <vt:lpstr>Program to read String by String from a text file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ABINASH TRIPATHY</dc:creator>
  <cp:lastModifiedBy>Abinash Tripathy</cp:lastModifiedBy>
  <cp:revision>7</cp:revision>
  <dcterms:created xsi:type="dcterms:W3CDTF">2023-05-18T03:51:00Z</dcterms:created>
  <dcterms:modified xsi:type="dcterms:W3CDTF">2024-11-06T04:28:58Z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C65005C32AA342B4AD00AD295ED0FCE2_12</vt:lpwstr>
  </property>
  <property fmtid="{D5CDD505-2E9C-101B-9397-08002B2CF9AE}" pid="3" name="KSOProductBuildVer">
    <vt:lpwstr>1033-12.2.0.13266</vt:lpwstr>
  </property>
</Properties>
</file>