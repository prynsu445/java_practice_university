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03" r:id="rId3"/>
    <p:sldId id="304" r:id="rId4"/>
    <p:sldId id="305" r:id="rId5"/>
    <p:sldId id="306" r:id="rId6"/>
    <p:sldId id="307" r:id="rId7"/>
    <p:sldId id="311" r:id="rId8"/>
    <p:sldId id="312" r:id="rId9"/>
    <p:sldId id="313" r:id="rId10"/>
    <p:sldId id="314" r:id="rId11"/>
    <p:sldId id="315" r:id="rId12"/>
    <p:sldId id="316" r:id="rId13"/>
    <p:sldId id="317" r:id="rId14"/>
    <p:sldId id="318" r:id="rId15"/>
    <p:sldId id="319" r:id="rId16"/>
    <p:sldId id="320" r:id="rId17"/>
    <p:sldId id="322" r:id="rId18"/>
    <p:sldId id="323" r:id="rId19"/>
    <p:sldId id="324" r:id="rId20"/>
    <p:sldId id="32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E288A-E03D-0352-FA03-B9D22C7D69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9873FBE-8E6D-F599-420C-206CB93AD2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4D595E-8FE2-FF7C-77C0-A2C8FA2F35B2}"/>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9CB33555-DB1E-A7FF-8473-E0157908DD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E7BBF7-575B-5D4F-F2C5-9270F1455621}"/>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1036049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FFE5B-5222-4343-DE6D-AE5FF35C80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33B806-0EDA-0D47-6FBC-9065A7D608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5E361B-90AE-C7E9-CD27-74B67009CB78}"/>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137C2010-24E9-9709-ED20-D9E93A4852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411BA9-A1A2-0777-343D-75A48EF5A2E8}"/>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4068299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FD705-0264-C7E7-844C-B28155055A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6EEA35-4D6F-0A91-0402-3A39AA2C58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E83D9B-5758-F6DD-FFE3-CA0F982B9DBE}"/>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53EDEDF3-0CCC-2BF0-0583-84820F7917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1F031B-2B86-6106-F46A-F200E8AC6A59}"/>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304423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5DB7-866E-225A-D87E-CE1F213A61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E644FC-01AD-E650-C6E5-AA1D080959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EDE5BDD-4399-5B27-7E8B-8D1F6B5E2D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8D8DD34-5F7D-3BA1-C493-623FAA4CD500}"/>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6" name="Footer Placeholder 5">
            <a:extLst>
              <a:ext uri="{FF2B5EF4-FFF2-40B4-BE49-F238E27FC236}">
                <a16:creationId xmlns:a16="http://schemas.microsoft.com/office/drawing/2014/main" id="{F523E289-FA85-17FF-751B-678A7BA9A7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6BC6B8-6557-F1FF-0644-79EF4CCB11A2}"/>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567688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E8E78-3142-4A88-587D-7F54B267776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0667A9-E6FC-9FB3-46B5-07A646E0D0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750C56-22F4-B53A-16FE-E04152B607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0443699-2D5E-76DA-C802-4A754D6095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D58DF5-A1F9-B471-07D5-899142ECC8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C0E5F1-0576-F8D1-94E6-2617ADF9D743}"/>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8" name="Footer Placeholder 7">
            <a:extLst>
              <a:ext uri="{FF2B5EF4-FFF2-40B4-BE49-F238E27FC236}">
                <a16:creationId xmlns:a16="http://schemas.microsoft.com/office/drawing/2014/main" id="{3E6E7991-81DF-2E35-8EC7-52AB992B7D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5D321C6-C2F9-2001-5A2E-9F495A0585B5}"/>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4028179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93299-6D28-8572-1E0B-25E084EFDC2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4FB5367-DB7A-F0C0-A726-6CFA7D7E3541}"/>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4" name="Footer Placeholder 3">
            <a:extLst>
              <a:ext uri="{FF2B5EF4-FFF2-40B4-BE49-F238E27FC236}">
                <a16:creationId xmlns:a16="http://schemas.microsoft.com/office/drawing/2014/main" id="{1C8BC92C-A47A-EFE5-4F71-56CB865EE8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A2DD84-CE5C-438F-B4EC-FEAF2DF9E889}"/>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4090293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BD3647E-879E-2CBA-B5DA-21C20B41A0E8}"/>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3" name="Footer Placeholder 2">
            <a:extLst>
              <a:ext uri="{FF2B5EF4-FFF2-40B4-BE49-F238E27FC236}">
                <a16:creationId xmlns:a16="http://schemas.microsoft.com/office/drawing/2014/main" id="{7FE40075-867F-F86E-A12E-5B0CD448F0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BD58202-4C40-AC6A-AE89-986251E2AF92}"/>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1604472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EAA6-B0C6-7CA2-2507-47F2319BDA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4357DF5-4F6C-2931-5076-72DD575AA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9E03714-3FB2-1DE0-22B8-2EB8C7887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9B00ED-4D10-2E8D-E5AA-66C27208010D}"/>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6" name="Footer Placeholder 5">
            <a:extLst>
              <a:ext uri="{FF2B5EF4-FFF2-40B4-BE49-F238E27FC236}">
                <a16:creationId xmlns:a16="http://schemas.microsoft.com/office/drawing/2014/main" id="{A4AABFD8-A094-C0C9-CD56-0E2A46D7C1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FBEB9C-07DE-44A9-39EA-93668F22BA9F}"/>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2788226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FE3A-FA62-DE0A-9C11-0A7C550DB5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518992-0EFB-BF75-D640-381F5AAD07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671BAE-01EC-E1AC-4B80-E556F04268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A3F7F5-0A95-C241-191D-970B7F682282}"/>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6" name="Footer Placeholder 5">
            <a:extLst>
              <a:ext uri="{FF2B5EF4-FFF2-40B4-BE49-F238E27FC236}">
                <a16:creationId xmlns:a16="http://schemas.microsoft.com/office/drawing/2014/main" id="{961E1EE7-88B0-07CF-8803-36DAB289F4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857747-B534-6257-16DA-0792CF6341AB}"/>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541883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8E58B-A1E0-6AB5-F529-B7A761A2C4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45971EC-304B-F2B8-AA45-B328AEB3F3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2B8D5-FADB-29DB-BE88-800087212DCD}"/>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E8251B63-F432-0D4F-66FA-FE35D40F6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728C9D-F206-FC78-BF72-7CCC64D6C929}"/>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3964419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B9C85E-9C16-4271-0225-6CD29E27B7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8EF3A4-31FD-EED7-0967-345F210466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599DAE-61F9-712B-E167-7EE92906122B}"/>
              </a:ext>
            </a:extLst>
          </p:cNvPr>
          <p:cNvSpPr>
            <a:spLocks noGrp="1"/>
          </p:cNvSpPr>
          <p:nvPr>
            <p:ph type="dt" sz="half" idx="10"/>
          </p:nvPr>
        </p:nvSpPr>
        <p:spPr/>
        <p:txBody>
          <a:body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0C5DC940-B44E-4AEB-88DB-026B05E0E7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806C77-2775-B6A0-9B2B-B4B647D2532E}"/>
              </a:ext>
            </a:extLst>
          </p:cNvPr>
          <p:cNvSpPr>
            <a:spLocks noGrp="1"/>
          </p:cNvSpPr>
          <p:nvPr>
            <p:ph type="sldNum" sz="quarter" idx="12"/>
          </p:nvPr>
        </p:nvSpPr>
        <p:spPr/>
        <p:txBody>
          <a:bodyPr/>
          <a:lstStyle/>
          <a:p>
            <a:fld id="{0FF1E787-BB57-4959-B3BA-E0C2A9F02C03}" type="slidenum">
              <a:rPr lang="en-IN" smtClean="0"/>
              <a:t>‹#›</a:t>
            </a:fld>
            <a:endParaRPr lang="en-IN"/>
          </a:p>
        </p:txBody>
      </p:sp>
    </p:spTree>
    <p:extLst>
      <p:ext uri="{BB962C8B-B14F-4D97-AF65-F5344CB8AC3E}">
        <p14:creationId xmlns:p14="http://schemas.microsoft.com/office/powerpoint/2010/main" val="11677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B3033E-53DD-5771-791B-FFF0C106C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8E54C1-586C-EA75-EC7E-636E4F760F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9514A7-953F-38DD-47FC-40E19BCFC6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F82168-98CE-4162-813A-38912D66136F}" type="datetimeFigureOut">
              <a:rPr lang="en-IN" smtClean="0"/>
              <a:t>20-03-2024</a:t>
            </a:fld>
            <a:endParaRPr lang="en-IN"/>
          </a:p>
        </p:txBody>
      </p:sp>
      <p:sp>
        <p:nvSpPr>
          <p:cNvPr id="5" name="Footer Placeholder 4">
            <a:extLst>
              <a:ext uri="{FF2B5EF4-FFF2-40B4-BE49-F238E27FC236}">
                <a16:creationId xmlns:a16="http://schemas.microsoft.com/office/drawing/2014/main" id="{64118FEF-038C-B914-7896-D0DA14143A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E6D28B6-18EE-EFF6-2CCD-F63359F98F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F1E787-BB57-4959-B3BA-E0C2A9F02C03}" type="slidenum">
              <a:rPr lang="en-IN" smtClean="0"/>
              <a:t>‹#›</a:t>
            </a:fld>
            <a:endParaRPr lang="en-IN"/>
          </a:p>
        </p:txBody>
      </p:sp>
    </p:spTree>
    <p:extLst>
      <p:ext uri="{BB962C8B-B14F-4D97-AF65-F5344CB8AC3E}">
        <p14:creationId xmlns:p14="http://schemas.microsoft.com/office/powerpoint/2010/main" val="49730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8EE8A1A-4FFD-3DE6-5452-EA63423E1DBC}"/>
              </a:ext>
            </a:extLst>
          </p:cNvPr>
          <p:cNvSpPr>
            <a:spLocks noGrp="1"/>
          </p:cNvSpPr>
          <p:nvPr>
            <p:ph type="ctrTitle"/>
          </p:nvPr>
        </p:nvSpPr>
        <p:spPr>
          <a:xfrm>
            <a:off x="1524000" y="329261"/>
            <a:ext cx="9144000" cy="2740510"/>
          </a:xfrm>
        </p:spPr>
        <p:txBody>
          <a:bodyPr>
            <a:normAutofit/>
          </a:bodyPr>
          <a:lstStyle/>
          <a:p>
            <a:r>
              <a:rPr lang="en-IN" b="1" dirty="0">
                <a:latin typeface="Times New Roman" panose="02020603050405020304" pitchFamily="18" charset="0"/>
                <a:cs typeface="Times New Roman" panose="02020603050405020304" pitchFamily="18" charset="0"/>
              </a:rPr>
              <a:t>OBJECT ORIENTED PROGRAMMING</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Networking with Java</a:t>
            </a:r>
          </a:p>
        </p:txBody>
      </p:sp>
      <p:sp>
        <p:nvSpPr>
          <p:cNvPr id="7" name="Subtitle 2">
            <a:extLst>
              <a:ext uri="{FF2B5EF4-FFF2-40B4-BE49-F238E27FC236}">
                <a16:creationId xmlns:a16="http://schemas.microsoft.com/office/drawing/2014/main" id="{49F8292C-8988-7EDF-3BB6-133BBD4A262A}"/>
              </a:ext>
            </a:extLst>
          </p:cNvPr>
          <p:cNvSpPr>
            <a:spLocks noGrp="1"/>
          </p:cNvSpPr>
          <p:nvPr>
            <p:ph type="subTitle" idx="1"/>
          </p:nvPr>
        </p:nvSpPr>
        <p:spPr>
          <a:xfrm>
            <a:off x="1524000" y="3602038"/>
            <a:ext cx="9144000" cy="1655762"/>
          </a:xfrm>
        </p:spPr>
        <p:txBody>
          <a:bodyPr>
            <a:normAutofit lnSpcReduction="10000"/>
          </a:bodyPr>
          <a:lstStyle/>
          <a:p>
            <a:r>
              <a:rPr lang="en-IN" dirty="0"/>
              <a:t>Prepared by </a:t>
            </a:r>
          </a:p>
          <a:p>
            <a:r>
              <a:rPr lang="en-IN" dirty="0" err="1"/>
              <a:t>Dr.</a:t>
            </a:r>
            <a:r>
              <a:rPr lang="en-IN" dirty="0"/>
              <a:t> </a:t>
            </a:r>
            <a:r>
              <a:rPr lang="en-IN" dirty="0" err="1"/>
              <a:t>Abinash</a:t>
            </a:r>
            <a:r>
              <a:rPr lang="en-IN" dirty="0"/>
              <a:t> Tripathy</a:t>
            </a:r>
          </a:p>
          <a:p>
            <a:r>
              <a:rPr lang="en-IN" dirty="0"/>
              <a:t>School of Computer Application</a:t>
            </a:r>
          </a:p>
          <a:p>
            <a:r>
              <a:rPr lang="en-IN" dirty="0"/>
              <a:t>KIIT Deemed to be University, Bhubaneswar</a:t>
            </a:r>
          </a:p>
        </p:txBody>
      </p:sp>
    </p:spTree>
    <p:extLst>
      <p:ext uri="{BB962C8B-B14F-4D97-AF65-F5344CB8AC3E}">
        <p14:creationId xmlns:p14="http://schemas.microsoft.com/office/powerpoint/2010/main" val="2371971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57CC9-4ECF-B0C4-C6B4-748CE7DCDBEF}"/>
              </a:ext>
            </a:extLst>
          </p:cNvPr>
          <p:cNvSpPr>
            <a:spLocks noGrp="1"/>
          </p:cNvSpPr>
          <p:nvPr>
            <p:ph type="title"/>
          </p:nvPr>
        </p:nvSpPr>
        <p:spPr>
          <a:xfrm>
            <a:off x="838200" y="190028"/>
            <a:ext cx="10515600" cy="588186"/>
          </a:xfrm>
        </p:spPr>
        <p:txBody>
          <a:bodyPr>
            <a:normAutofit fontScale="90000"/>
          </a:bodyPr>
          <a:lstStyle/>
          <a:p>
            <a:pPr algn="ctr"/>
            <a:r>
              <a:rPr lang="en-IN" dirty="0"/>
              <a:t>Networking with Java</a:t>
            </a:r>
          </a:p>
        </p:txBody>
      </p:sp>
      <p:sp>
        <p:nvSpPr>
          <p:cNvPr id="3" name="Content Placeholder 2">
            <a:extLst>
              <a:ext uri="{FF2B5EF4-FFF2-40B4-BE49-F238E27FC236}">
                <a16:creationId xmlns:a16="http://schemas.microsoft.com/office/drawing/2014/main" id="{57976F01-0AF6-5696-4D3A-D0F590A514AF}"/>
              </a:ext>
            </a:extLst>
          </p:cNvPr>
          <p:cNvSpPr>
            <a:spLocks noGrp="1"/>
          </p:cNvSpPr>
          <p:nvPr>
            <p:ph idx="1"/>
          </p:nvPr>
        </p:nvSpPr>
        <p:spPr>
          <a:xfrm>
            <a:off x="838200" y="1253331"/>
            <a:ext cx="10515600" cy="4351338"/>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 Java is practically a synonym for Internet programming. There are a number of reasons for this, not the least of which is its ability to generate secure, cross-platform, portable code. </a:t>
            </a:r>
          </a:p>
          <a:p>
            <a:pPr algn="just"/>
            <a:r>
              <a:rPr lang="en-US" sz="2400" dirty="0">
                <a:latin typeface="Times New Roman" panose="02020603050405020304" pitchFamily="18" charset="0"/>
                <a:cs typeface="Times New Roman" panose="02020603050405020304" pitchFamily="18" charset="0"/>
              </a:rPr>
              <a:t>However, one of the most important reasons that Java is the premier language for network programming are the classes defined in the </a:t>
            </a:r>
            <a:r>
              <a:rPr lang="en-US" sz="2400" dirty="0">
                <a:highlight>
                  <a:srgbClr val="FFFF00"/>
                </a:highlight>
                <a:latin typeface="Times New Roman" panose="02020603050405020304" pitchFamily="18" charset="0"/>
                <a:cs typeface="Times New Roman" panose="02020603050405020304" pitchFamily="18" charset="0"/>
              </a:rPr>
              <a:t>java.net package</a:t>
            </a:r>
            <a:r>
              <a:rPr lang="en-US" sz="2400" dirty="0">
                <a:latin typeface="Times New Roman" panose="02020603050405020304" pitchFamily="18" charset="0"/>
                <a:cs typeface="Times New Roman" panose="02020603050405020304" pitchFamily="18" charset="0"/>
              </a:rPr>
              <a:t>. </a:t>
            </a:r>
          </a:p>
          <a:p>
            <a:pPr algn="just"/>
            <a:r>
              <a:rPr lang="en-US" sz="2400" dirty="0">
                <a:effectLst/>
                <a:latin typeface="Times New Roman" panose="02020603050405020304" pitchFamily="18" charset="0"/>
                <a:cs typeface="Times New Roman" panose="02020603050405020304" pitchFamily="18" charset="0"/>
              </a:rPr>
              <a:t>At the core of Java’s networking support is the concept of a </a:t>
            </a:r>
            <a:r>
              <a:rPr lang="en-US" sz="2400" dirty="0">
                <a:effectLst/>
                <a:highlight>
                  <a:srgbClr val="FFFF00"/>
                </a:highlight>
                <a:latin typeface="Times New Roman" panose="02020603050405020304" pitchFamily="18" charset="0"/>
                <a:cs typeface="Times New Roman" panose="02020603050405020304" pitchFamily="18" charset="0"/>
              </a:rPr>
              <a:t>socket.</a:t>
            </a:r>
            <a:r>
              <a:rPr lang="en-US" sz="2400" dirty="0">
                <a:effectLst/>
                <a:latin typeface="Times New Roman" panose="02020603050405020304" pitchFamily="18" charset="0"/>
                <a:cs typeface="Times New Roman" panose="02020603050405020304" pitchFamily="18" charset="0"/>
              </a:rPr>
              <a:t> A socket identifies an endpoint in a network. </a:t>
            </a:r>
          </a:p>
          <a:p>
            <a:r>
              <a:rPr lang="en-US" sz="2400" dirty="0">
                <a:latin typeface="Times New Roman" panose="02020603050405020304" pitchFamily="18" charset="0"/>
                <a:cs typeface="Times New Roman" panose="02020603050405020304" pitchFamily="18" charset="0"/>
              </a:rPr>
              <a:t>Sockets are at the foundation of modern networking because a socket allows a single computer to serve many different clients at once, as well as to serve many different types of information. </a:t>
            </a:r>
          </a:p>
          <a:p>
            <a:r>
              <a:rPr lang="en-US" sz="2400" dirty="0">
                <a:latin typeface="Times New Roman" panose="02020603050405020304" pitchFamily="18" charset="0"/>
                <a:cs typeface="Times New Roman" panose="02020603050405020304" pitchFamily="18" charset="0"/>
              </a:rPr>
              <a:t>This is accomplished through the use of a port, which is a numbered socket on a particular machine.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218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D7D10F-0328-BA9A-6D6C-E78C8F975FA6}"/>
              </a:ext>
            </a:extLst>
          </p:cNvPr>
          <p:cNvSpPr>
            <a:spLocks noGrp="1"/>
          </p:cNvSpPr>
          <p:nvPr>
            <p:ph idx="1"/>
          </p:nvPr>
        </p:nvSpPr>
        <p:spPr>
          <a:xfrm>
            <a:off x="536642" y="609667"/>
            <a:ext cx="10515600" cy="5479847"/>
          </a:xfrm>
        </p:spPr>
        <p:txBody>
          <a:bodyPr>
            <a:normAutofit/>
          </a:bodyPr>
          <a:lstStyle/>
          <a:p>
            <a:pPr algn="just"/>
            <a:r>
              <a:rPr lang="en-US" sz="1800" dirty="0">
                <a:effectLst/>
                <a:latin typeface="Times New Roman" panose="02020603050405020304" pitchFamily="18" charset="0"/>
                <a:cs typeface="Times New Roman" panose="02020603050405020304" pitchFamily="18" charset="0"/>
              </a:rPr>
              <a:t>A server process is said to "listen" to a port until a client connects to it. A server is allowed to accept multiple clients connected to the same port number, although each session is unique. </a:t>
            </a:r>
          </a:p>
          <a:p>
            <a:pPr algn="just"/>
            <a:r>
              <a:rPr lang="en-US" sz="1800" dirty="0">
                <a:effectLst/>
                <a:latin typeface="Times New Roman" panose="02020603050405020304" pitchFamily="18" charset="0"/>
                <a:cs typeface="Times New Roman" panose="02020603050405020304" pitchFamily="18" charset="0"/>
              </a:rPr>
              <a:t>To manage multiple client connections, a server process must be multithreaded or have some other means of multiplexing the simultaneous I/O.</a:t>
            </a:r>
          </a:p>
          <a:p>
            <a:pPr algn="just"/>
            <a:r>
              <a:rPr lang="en-US" sz="1800" dirty="0">
                <a:effectLst/>
                <a:latin typeface="Times New Roman" panose="02020603050405020304" pitchFamily="18" charset="0"/>
                <a:cs typeface="Times New Roman" panose="02020603050405020304" pitchFamily="18" charset="0"/>
              </a:rPr>
              <a:t>Socket communication takes place via a protocol. </a:t>
            </a:r>
            <a:r>
              <a:rPr lang="en-US" sz="1800" dirty="0">
                <a:effectLst/>
                <a:highlight>
                  <a:srgbClr val="FFFF00"/>
                </a:highlight>
                <a:latin typeface="Times New Roman" panose="02020603050405020304" pitchFamily="18" charset="0"/>
                <a:cs typeface="Times New Roman" panose="02020603050405020304" pitchFamily="18" charset="0"/>
              </a:rPr>
              <a:t>Internet Protocol (IP) </a:t>
            </a:r>
            <a:r>
              <a:rPr lang="en-US" sz="1800" dirty="0">
                <a:effectLst/>
                <a:latin typeface="Times New Roman" panose="02020603050405020304" pitchFamily="18" charset="0"/>
                <a:cs typeface="Times New Roman" panose="02020603050405020304" pitchFamily="18" charset="0"/>
              </a:rPr>
              <a:t>is a low-level</a:t>
            </a:r>
            <a:br>
              <a:rPr lang="en-US" sz="1800" dirty="0">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routing protocol that breaks data into small packets and sends them to an address across a</a:t>
            </a:r>
            <a:br>
              <a:rPr lang="en-US" sz="1800" dirty="0">
                <a:latin typeface="Times New Roman" panose="02020603050405020304" pitchFamily="18" charset="0"/>
                <a:cs typeface="Times New Roman" panose="02020603050405020304" pitchFamily="18" charset="0"/>
              </a:rPr>
            </a:br>
            <a:r>
              <a:rPr lang="en-US" sz="1800" dirty="0">
                <a:effectLst/>
                <a:latin typeface="Times New Roman" panose="02020603050405020304" pitchFamily="18" charset="0"/>
                <a:cs typeface="Times New Roman" panose="02020603050405020304" pitchFamily="18" charset="0"/>
              </a:rPr>
              <a:t>network, which does not guarantee to deliver said packets to the destination. </a:t>
            </a:r>
          </a:p>
          <a:p>
            <a:pPr algn="just"/>
            <a:r>
              <a:rPr lang="en-US" sz="1800" dirty="0">
                <a:effectLst/>
                <a:highlight>
                  <a:srgbClr val="FFFF00"/>
                </a:highlight>
                <a:latin typeface="Times New Roman" panose="02020603050405020304" pitchFamily="18" charset="0"/>
                <a:cs typeface="Times New Roman" panose="02020603050405020304" pitchFamily="18" charset="0"/>
              </a:rPr>
              <a:t>Transmission Control Protocol (TCP) </a:t>
            </a:r>
            <a:r>
              <a:rPr lang="en-US" sz="1800" dirty="0">
                <a:effectLst/>
                <a:latin typeface="Times New Roman" panose="02020603050405020304" pitchFamily="18" charset="0"/>
                <a:cs typeface="Times New Roman" panose="02020603050405020304" pitchFamily="18" charset="0"/>
              </a:rPr>
              <a:t>is a higher-level protocol that manages to robustly string together these packets, sorting and retransmitting them as necessary to reliably transmit data. </a:t>
            </a:r>
          </a:p>
          <a:p>
            <a:pPr algn="just"/>
            <a:r>
              <a:rPr lang="en-US" sz="1800" dirty="0">
                <a:effectLst/>
                <a:latin typeface="Times New Roman" panose="02020603050405020304" pitchFamily="18" charset="0"/>
                <a:cs typeface="Times New Roman" panose="02020603050405020304" pitchFamily="18" charset="0"/>
              </a:rPr>
              <a:t>A third protocol, </a:t>
            </a:r>
            <a:r>
              <a:rPr lang="en-US" sz="1800" dirty="0">
                <a:effectLst/>
                <a:highlight>
                  <a:srgbClr val="FFFF00"/>
                </a:highlight>
                <a:latin typeface="Times New Roman" panose="02020603050405020304" pitchFamily="18" charset="0"/>
                <a:cs typeface="Times New Roman" panose="02020603050405020304" pitchFamily="18" charset="0"/>
              </a:rPr>
              <a:t>User Datagram Protocol (UDP),</a:t>
            </a:r>
            <a:r>
              <a:rPr lang="en-US" sz="1800" dirty="0">
                <a:effectLst/>
                <a:latin typeface="Times New Roman" panose="02020603050405020304" pitchFamily="18" charset="0"/>
                <a:cs typeface="Times New Roman" panose="02020603050405020304" pitchFamily="18" charset="0"/>
              </a:rPr>
              <a:t> sits next to TCP and can be used directly to support fast, connectionless, unreliable transport of packets.</a:t>
            </a:r>
          </a:p>
          <a:p>
            <a:pPr algn="just">
              <a:lnSpc>
                <a:spcPct val="100000"/>
              </a:lnSpc>
            </a:pPr>
            <a:r>
              <a:rPr lang="en-US" sz="1800" dirty="0">
                <a:latin typeface="Times New Roman" panose="02020603050405020304" pitchFamily="18" charset="0"/>
                <a:cs typeface="Times New Roman" panose="02020603050405020304" pitchFamily="18" charset="0"/>
              </a:rPr>
              <a:t>A key component of the Internet is the address. Every computer on the Internet has one. An Internet address is a number that uniquely identifies each computer on the Net.</a:t>
            </a:r>
          </a:p>
          <a:p>
            <a:pPr algn="just">
              <a:lnSpc>
                <a:spcPct val="100000"/>
              </a:lnSpc>
            </a:pPr>
            <a:r>
              <a:rPr lang="en-US" sz="1800" dirty="0">
                <a:latin typeface="Times New Roman" panose="02020603050405020304" pitchFamily="18" charset="0"/>
                <a:cs typeface="Times New Roman" panose="02020603050405020304" pitchFamily="18" charset="0"/>
              </a:rPr>
              <a:t>Originally, all Internet addresses consisted of 32-bit values, organized as four 8-bit values. This address type was specified by IPv4 (Internet Protocol, version 4). </a:t>
            </a:r>
          </a:p>
          <a:p>
            <a:pPr algn="just">
              <a:lnSpc>
                <a:spcPct val="100000"/>
              </a:lnSpc>
            </a:pPr>
            <a:r>
              <a:rPr lang="en-US" sz="1800" dirty="0">
                <a:latin typeface="Times New Roman" panose="02020603050405020304" pitchFamily="18" charset="0"/>
                <a:cs typeface="Times New Roman" panose="02020603050405020304" pitchFamily="18" charset="0"/>
              </a:rPr>
              <a:t>However, a new addressing scheme, called IPv6 (Internet Protocol, version 6) has come into play. IPv6 uses a 128-bit value to represent an address, organized into eight 16-bit chunks.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319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0E2EE-53C1-E80E-7C2B-CC645DED36F4}"/>
              </a:ext>
            </a:extLst>
          </p:cNvPr>
          <p:cNvSpPr>
            <a:spLocks noGrp="1"/>
          </p:cNvSpPr>
          <p:nvPr>
            <p:ph type="title"/>
          </p:nvPr>
        </p:nvSpPr>
        <p:spPr>
          <a:xfrm>
            <a:off x="838200" y="365125"/>
            <a:ext cx="10515600" cy="607641"/>
          </a:xfrm>
        </p:spPr>
        <p:txBody>
          <a:bodyPr>
            <a:normAutofit fontScale="90000"/>
          </a:bodyPr>
          <a:lstStyle/>
          <a:p>
            <a:pPr algn="ctr"/>
            <a:r>
              <a:rPr lang="en-IN" dirty="0" err="1"/>
              <a:t>InetAddress</a:t>
            </a:r>
            <a:r>
              <a:rPr lang="en-IN" dirty="0"/>
              <a:t> Class</a:t>
            </a:r>
          </a:p>
        </p:txBody>
      </p:sp>
      <p:sp>
        <p:nvSpPr>
          <p:cNvPr id="3" name="Content Placeholder 2">
            <a:extLst>
              <a:ext uri="{FF2B5EF4-FFF2-40B4-BE49-F238E27FC236}">
                <a16:creationId xmlns:a16="http://schemas.microsoft.com/office/drawing/2014/main" id="{5178B30F-610C-AC97-9F8E-D1164C71A8B0}"/>
              </a:ext>
            </a:extLst>
          </p:cNvPr>
          <p:cNvSpPr>
            <a:spLocks noGrp="1"/>
          </p:cNvSpPr>
          <p:nvPr>
            <p:ph idx="1"/>
          </p:nvPr>
        </p:nvSpPr>
        <p:spPr>
          <a:xfrm>
            <a:off x="1052209" y="1358697"/>
            <a:ext cx="10515600" cy="4351338"/>
          </a:xfrm>
        </p:spPr>
        <p:txBody>
          <a:bodyPr/>
          <a:lstStyle/>
          <a:p>
            <a:r>
              <a:rPr lang="en-US" dirty="0"/>
              <a:t>The </a:t>
            </a:r>
            <a:r>
              <a:rPr lang="en-US" dirty="0" err="1"/>
              <a:t>InetAddress</a:t>
            </a:r>
            <a:r>
              <a:rPr lang="en-US" dirty="0"/>
              <a:t> class is used to encapsulate both the numerical IP address and the domain name for that address. </a:t>
            </a:r>
          </a:p>
          <a:p>
            <a:r>
              <a:rPr lang="en-US" dirty="0"/>
              <a:t>We interact with this class by using the name of an IP host, which is more convenient and understandable than its IP address.</a:t>
            </a:r>
          </a:p>
          <a:p>
            <a:r>
              <a:rPr lang="en-US" dirty="0"/>
              <a:t>The </a:t>
            </a:r>
            <a:r>
              <a:rPr lang="en-US" dirty="0" err="1"/>
              <a:t>InetAddress</a:t>
            </a:r>
            <a:r>
              <a:rPr lang="en-US" dirty="0"/>
              <a:t> class hides the number inside.</a:t>
            </a:r>
          </a:p>
          <a:p>
            <a:r>
              <a:rPr lang="en-US" dirty="0" err="1"/>
              <a:t>InetAddress</a:t>
            </a:r>
            <a:r>
              <a:rPr lang="en-US" dirty="0"/>
              <a:t> can handle both IPv4 and IPv6 addresses</a:t>
            </a:r>
            <a:endParaRPr lang="en-IN" dirty="0"/>
          </a:p>
        </p:txBody>
      </p:sp>
    </p:spTree>
    <p:extLst>
      <p:ext uri="{BB962C8B-B14F-4D97-AF65-F5344CB8AC3E}">
        <p14:creationId xmlns:p14="http://schemas.microsoft.com/office/powerpoint/2010/main" val="3845166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0FDB4-CA94-DED0-DC35-CF91691A8C1E}"/>
              </a:ext>
            </a:extLst>
          </p:cNvPr>
          <p:cNvSpPr>
            <a:spLocks noGrp="1"/>
          </p:cNvSpPr>
          <p:nvPr>
            <p:ph type="title"/>
          </p:nvPr>
        </p:nvSpPr>
        <p:spPr>
          <a:xfrm>
            <a:off x="838200" y="190128"/>
            <a:ext cx="10515600" cy="490909"/>
          </a:xfrm>
        </p:spPr>
        <p:txBody>
          <a:bodyPr>
            <a:normAutofit fontScale="90000"/>
          </a:bodyPr>
          <a:lstStyle/>
          <a:p>
            <a:pPr algn="ctr"/>
            <a:r>
              <a:rPr lang="en-IN" dirty="0"/>
              <a:t>Factory Methods</a:t>
            </a:r>
          </a:p>
        </p:txBody>
      </p:sp>
      <p:sp>
        <p:nvSpPr>
          <p:cNvPr id="3" name="Content Placeholder 2">
            <a:extLst>
              <a:ext uri="{FF2B5EF4-FFF2-40B4-BE49-F238E27FC236}">
                <a16:creationId xmlns:a16="http://schemas.microsoft.com/office/drawing/2014/main" id="{DBA359B5-6798-BA2C-9801-FDCCD65D71DF}"/>
              </a:ext>
            </a:extLst>
          </p:cNvPr>
          <p:cNvSpPr>
            <a:spLocks noGrp="1"/>
          </p:cNvSpPr>
          <p:nvPr>
            <p:ph idx="1"/>
          </p:nvPr>
        </p:nvSpPr>
        <p:spPr>
          <a:xfrm>
            <a:off x="838200" y="1144689"/>
            <a:ext cx="10515600" cy="5110196"/>
          </a:xfrm>
        </p:spPr>
        <p:txBody>
          <a:bodyPr>
            <a:normAutofit/>
          </a:bodyPr>
          <a:lstStyle/>
          <a:p>
            <a:r>
              <a:rPr lang="en-US" sz="1800" dirty="0">
                <a:effectLst/>
                <a:latin typeface="Times New Roman" panose="02020603050405020304" pitchFamily="18" charset="0"/>
              </a:rPr>
              <a:t>The </a:t>
            </a:r>
            <a:r>
              <a:rPr lang="en-US" sz="1800" dirty="0" err="1">
                <a:effectLst/>
                <a:latin typeface="Times New Roman" panose="02020603050405020304" pitchFamily="18" charset="0"/>
              </a:rPr>
              <a:t>InetAddress</a:t>
            </a:r>
            <a:r>
              <a:rPr lang="en-US" sz="1800" dirty="0">
                <a:effectLst/>
                <a:latin typeface="Times New Roman" panose="02020603050405020304" pitchFamily="18" charset="0"/>
              </a:rPr>
              <a:t> class has no visible constructors. To create an </a:t>
            </a:r>
            <a:r>
              <a:rPr lang="en-US" sz="1800" dirty="0" err="1">
                <a:effectLst/>
                <a:latin typeface="Times New Roman" panose="02020603050405020304" pitchFamily="18" charset="0"/>
              </a:rPr>
              <a:t>InetAddress</a:t>
            </a:r>
            <a:r>
              <a:rPr lang="en-US" sz="1800" dirty="0">
                <a:effectLst/>
                <a:latin typeface="Times New Roman" panose="02020603050405020304" pitchFamily="18" charset="0"/>
              </a:rPr>
              <a:t> object, you have to use one of the available factory methods. </a:t>
            </a:r>
          </a:p>
          <a:p>
            <a:r>
              <a:rPr lang="en-US" sz="1800" dirty="0">
                <a:effectLst/>
                <a:latin typeface="Times New Roman" panose="02020603050405020304" pitchFamily="18" charset="0"/>
              </a:rPr>
              <a:t>Factory methods are merely a convention whereby static methods in a class return an instance of that class. </a:t>
            </a:r>
          </a:p>
          <a:p>
            <a:r>
              <a:rPr lang="en-US" sz="1800" dirty="0">
                <a:effectLst/>
                <a:latin typeface="Times New Roman" panose="02020603050405020304" pitchFamily="18" charset="0"/>
              </a:rPr>
              <a:t> Three commonly used </a:t>
            </a:r>
            <a:r>
              <a:rPr lang="en-US" sz="1800" dirty="0" err="1">
                <a:effectLst/>
                <a:latin typeface="Times New Roman" panose="02020603050405020304" pitchFamily="18" charset="0"/>
              </a:rPr>
              <a:t>InetAddress</a:t>
            </a:r>
            <a:r>
              <a:rPr lang="en-US" sz="1800" dirty="0">
                <a:effectLst/>
                <a:latin typeface="Times New Roman" panose="02020603050405020304" pitchFamily="18" charset="0"/>
              </a:rPr>
              <a:t> factory methods are shown here:</a:t>
            </a:r>
          </a:p>
          <a:p>
            <a:pPr lvl="1"/>
            <a:r>
              <a:rPr lang="en-IN" sz="1800" dirty="0">
                <a:effectLst/>
                <a:latin typeface="Times New Roman" panose="02020603050405020304" pitchFamily="18" charset="0"/>
              </a:rPr>
              <a:t>static </a:t>
            </a:r>
            <a:r>
              <a:rPr lang="en-IN" sz="1800" dirty="0" err="1">
                <a:effectLst/>
                <a:latin typeface="Times New Roman" panose="02020603050405020304" pitchFamily="18" charset="0"/>
              </a:rPr>
              <a:t>InetAddress</a:t>
            </a:r>
            <a:r>
              <a:rPr lang="en-IN" sz="1800" dirty="0">
                <a:effectLst/>
                <a:latin typeface="Times New Roman" panose="02020603050405020304" pitchFamily="18" charset="0"/>
              </a:rPr>
              <a:t> </a:t>
            </a:r>
            <a:r>
              <a:rPr lang="en-IN" sz="1800" dirty="0" err="1">
                <a:effectLst/>
                <a:latin typeface="Times New Roman" panose="02020603050405020304" pitchFamily="18" charset="0"/>
              </a:rPr>
              <a:t>getLocalHost</a:t>
            </a:r>
            <a:r>
              <a:rPr lang="en-IN" sz="1800" dirty="0">
                <a:effectLst/>
                <a:latin typeface="Times New Roman" panose="02020603050405020304" pitchFamily="18" charset="0"/>
              </a:rPr>
              <a:t>( ) throws </a:t>
            </a:r>
            <a:r>
              <a:rPr lang="en-IN" sz="1800" dirty="0" err="1">
                <a:effectLst/>
                <a:latin typeface="Times New Roman" panose="02020603050405020304" pitchFamily="18" charset="0"/>
              </a:rPr>
              <a:t>UnknownHostException</a:t>
            </a:r>
            <a:endParaRPr lang="en-IN" sz="1800" dirty="0">
              <a:effectLst/>
              <a:latin typeface="Times New Roman" panose="02020603050405020304" pitchFamily="18" charset="0"/>
            </a:endParaRPr>
          </a:p>
          <a:p>
            <a:pPr lvl="1"/>
            <a:r>
              <a:rPr lang="en-IN" sz="1800" dirty="0">
                <a:effectLst/>
                <a:latin typeface="Times New Roman" panose="02020603050405020304" pitchFamily="18" charset="0"/>
              </a:rPr>
              <a:t>static </a:t>
            </a:r>
            <a:r>
              <a:rPr lang="en-IN" sz="1800" dirty="0" err="1">
                <a:effectLst/>
                <a:latin typeface="Times New Roman" panose="02020603050405020304" pitchFamily="18" charset="0"/>
              </a:rPr>
              <a:t>InetAddress</a:t>
            </a:r>
            <a:r>
              <a:rPr lang="en-IN" sz="1800" dirty="0">
                <a:effectLst/>
                <a:latin typeface="Times New Roman" panose="02020603050405020304" pitchFamily="18" charset="0"/>
              </a:rPr>
              <a:t> </a:t>
            </a:r>
            <a:r>
              <a:rPr lang="en-IN" sz="1800" dirty="0" err="1">
                <a:effectLst/>
                <a:latin typeface="Times New Roman" panose="02020603050405020304" pitchFamily="18" charset="0"/>
              </a:rPr>
              <a:t>getByName</a:t>
            </a:r>
            <a:r>
              <a:rPr lang="en-IN" sz="1800" dirty="0">
                <a:effectLst/>
                <a:latin typeface="Times New Roman" panose="02020603050405020304" pitchFamily="18" charset="0"/>
              </a:rPr>
              <a:t>(String </a:t>
            </a:r>
            <a:r>
              <a:rPr lang="en-IN" sz="1800" dirty="0" err="1">
                <a:effectLst/>
                <a:latin typeface="Times New Roman" panose="02020603050405020304" pitchFamily="18" charset="0"/>
              </a:rPr>
              <a:t>hostName</a:t>
            </a:r>
            <a:r>
              <a:rPr lang="en-IN" sz="1800" dirty="0">
                <a:effectLst/>
                <a:latin typeface="Times New Roman" panose="02020603050405020304" pitchFamily="18" charset="0"/>
              </a:rPr>
              <a:t>) throws  </a:t>
            </a:r>
            <a:r>
              <a:rPr lang="en-IN" sz="1800" dirty="0" err="1">
                <a:effectLst/>
                <a:latin typeface="Times New Roman" panose="02020603050405020304" pitchFamily="18" charset="0"/>
              </a:rPr>
              <a:t>UnknownHostException</a:t>
            </a:r>
            <a:endParaRPr lang="en-IN" sz="1800" dirty="0">
              <a:effectLst/>
              <a:latin typeface="Times New Roman" panose="02020603050405020304" pitchFamily="18" charset="0"/>
            </a:endParaRPr>
          </a:p>
          <a:p>
            <a:pPr lvl="1"/>
            <a:r>
              <a:rPr lang="en-IN" sz="1800" dirty="0">
                <a:effectLst/>
                <a:latin typeface="Times New Roman" panose="02020603050405020304" pitchFamily="18" charset="0"/>
              </a:rPr>
              <a:t>static </a:t>
            </a:r>
            <a:r>
              <a:rPr lang="en-IN" sz="1800" dirty="0" err="1">
                <a:effectLst/>
                <a:latin typeface="Times New Roman" panose="02020603050405020304" pitchFamily="18" charset="0"/>
              </a:rPr>
              <a:t>InetAddress</a:t>
            </a:r>
            <a:r>
              <a:rPr lang="en-IN" sz="1800" dirty="0">
                <a:effectLst/>
                <a:latin typeface="Times New Roman" panose="02020603050405020304" pitchFamily="18" charset="0"/>
              </a:rPr>
              <a:t>[ ] </a:t>
            </a:r>
            <a:r>
              <a:rPr lang="en-IN" sz="1800" dirty="0" err="1">
                <a:effectLst/>
                <a:latin typeface="Times New Roman" panose="02020603050405020304" pitchFamily="18" charset="0"/>
              </a:rPr>
              <a:t>getAllByName</a:t>
            </a:r>
            <a:r>
              <a:rPr lang="en-IN" sz="1800" dirty="0">
                <a:effectLst/>
                <a:latin typeface="Times New Roman" panose="02020603050405020304" pitchFamily="18" charset="0"/>
              </a:rPr>
              <a:t>(String </a:t>
            </a:r>
            <a:r>
              <a:rPr lang="en-IN" sz="1800" dirty="0" err="1">
                <a:effectLst/>
                <a:latin typeface="Times New Roman" panose="02020603050405020304" pitchFamily="18" charset="0"/>
              </a:rPr>
              <a:t>hostName</a:t>
            </a:r>
            <a:r>
              <a:rPr lang="en-IN" sz="1800" dirty="0">
                <a:effectLst/>
                <a:latin typeface="Times New Roman" panose="02020603050405020304" pitchFamily="18" charset="0"/>
              </a:rPr>
              <a:t>) throws </a:t>
            </a:r>
            <a:r>
              <a:rPr lang="en-IN" sz="1800" dirty="0" err="1">
                <a:effectLst/>
                <a:latin typeface="Times New Roman" panose="02020603050405020304" pitchFamily="18" charset="0"/>
              </a:rPr>
              <a:t>UnknownHostException</a:t>
            </a:r>
            <a:endParaRPr lang="en-IN" sz="1800" dirty="0">
              <a:effectLst/>
              <a:latin typeface="Times New Roman" panose="02020603050405020304" pitchFamily="18" charset="0"/>
            </a:endParaRPr>
          </a:p>
          <a:p>
            <a:pPr marL="0" lvl="1" indent="0">
              <a:spcBef>
                <a:spcPts val="1200"/>
              </a:spcBef>
            </a:pPr>
            <a:r>
              <a:rPr lang="en-IN" sz="1800" dirty="0">
                <a:latin typeface="Times New Roman" panose="02020603050405020304" pitchFamily="18" charset="0"/>
              </a:rPr>
              <a:t> </a:t>
            </a:r>
            <a:r>
              <a:rPr lang="en-US" sz="1800" dirty="0">
                <a:latin typeface="Times New Roman" panose="02020603050405020304" pitchFamily="18" charset="0"/>
              </a:rPr>
              <a:t>The </a:t>
            </a:r>
            <a:r>
              <a:rPr lang="en-US" sz="1800" dirty="0" err="1">
                <a:highlight>
                  <a:srgbClr val="FFFF00"/>
                </a:highlight>
                <a:latin typeface="Times New Roman" panose="02020603050405020304" pitchFamily="18" charset="0"/>
              </a:rPr>
              <a:t>getLocalHost</a:t>
            </a:r>
            <a:r>
              <a:rPr lang="en-US" sz="1800" dirty="0">
                <a:highlight>
                  <a:srgbClr val="FFFF00"/>
                </a:highlight>
                <a:latin typeface="Times New Roman" panose="02020603050405020304" pitchFamily="18" charset="0"/>
              </a:rPr>
              <a:t>( ) </a:t>
            </a:r>
            <a:r>
              <a:rPr lang="en-US" sz="1800" dirty="0">
                <a:latin typeface="Times New Roman" panose="02020603050405020304" pitchFamily="18" charset="0"/>
              </a:rPr>
              <a:t>method simply returns the </a:t>
            </a:r>
            <a:r>
              <a:rPr lang="en-US" sz="1800" dirty="0" err="1">
                <a:latin typeface="Times New Roman" panose="02020603050405020304" pitchFamily="18" charset="0"/>
              </a:rPr>
              <a:t>InetAddress</a:t>
            </a:r>
            <a:r>
              <a:rPr lang="en-US" sz="1800" dirty="0">
                <a:latin typeface="Times New Roman" panose="02020603050405020304" pitchFamily="18" charset="0"/>
              </a:rPr>
              <a:t> object that represents the local host. </a:t>
            </a:r>
          </a:p>
          <a:p>
            <a:pPr marL="0" lvl="1" indent="0">
              <a:spcBef>
                <a:spcPts val="1200"/>
              </a:spcBef>
            </a:pPr>
            <a:r>
              <a:rPr lang="en-US" sz="1800" dirty="0">
                <a:latin typeface="Times New Roman" panose="02020603050405020304" pitchFamily="18" charset="0"/>
              </a:rPr>
              <a:t>  The </a:t>
            </a:r>
            <a:r>
              <a:rPr lang="en-US" sz="1800" dirty="0" err="1">
                <a:highlight>
                  <a:srgbClr val="FFFF00"/>
                </a:highlight>
                <a:latin typeface="Times New Roman" panose="02020603050405020304" pitchFamily="18" charset="0"/>
              </a:rPr>
              <a:t>getByName</a:t>
            </a:r>
            <a:r>
              <a:rPr lang="en-US" sz="1800" dirty="0">
                <a:highlight>
                  <a:srgbClr val="FFFF00"/>
                </a:highlight>
                <a:latin typeface="Times New Roman" panose="02020603050405020304" pitchFamily="18" charset="0"/>
              </a:rPr>
              <a:t>( ) </a:t>
            </a:r>
            <a:r>
              <a:rPr lang="en-US" sz="1800" dirty="0">
                <a:latin typeface="Times New Roman" panose="02020603050405020304" pitchFamily="18" charset="0"/>
              </a:rPr>
              <a:t>method returns an </a:t>
            </a:r>
            <a:r>
              <a:rPr lang="en-US" sz="1800" dirty="0" err="1">
                <a:latin typeface="Times New Roman" panose="02020603050405020304" pitchFamily="18" charset="0"/>
              </a:rPr>
              <a:t>InetAddress</a:t>
            </a:r>
            <a:r>
              <a:rPr lang="en-US" sz="1800" dirty="0">
                <a:latin typeface="Times New Roman" panose="02020603050405020304" pitchFamily="18" charset="0"/>
              </a:rPr>
              <a:t> for a host name passed to it. If these  methods are unable to resolve the  host name, they throw an </a:t>
            </a:r>
            <a:r>
              <a:rPr lang="en-US" sz="1800" dirty="0" err="1">
                <a:latin typeface="Times New Roman" panose="02020603050405020304" pitchFamily="18" charset="0"/>
              </a:rPr>
              <a:t>UnknownHostException</a:t>
            </a:r>
            <a:r>
              <a:rPr lang="en-US" sz="1800" dirty="0">
                <a:latin typeface="Times New Roman" panose="02020603050405020304" pitchFamily="18" charset="0"/>
              </a:rPr>
              <a:t>.</a:t>
            </a:r>
          </a:p>
          <a:p>
            <a:pPr marL="0" lvl="1" indent="0">
              <a:spcBef>
                <a:spcPts val="1200"/>
              </a:spcBef>
            </a:pPr>
            <a:r>
              <a:rPr lang="en-US" sz="1800" dirty="0">
                <a:latin typeface="Times New Roman" panose="02020603050405020304" pitchFamily="18" charset="0"/>
              </a:rPr>
              <a:t> The </a:t>
            </a:r>
            <a:r>
              <a:rPr lang="en-US" sz="1800" dirty="0" err="1">
                <a:highlight>
                  <a:srgbClr val="FFFF00"/>
                </a:highlight>
                <a:latin typeface="Times New Roman" panose="02020603050405020304" pitchFamily="18" charset="0"/>
              </a:rPr>
              <a:t>getAllByName</a:t>
            </a:r>
            <a:r>
              <a:rPr lang="en-US" sz="1800" dirty="0">
                <a:highlight>
                  <a:srgbClr val="FFFF00"/>
                </a:highlight>
                <a:latin typeface="Times New Roman" panose="02020603050405020304" pitchFamily="18" charset="0"/>
              </a:rPr>
              <a:t>( ) </a:t>
            </a:r>
            <a:r>
              <a:rPr lang="en-US" sz="1800" dirty="0">
                <a:latin typeface="Times New Roman" panose="02020603050405020304" pitchFamily="18" charset="0"/>
              </a:rPr>
              <a:t>factory method returns an array of </a:t>
            </a:r>
            <a:r>
              <a:rPr lang="en-US" sz="1800" dirty="0" err="1">
                <a:latin typeface="Times New Roman" panose="02020603050405020304" pitchFamily="18" charset="0"/>
              </a:rPr>
              <a:t>InetAddresses</a:t>
            </a:r>
            <a:r>
              <a:rPr lang="en-US" sz="1800" dirty="0">
                <a:latin typeface="Times New Roman" panose="02020603050405020304" pitchFamily="18" charset="0"/>
              </a:rPr>
              <a:t> that represent all of the addresses that a particular name resolves to. It will also throw an </a:t>
            </a:r>
            <a:r>
              <a:rPr lang="en-US" sz="1800" dirty="0" err="1">
                <a:latin typeface="Times New Roman" panose="02020603050405020304" pitchFamily="18" charset="0"/>
              </a:rPr>
              <a:t>UnknownHostException</a:t>
            </a:r>
            <a:r>
              <a:rPr lang="en-US" sz="1800" dirty="0">
                <a:latin typeface="Times New Roman" panose="02020603050405020304" pitchFamily="18" charset="0"/>
              </a:rPr>
              <a:t> if it can’t resolve the name to at least one address.</a:t>
            </a:r>
            <a:endParaRPr lang="en-IN" sz="1800" dirty="0">
              <a:latin typeface="Times New Roman" panose="02020603050405020304" pitchFamily="18" charset="0"/>
            </a:endParaRPr>
          </a:p>
        </p:txBody>
      </p:sp>
    </p:spTree>
    <p:extLst>
      <p:ext uri="{BB962C8B-B14F-4D97-AF65-F5344CB8AC3E}">
        <p14:creationId xmlns:p14="http://schemas.microsoft.com/office/powerpoint/2010/main" val="4051266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0E325F-CAD5-1755-F786-896018765A22}"/>
              </a:ext>
            </a:extLst>
          </p:cNvPr>
          <p:cNvSpPr txBox="1"/>
          <p:nvPr/>
        </p:nvSpPr>
        <p:spPr>
          <a:xfrm>
            <a:off x="1150294" y="345095"/>
            <a:ext cx="9715501" cy="4247317"/>
          </a:xfrm>
          <a:prstGeom prst="rect">
            <a:avLst/>
          </a:prstGeom>
          <a:noFill/>
        </p:spPr>
        <p:txBody>
          <a:bodyPr wrap="square">
            <a:spAutoFit/>
          </a:bodyPr>
          <a:lstStyle/>
          <a:p>
            <a:r>
              <a:rPr lang="en-IN" dirty="0"/>
              <a:t>// Demonstrate </a:t>
            </a:r>
            <a:r>
              <a:rPr lang="en-IN" dirty="0" err="1"/>
              <a:t>InetAddress</a:t>
            </a:r>
            <a:r>
              <a:rPr lang="en-IN" dirty="0"/>
              <a:t>.</a:t>
            </a:r>
          </a:p>
          <a:p>
            <a:r>
              <a:rPr lang="en-IN" dirty="0"/>
              <a:t>import java.net.*;</a:t>
            </a:r>
          </a:p>
          <a:p>
            <a:r>
              <a:rPr lang="en-IN" dirty="0"/>
              <a:t>class </a:t>
            </a:r>
            <a:r>
              <a:rPr lang="en-IN" dirty="0" err="1"/>
              <a:t>InetAddressTest</a:t>
            </a:r>
            <a:endParaRPr lang="en-IN" dirty="0"/>
          </a:p>
          <a:p>
            <a:r>
              <a:rPr lang="en-IN" dirty="0"/>
              <a:t>{</a:t>
            </a:r>
          </a:p>
          <a:p>
            <a:r>
              <a:rPr lang="en-IN" dirty="0"/>
              <a:t>	public static void main(String </a:t>
            </a:r>
            <a:r>
              <a:rPr lang="en-IN" dirty="0" err="1"/>
              <a:t>args</a:t>
            </a:r>
            <a:r>
              <a:rPr lang="en-IN" dirty="0"/>
              <a:t>[]) throws </a:t>
            </a:r>
            <a:r>
              <a:rPr lang="en-IN" dirty="0" err="1"/>
              <a:t>UnknownHostException</a:t>
            </a:r>
            <a:r>
              <a:rPr lang="en-IN" dirty="0"/>
              <a:t> </a:t>
            </a:r>
          </a:p>
          <a:p>
            <a:r>
              <a:rPr lang="en-IN" dirty="0"/>
              <a:t>	{</a:t>
            </a:r>
          </a:p>
          <a:p>
            <a:r>
              <a:rPr lang="en-IN" dirty="0"/>
              <a:t>		</a:t>
            </a:r>
            <a:r>
              <a:rPr lang="en-IN" dirty="0" err="1"/>
              <a:t>InetAddress</a:t>
            </a:r>
            <a:r>
              <a:rPr lang="en-IN" dirty="0"/>
              <a:t> Address = </a:t>
            </a:r>
            <a:r>
              <a:rPr lang="en-IN" dirty="0" err="1"/>
              <a:t>InetAddress.getLocalHost</a:t>
            </a:r>
            <a:r>
              <a:rPr lang="en-IN" dirty="0"/>
              <a:t>();</a:t>
            </a:r>
          </a:p>
          <a:p>
            <a:r>
              <a:rPr lang="en-IN" dirty="0"/>
              <a:t>		</a:t>
            </a:r>
            <a:r>
              <a:rPr lang="en-IN" dirty="0" err="1"/>
              <a:t>System.out.println</a:t>
            </a:r>
            <a:r>
              <a:rPr lang="en-IN" dirty="0"/>
              <a:t>(Address);</a:t>
            </a:r>
          </a:p>
          <a:p>
            <a:r>
              <a:rPr lang="en-IN" dirty="0"/>
              <a:t>		Address = </a:t>
            </a:r>
            <a:r>
              <a:rPr lang="en-IN" dirty="0" err="1"/>
              <a:t>InetAddress.getByName</a:t>
            </a:r>
            <a:r>
              <a:rPr lang="en-IN" dirty="0"/>
              <a:t>("www.HerbSchildt.com");</a:t>
            </a:r>
          </a:p>
          <a:p>
            <a:r>
              <a:rPr lang="en-IN" dirty="0"/>
              <a:t>		</a:t>
            </a:r>
            <a:r>
              <a:rPr lang="en-IN" dirty="0" err="1"/>
              <a:t>System.out.println</a:t>
            </a:r>
            <a:r>
              <a:rPr lang="en-IN" dirty="0"/>
              <a:t>(Address);</a:t>
            </a:r>
          </a:p>
          <a:p>
            <a:r>
              <a:rPr lang="en-IN" dirty="0"/>
              <a:t>		</a:t>
            </a:r>
            <a:r>
              <a:rPr lang="en-IN" dirty="0" err="1"/>
              <a:t>InetAddress</a:t>
            </a:r>
            <a:r>
              <a:rPr lang="en-IN" dirty="0"/>
              <a:t> SW[] = </a:t>
            </a:r>
            <a:r>
              <a:rPr lang="en-IN" dirty="0" err="1"/>
              <a:t>InetAddress.getAllByName</a:t>
            </a:r>
            <a:r>
              <a:rPr lang="en-IN" dirty="0"/>
              <a:t>("www.gmail.com");</a:t>
            </a:r>
          </a:p>
          <a:p>
            <a:r>
              <a:rPr lang="en-IN" dirty="0"/>
              <a:t>		for (int </a:t>
            </a:r>
            <a:r>
              <a:rPr lang="en-IN" dirty="0" err="1"/>
              <a:t>i</a:t>
            </a:r>
            <a:r>
              <a:rPr lang="en-IN" dirty="0"/>
              <a:t>=0; </a:t>
            </a:r>
            <a:r>
              <a:rPr lang="en-IN" dirty="0" err="1"/>
              <a:t>i</a:t>
            </a:r>
            <a:r>
              <a:rPr lang="en-IN" dirty="0"/>
              <a:t>&lt;</a:t>
            </a:r>
            <a:r>
              <a:rPr lang="en-IN" dirty="0" err="1"/>
              <a:t>SW.length</a:t>
            </a:r>
            <a:r>
              <a:rPr lang="en-IN" dirty="0"/>
              <a:t>; </a:t>
            </a:r>
            <a:r>
              <a:rPr lang="en-IN" dirty="0" err="1"/>
              <a:t>i</a:t>
            </a:r>
            <a:r>
              <a:rPr lang="en-IN" dirty="0"/>
              <a:t>++)</a:t>
            </a:r>
          </a:p>
          <a:p>
            <a:r>
              <a:rPr lang="en-IN" dirty="0"/>
              <a:t>			</a:t>
            </a:r>
            <a:r>
              <a:rPr lang="en-IN" dirty="0" err="1"/>
              <a:t>System.out.println</a:t>
            </a:r>
            <a:r>
              <a:rPr lang="en-IN" dirty="0"/>
              <a:t>(SW[</a:t>
            </a:r>
            <a:r>
              <a:rPr lang="en-IN" dirty="0" err="1"/>
              <a:t>i</a:t>
            </a:r>
            <a:r>
              <a:rPr lang="en-IN" dirty="0"/>
              <a:t>]);</a:t>
            </a:r>
          </a:p>
          <a:p>
            <a:r>
              <a:rPr lang="en-IN" dirty="0"/>
              <a:t>	}</a:t>
            </a:r>
          </a:p>
          <a:p>
            <a:r>
              <a:rPr lang="en-IN" dirty="0"/>
              <a:t>}</a:t>
            </a:r>
          </a:p>
        </p:txBody>
      </p:sp>
      <p:sp>
        <p:nvSpPr>
          <p:cNvPr id="7" name="TextBox 6">
            <a:extLst>
              <a:ext uri="{FF2B5EF4-FFF2-40B4-BE49-F238E27FC236}">
                <a16:creationId xmlns:a16="http://schemas.microsoft.com/office/drawing/2014/main" id="{26B6E51F-8800-D7AC-9096-D6E6959E918B}"/>
              </a:ext>
            </a:extLst>
          </p:cNvPr>
          <p:cNvSpPr txBox="1"/>
          <p:nvPr/>
        </p:nvSpPr>
        <p:spPr>
          <a:xfrm>
            <a:off x="4947328" y="4592412"/>
            <a:ext cx="6094378" cy="1754326"/>
          </a:xfrm>
          <a:prstGeom prst="rect">
            <a:avLst/>
          </a:prstGeom>
          <a:noFill/>
        </p:spPr>
        <p:txBody>
          <a:bodyPr wrap="square">
            <a:spAutoFit/>
          </a:bodyPr>
          <a:lstStyle/>
          <a:p>
            <a:r>
              <a:rPr lang="en-IN" b="1" dirty="0"/>
              <a:t>C:\java\lab&gt;javac InetAddressTest.java</a:t>
            </a:r>
          </a:p>
          <a:p>
            <a:endParaRPr lang="en-IN" b="1" dirty="0"/>
          </a:p>
          <a:p>
            <a:r>
              <a:rPr lang="en-IN" b="1" dirty="0"/>
              <a:t>C:\java\lab&gt;java </a:t>
            </a:r>
            <a:r>
              <a:rPr lang="en-IN" b="1" dirty="0" err="1"/>
              <a:t>InetAddressTest</a:t>
            </a:r>
            <a:endParaRPr lang="en-IN" b="1" dirty="0"/>
          </a:p>
          <a:p>
            <a:r>
              <a:rPr lang="en-IN" b="1" dirty="0" err="1"/>
              <a:t>Abhyudaya</a:t>
            </a:r>
            <a:r>
              <a:rPr lang="en-IN" b="1" dirty="0"/>
              <a:t>/10.0.32.197</a:t>
            </a:r>
          </a:p>
          <a:p>
            <a:r>
              <a:rPr lang="en-IN" b="1" dirty="0"/>
              <a:t>www.HerbSchildt.com/216.92.65.4</a:t>
            </a:r>
          </a:p>
          <a:p>
            <a:r>
              <a:rPr lang="en-IN" b="1" dirty="0"/>
              <a:t>www.gmail.com/142.250.195.69</a:t>
            </a:r>
          </a:p>
        </p:txBody>
      </p:sp>
    </p:spTree>
    <p:extLst>
      <p:ext uri="{BB962C8B-B14F-4D97-AF65-F5344CB8AC3E}">
        <p14:creationId xmlns:p14="http://schemas.microsoft.com/office/powerpoint/2010/main" val="346967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4B3A4-3FDC-40E0-559A-B79CF701EB17}"/>
              </a:ext>
            </a:extLst>
          </p:cNvPr>
          <p:cNvSpPr>
            <a:spLocks noGrp="1"/>
          </p:cNvSpPr>
          <p:nvPr>
            <p:ph type="title"/>
          </p:nvPr>
        </p:nvSpPr>
        <p:spPr>
          <a:xfrm>
            <a:off x="838200" y="209583"/>
            <a:ext cx="10515600" cy="471454"/>
          </a:xfrm>
        </p:spPr>
        <p:txBody>
          <a:bodyPr>
            <a:normAutofit fontScale="90000"/>
          </a:bodyPr>
          <a:lstStyle/>
          <a:p>
            <a:pPr algn="ctr"/>
            <a:r>
              <a:rPr lang="en-IN" dirty="0"/>
              <a:t>TCP/IP Client Sockets</a:t>
            </a:r>
          </a:p>
        </p:txBody>
      </p:sp>
      <p:sp>
        <p:nvSpPr>
          <p:cNvPr id="3" name="Content Placeholder 2">
            <a:extLst>
              <a:ext uri="{FF2B5EF4-FFF2-40B4-BE49-F238E27FC236}">
                <a16:creationId xmlns:a16="http://schemas.microsoft.com/office/drawing/2014/main" id="{2F2E9AA5-9FD2-24B4-DE37-CC4C9F6FE105}"/>
              </a:ext>
            </a:extLst>
          </p:cNvPr>
          <p:cNvSpPr>
            <a:spLocks noGrp="1"/>
          </p:cNvSpPr>
          <p:nvPr>
            <p:ph idx="1"/>
          </p:nvPr>
        </p:nvSpPr>
        <p:spPr>
          <a:xfrm>
            <a:off x="838200" y="1253331"/>
            <a:ext cx="10515600" cy="4351338"/>
          </a:xfrm>
        </p:spPr>
        <p:txBody>
          <a:bodyPr>
            <a:normAutofit/>
          </a:bodyPr>
          <a:lstStyle/>
          <a:p>
            <a:pPr algn="just"/>
            <a:r>
              <a:rPr lang="en-US" sz="2400" dirty="0">
                <a:latin typeface="Times New Roman" panose="02020603050405020304" pitchFamily="18" charset="0"/>
                <a:cs typeface="Times New Roman" panose="02020603050405020304" pitchFamily="18" charset="0"/>
              </a:rPr>
              <a:t>TCP/IP sockets are used to implement reliable, bidirectional, persistent, point-to-point, stream-based connections between hosts on the Internet. </a:t>
            </a:r>
          </a:p>
          <a:p>
            <a:pPr algn="just"/>
            <a:r>
              <a:rPr lang="en-US" sz="2400" dirty="0">
                <a:latin typeface="Times New Roman" panose="02020603050405020304" pitchFamily="18" charset="0"/>
                <a:cs typeface="Times New Roman" panose="02020603050405020304" pitchFamily="18" charset="0"/>
              </a:rPr>
              <a:t>A socket can be used to connect Java’s I/O system to other programs that may reside either on the local machine or on any other machine on the Internet.</a:t>
            </a:r>
          </a:p>
          <a:p>
            <a:pPr algn="just"/>
            <a:r>
              <a:rPr lang="en-US" sz="2400" dirty="0">
                <a:latin typeface="Times New Roman" panose="02020603050405020304" pitchFamily="18" charset="0"/>
                <a:cs typeface="Times New Roman" panose="02020603050405020304" pitchFamily="18" charset="0"/>
              </a:rPr>
              <a:t>There are two kinds of TCP sockets in Java. One is for servers, and the other is for clients.</a:t>
            </a:r>
          </a:p>
          <a:p>
            <a:r>
              <a:rPr lang="en-US" sz="2400" dirty="0">
                <a:latin typeface="Times New Roman" panose="02020603050405020304" pitchFamily="18" charset="0"/>
                <a:cs typeface="Times New Roman" panose="02020603050405020304" pitchFamily="18" charset="0"/>
              </a:rPr>
              <a:t>The </a:t>
            </a:r>
            <a:r>
              <a:rPr lang="en-US" sz="2400" dirty="0" err="1">
                <a:latin typeface="Times New Roman" panose="02020603050405020304" pitchFamily="18" charset="0"/>
                <a:cs typeface="Times New Roman" panose="02020603050405020304" pitchFamily="18" charset="0"/>
              </a:rPr>
              <a:t>ServerSocket</a:t>
            </a:r>
            <a:r>
              <a:rPr lang="en-US" sz="2400" dirty="0">
                <a:latin typeface="Times New Roman" panose="02020603050405020304" pitchFamily="18" charset="0"/>
                <a:cs typeface="Times New Roman" panose="02020603050405020304" pitchFamily="18" charset="0"/>
              </a:rPr>
              <a:t> class is designed to be a "listener," which waits for clients to connect before doing anything. Thus, </a:t>
            </a:r>
            <a:r>
              <a:rPr lang="en-US" sz="2400" dirty="0" err="1">
                <a:latin typeface="Times New Roman" panose="02020603050405020304" pitchFamily="18" charset="0"/>
                <a:cs typeface="Times New Roman" panose="02020603050405020304" pitchFamily="18" charset="0"/>
              </a:rPr>
              <a:t>ServerSocket</a:t>
            </a:r>
            <a:r>
              <a:rPr lang="en-US" sz="2400" dirty="0">
                <a:latin typeface="Times New Roman" panose="02020603050405020304" pitchFamily="18" charset="0"/>
                <a:cs typeface="Times New Roman" panose="02020603050405020304" pitchFamily="18" charset="0"/>
              </a:rPr>
              <a:t> is for servers. </a:t>
            </a:r>
          </a:p>
          <a:p>
            <a:r>
              <a:rPr lang="en-US" sz="2400" dirty="0">
                <a:latin typeface="Times New Roman" panose="02020603050405020304" pitchFamily="18" charset="0"/>
                <a:cs typeface="Times New Roman" panose="02020603050405020304" pitchFamily="18" charset="0"/>
              </a:rPr>
              <a:t>The Socket class is for clients. It is designed to connect to server sockets and initiate protocol exchanges. Because client sockets are the most commonly used by Java applications, they are examined here.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9969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A2A3F-E8AE-C15E-A0E4-7D458BC94C52}"/>
              </a:ext>
            </a:extLst>
          </p:cNvPr>
          <p:cNvSpPr>
            <a:spLocks noGrp="1"/>
          </p:cNvSpPr>
          <p:nvPr>
            <p:ph idx="1"/>
          </p:nvPr>
        </p:nvSpPr>
        <p:spPr>
          <a:xfrm>
            <a:off x="838200" y="632298"/>
            <a:ext cx="10515600" cy="5544665"/>
          </a:xfrm>
        </p:spPr>
        <p:txBody>
          <a:bodyPr>
            <a:normAutofit/>
          </a:bodyPr>
          <a:lstStyle/>
          <a:p>
            <a:r>
              <a:rPr lang="en-US" sz="1800" dirty="0">
                <a:latin typeface="Times New Roman" panose="02020603050405020304" pitchFamily="18" charset="0"/>
                <a:cs typeface="Times New Roman" panose="02020603050405020304" pitchFamily="18" charset="0"/>
              </a:rPr>
              <a:t>The creation of a Socket object implicitly establishes a connection between the client and server. </a:t>
            </a:r>
          </a:p>
          <a:p>
            <a:r>
              <a:rPr lang="en-US" sz="1800" dirty="0">
                <a:latin typeface="Times New Roman" panose="02020603050405020304" pitchFamily="18" charset="0"/>
                <a:cs typeface="Times New Roman" panose="02020603050405020304" pitchFamily="18" charset="0"/>
              </a:rPr>
              <a:t>Here are two constructors used to create client sockets:</a:t>
            </a:r>
          </a:p>
          <a:p>
            <a:pPr lvl="1"/>
            <a:r>
              <a:rPr lang="en-US" sz="1800" b="1" dirty="0">
                <a:effectLst/>
                <a:latin typeface="Times New Roman" panose="02020603050405020304" pitchFamily="18" charset="0"/>
                <a:cs typeface="Times New Roman" panose="02020603050405020304" pitchFamily="18" charset="0"/>
              </a:rPr>
              <a:t>Socket(String </a:t>
            </a:r>
            <a:r>
              <a:rPr lang="en-US" sz="1800" b="1" dirty="0" err="1">
                <a:effectLst/>
                <a:latin typeface="Times New Roman" panose="02020603050405020304" pitchFamily="18" charset="0"/>
                <a:cs typeface="Times New Roman" panose="02020603050405020304" pitchFamily="18" charset="0"/>
              </a:rPr>
              <a:t>hostName</a:t>
            </a:r>
            <a:r>
              <a:rPr lang="en-US" sz="1800" b="1" dirty="0">
                <a:effectLst/>
                <a:latin typeface="Times New Roman" panose="02020603050405020304" pitchFamily="18" charset="0"/>
                <a:cs typeface="Times New Roman" panose="02020603050405020304" pitchFamily="18" charset="0"/>
              </a:rPr>
              <a:t>, int port) throws </a:t>
            </a:r>
            <a:r>
              <a:rPr lang="en-US" sz="1800" b="1" dirty="0" err="1">
                <a:effectLst/>
                <a:latin typeface="Times New Roman" panose="02020603050405020304" pitchFamily="18" charset="0"/>
                <a:cs typeface="Times New Roman" panose="02020603050405020304" pitchFamily="18" charset="0"/>
              </a:rPr>
              <a:t>UnknownHostException</a:t>
            </a:r>
            <a:r>
              <a:rPr lang="en-US" sz="1800" b="1" dirty="0">
                <a:effectLst/>
                <a:latin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cs typeface="Times New Roman" panose="02020603050405020304" pitchFamily="18" charset="0"/>
              </a:rPr>
              <a:t>IOException</a:t>
            </a:r>
            <a:r>
              <a:rPr lang="en-US" sz="1800" b="1" dirty="0">
                <a:effectLst/>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cs typeface="Times New Roman" panose="02020603050405020304" pitchFamily="18" charset="0"/>
              </a:rPr>
              <a:t>Create a socket connected to the named host and port</a:t>
            </a:r>
          </a:p>
          <a:p>
            <a:pPr lvl="1"/>
            <a:r>
              <a:rPr lang="en-US" sz="1800" b="1" dirty="0">
                <a:effectLst/>
                <a:latin typeface="Times New Roman" panose="02020603050405020304" pitchFamily="18" charset="0"/>
                <a:cs typeface="Times New Roman" panose="02020603050405020304" pitchFamily="18" charset="0"/>
              </a:rPr>
              <a:t>Socket(</a:t>
            </a:r>
            <a:r>
              <a:rPr lang="en-US" sz="1800" b="1" dirty="0" err="1">
                <a:effectLst/>
                <a:latin typeface="Times New Roman" panose="02020603050405020304" pitchFamily="18" charset="0"/>
                <a:cs typeface="Times New Roman" panose="02020603050405020304" pitchFamily="18" charset="0"/>
              </a:rPr>
              <a:t>InetAddress</a:t>
            </a:r>
            <a:r>
              <a:rPr lang="en-US" sz="1800" b="1" dirty="0">
                <a:effectLst/>
                <a:latin typeface="Times New Roman" panose="02020603050405020304" pitchFamily="18" charset="0"/>
                <a:cs typeface="Times New Roman" panose="02020603050405020304" pitchFamily="18" charset="0"/>
              </a:rPr>
              <a:t> </a:t>
            </a:r>
            <a:r>
              <a:rPr lang="en-US" sz="1800" b="1" dirty="0" err="1">
                <a:effectLst/>
                <a:latin typeface="Times New Roman" panose="02020603050405020304" pitchFamily="18" charset="0"/>
                <a:cs typeface="Times New Roman" panose="02020603050405020304" pitchFamily="18" charset="0"/>
              </a:rPr>
              <a:t>ipAddress</a:t>
            </a:r>
            <a:r>
              <a:rPr lang="en-US" sz="1800" b="1" dirty="0">
                <a:effectLst/>
                <a:latin typeface="Times New Roman" panose="02020603050405020304" pitchFamily="18" charset="0"/>
                <a:cs typeface="Times New Roman" panose="02020603050405020304" pitchFamily="18" charset="0"/>
              </a:rPr>
              <a:t>, int port) throws </a:t>
            </a:r>
            <a:r>
              <a:rPr lang="en-US" sz="1800" b="1" dirty="0" err="1">
                <a:effectLst/>
                <a:latin typeface="Times New Roman" panose="02020603050405020304" pitchFamily="18" charset="0"/>
                <a:cs typeface="Times New Roman" panose="02020603050405020304" pitchFamily="18" charset="0"/>
              </a:rPr>
              <a:t>IOException</a:t>
            </a:r>
            <a:r>
              <a:rPr lang="en-US" sz="1800" b="1" dirty="0">
                <a:effectLst/>
                <a:latin typeface="Times New Roman" panose="02020603050405020304" pitchFamily="18" charset="0"/>
                <a:cs typeface="Times New Roman" panose="02020603050405020304" pitchFamily="18" charset="0"/>
              </a:rPr>
              <a:t> : </a:t>
            </a:r>
            <a:r>
              <a:rPr lang="en-US" sz="1800" dirty="0">
                <a:effectLst/>
                <a:latin typeface="Times New Roman" panose="02020603050405020304" pitchFamily="18" charset="0"/>
                <a:cs typeface="Times New Roman" panose="02020603050405020304" pitchFamily="18" charset="0"/>
              </a:rPr>
              <a:t>create a socket using a preexisting </a:t>
            </a:r>
            <a:r>
              <a:rPr lang="en-US" sz="1800" dirty="0" err="1">
                <a:effectLst/>
                <a:latin typeface="Times New Roman" panose="02020603050405020304" pitchFamily="18" charset="0"/>
                <a:cs typeface="Times New Roman" panose="02020603050405020304" pitchFamily="18" charset="0"/>
              </a:rPr>
              <a:t>InetAddress</a:t>
            </a:r>
            <a:r>
              <a:rPr lang="en-US" sz="1800" dirty="0">
                <a:effectLst/>
                <a:latin typeface="Times New Roman" panose="02020603050405020304" pitchFamily="18" charset="0"/>
                <a:cs typeface="Times New Roman" panose="02020603050405020304" pitchFamily="18" charset="0"/>
              </a:rPr>
              <a:t> object and port.</a:t>
            </a:r>
            <a:endParaRPr lang="en-IN" sz="1800" dirty="0">
              <a:effectLst/>
              <a:latin typeface="Times New Roman" panose="02020603050405020304" pitchFamily="18" charset="0"/>
              <a:cs typeface="Times New Roman" panose="02020603050405020304" pitchFamily="18" charset="0"/>
            </a:endParaRPr>
          </a:p>
          <a:p>
            <a:pPr marL="285750" lvl="1" indent="-285750"/>
            <a:r>
              <a:rPr lang="en-US" sz="1800" dirty="0">
                <a:latin typeface="Times New Roman" panose="02020603050405020304" pitchFamily="18" charset="0"/>
                <a:cs typeface="Times New Roman" panose="02020603050405020304" pitchFamily="18" charset="0"/>
              </a:rPr>
              <a:t>You can gain access to the input and output streams associated with a Socket by use of  the </a:t>
            </a:r>
            <a:r>
              <a:rPr lang="en-US" sz="1800" dirty="0" err="1">
                <a:latin typeface="Times New Roman" panose="02020603050405020304" pitchFamily="18" charset="0"/>
                <a:cs typeface="Times New Roman" panose="02020603050405020304" pitchFamily="18" charset="0"/>
              </a:rPr>
              <a:t>getInputStream</a:t>
            </a:r>
            <a:r>
              <a:rPr lang="en-US" sz="1800" dirty="0">
                <a:latin typeface="Times New Roman" panose="02020603050405020304" pitchFamily="18" charset="0"/>
                <a:cs typeface="Times New Roman" panose="02020603050405020304" pitchFamily="18" charset="0"/>
              </a:rPr>
              <a:t>( ) and </a:t>
            </a:r>
            <a:r>
              <a:rPr lang="en-US" sz="1800" dirty="0" err="1">
                <a:latin typeface="Times New Roman" panose="02020603050405020304" pitchFamily="18" charset="0"/>
                <a:cs typeface="Times New Roman" panose="02020603050405020304" pitchFamily="18" charset="0"/>
              </a:rPr>
              <a:t>getOuptutStream</a:t>
            </a:r>
            <a:r>
              <a:rPr lang="en-US" sz="1800" dirty="0">
                <a:latin typeface="Times New Roman" panose="02020603050405020304" pitchFamily="18" charset="0"/>
                <a:cs typeface="Times New Roman" panose="02020603050405020304" pitchFamily="18" charset="0"/>
              </a:rPr>
              <a:t>( ) methods. Each can throw an </a:t>
            </a:r>
            <a:r>
              <a:rPr lang="en-US" sz="1800" dirty="0" err="1">
                <a:latin typeface="Times New Roman" panose="02020603050405020304" pitchFamily="18" charset="0"/>
                <a:cs typeface="Times New Roman" panose="02020603050405020304" pitchFamily="18" charset="0"/>
              </a:rPr>
              <a:t>IOException</a:t>
            </a:r>
            <a:r>
              <a:rPr lang="en-US" sz="1800" dirty="0">
                <a:latin typeface="Times New Roman" panose="02020603050405020304" pitchFamily="18" charset="0"/>
                <a:cs typeface="Times New Roman" panose="02020603050405020304" pitchFamily="18" charset="0"/>
              </a:rPr>
              <a:t> if the socket has been invalidated by a loss of connection.</a:t>
            </a:r>
          </a:p>
          <a:p>
            <a:pPr marL="742950" lvl="2" indent="-285750"/>
            <a:r>
              <a:rPr lang="en-IN" sz="1800" b="1" dirty="0" err="1">
                <a:effectLst/>
                <a:latin typeface="Times New Roman" panose="02020603050405020304" pitchFamily="18" charset="0"/>
              </a:rPr>
              <a:t>InputStream</a:t>
            </a:r>
            <a:r>
              <a:rPr lang="en-IN" sz="1800" b="1" dirty="0">
                <a:effectLst/>
                <a:latin typeface="Times New Roman" panose="02020603050405020304" pitchFamily="18" charset="0"/>
              </a:rPr>
              <a:t> </a:t>
            </a:r>
            <a:r>
              <a:rPr lang="en-IN" sz="1800" b="1" dirty="0" err="1">
                <a:effectLst/>
                <a:latin typeface="Times New Roman" panose="02020603050405020304" pitchFamily="18" charset="0"/>
              </a:rPr>
              <a:t>getInputStream</a:t>
            </a:r>
            <a:r>
              <a:rPr lang="en-IN" sz="1800" b="1" dirty="0">
                <a:effectLst/>
                <a:latin typeface="Times New Roman" panose="02020603050405020304" pitchFamily="18" charset="0"/>
              </a:rPr>
              <a:t>( ) throws </a:t>
            </a:r>
            <a:r>
              <a:rPr lang="en-IN" sz="1800" b="1" dirty="0" err="1">
                <a:effectLst/>
                <a:latin typeface="Times New Roman" panose="02020603050405020304" pitchFamily="18" charset="0"/>
              </a:rPr>
              <a:t>IOException</a:t>
            </a:r>
            <a:r>
              <a:rPr lang="en-IN" sz="1800" b="1" dirty="0">
                <a:effectLst/>
                <a:latin typeface="Times New Roman" panose="02020603050405020304" pitchFamily="18" charset="0"/>
              </a:rPr>
              <a:t> : </a:t>
            </a:r>
            <a:r>
              <a:rPr lang="en-IN" sz="1800" dirty="0">
                <a:effectLst/>
                <a:latin typeface="Times New Roman" panose="02020603050405020304" pitchFamily="18" charset="0"/>
              </a:rPr>
              <a:t>Return to </a:t>
            </a:r>
            <a:r>
              <a:rPr lang="en-IN" sz="1800" dirty="0" err="1">
                <a:effectLst/>
                <a:latin typeface="Times New Roman" panose="02020603050405020304" pitchFamily="18" charset="0"/>
              </a:rPr>
              <a:t>InputStream</a:t>
            </a:r>
            <a:r>
              <a:rPr lang="en-IN" sz="1800" dirty="0">
                <a:effectLst/>
                <a:latin typeface="Times New Roman" panose="02020603050405020304" pitchFamily="18" charset="0"/>
              </a:rPr>
              <a:t> associated with the invoking socket.</a:t>
            </a:r>
          </a:p>
          <a:p>
            <a:pPr marL="742950" lvl="2" indent="-285750"/>
            <a:r>
              <a:rPr lang="en-IN" sz="1800" b="1" dirty="0" err="1">
                <a:effectLst/>
                <a:latin typeface="Times New Roman" panose="02020603050405020304" pitchFamily="18" charset="0"/>
              </a:rPr>
              <a:t>OutputStream</a:t>
            </a:r>
            <a:r>
              <a:rPr lang="en-IN" sz="1800" b="1" dirty="0">
                <a:effectLst/>
                <a:latin typeface="Times New Roman" panose="02020603050405020304" pitchFamily="18" charset="0"/>
              </a:rPr>
              <a:t> </a:t>
            </a:r>
            <a:r>
              <a:rPr lang="en-IN" sz="1800" b="1" dirty="0" err="1">
                <a:effectLst/>
                <a:latin typeface="Times New Roman" panose="02020603050405020304" pitchFamily="18" charset="0"/>
              </a:rPr>
              <a:t>getOutputStream</a:t>
            </a:r>
            <a:r>
              <a:rPr lang="en-IN" sz="1800" b="1" dirty="0">
                <a:effectLst/>
                <a:latin typeface="Times New Roman" panose="02020603050405020304" pitchFamily="18" charset="0"/>
              </a:rPr>
              <a:t>( ) throws </a:t>
            </a:r>
            <a:r>
              <a:rPr lang="en-IN" sz="1800" b="1" dirty="0" err="1">
                <a:effectLst/>
                <a:latin typeface="Times New Roman" panose="02020603050405020304" pitchFamily="18" charset="0"/>
              </a:rPr>
              <a:t>IOException</a:t>
            </a:r>
            <a:r>
              <a:rPr lang="en-IN" sz="1800" b="1" dirty="0">
                <a:effectLst/>
                <a:latin typeface="Times New Roman" panose="02020603050405020304" pitchFamily="18" charset="0"/>
              </a:rPr>
              <a:t> : </a:t>
            </a:r>
            <a:r>
              <a:rPr lang="en-IN" sz="1800" dirty="0">
                <a:effectLst/>
                <a:latin typeface="Times New Roman" panose="02020603050405020304" pitchFamily="18" charset="0"/>
              </a:rPr>
              <a:t>Return to </a:t>
            </a:r>
            <a:r>
              <a:rPr lang="en-IN" sz="1800" dirty="0" err="1">
                <a:latin typeface="Times New Roman" panose="02020603050405020304" pitchFamily="18" charset="0"/>
              </a:rPr>
              <a:t>Output</a:t>
            </a:r>
            <a:r>
              <a:rPr lang="en-IN" sz="1800" dirty="0" err="1">
                <a:effectLst/>
                <a:latin typeface="Times New Roman" panose="02020603050405020304" pitchFamily="18" charset="0"/>
              </a:rPr>
              <a:t>Stream</a:t>
            </a:r>
            <a:r>
              <a:rPr lang="en-IN" sz="1800" dirty="0">
                <a:effectLst/>
                <a:latin typeface="Times New Roman" panose="02020603050405020304" pitchFamily="18" charset="0"/>
              </a:rPr>
              <a:t> associated with the invoking socket.</a:t>
            </a:r>
          </a:p>
          <a:p>
            <a:pPr marL="0" lvl="2" indent="0"/>
            <a:r>
              <a:rPr lang="en-IN" sz="1800" dirty="0">
                <a:latin typeface="Times New Roman" panose="02020603050405020304" pitchFamily="18" charset="0"/>
                <a:cs typeface="Times New Roman" panose="02020603050405020304" pitchFamily="18" charset="0"/>
              </a:rPr>
              <a:t> Several other methods  are available as follows:</a:t>
            </a:r>
          </a:p>
          <a:p>
            <a:pPr marL="457200" lvl="3" indent="0"/>
            <a:r>
              <a:rPr lang="en-IN" sz="1600" b="1" dirty="0">
                <a:latin typeface="Times New Roman" panose="02020603050405020304" pitchFamily="18" charset="0"/>
                <a:cs typeface="Times New Roman" panose="02020603050405020304" pitchFamily="18" charset="0"/>
              </a:rPr>
              <a:t> connect() : which allow us to specify a new connection</a:t>
            </a:r>
          </a:p>
          <a:p>
            <a:pPr marL="457200" lvl="3" indent="0"/>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isConnected</a:t>
            </a:r>
            <a:r>
              <a:rPr lang="en-IN" sz="1600" b="1" dirty="0">
                <a:latin typeface="Times New Roman" panose="02020603050405020304" pitchFamily="18" charset="0"/>
                <a:cs typeface="Times New Roman" panose="02020603050405020304" pitchFamily="18" charset="0"/>
              </a:rPr>
              <a:t>(): which return true if socket is connected to a server.</a:t>
            </a:r>
          </a:p>
          <a:p>
            <a:pPr marL="457200" lvl="3" indent="0"/>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isBound</a:t>
            </a:r>
            <a:r>
              <a:rPr lang="en-IN" sz="1600" b="1" dirty="0">
                <a:latin typeface="Times New Roman" panose="02020603050405020304" pitchFamily="18" charset="0"/>
                <a:cs typeface="Times New Roman" panose="02020603050405020304" pitchFamily="18" charset="0"/>
              </a:rPr>
              <a:t>(): which returns true if the socket is bound to an address</a:t>
            </a:r>
          </a:p>
          <a:p>
            <a:pPr marL="457200" lvl="3" indent="0"/>
            <a:r>
              <a:rPr lang="en-IN" sz="1600" b="1" dirty="0">
                <a:latin typeface="Times New Roman" panose="02020603050405020304" pitchFamily="18" charset="0"/>
                <a:cs typeface="Times New Roman" panose="02020603050405020304" pitchFamily="18" charset="0"/>
              </a:rPr>
              <a:t> </a:t>
            </a:r>
            <a:r>
              <a:rPr lang="en-IN" sz="1600" b="1" dirty="0" err="1">
                <a:latin typeface="Times New Roman" panose="02020603050405020304" pitchFamily="18" charset="0"/>
                <a:cs typeface="Times New Roman" panose="02020603050405020304" pitchFamily="18" charset="0"/>
              </a:rPr>
              <a:t>isClosed</a:t>
            </a:r>
            <a:r>
              <a:rPr lang="en-IN" sz="1600" b="1" dirty="0">
                <a:latin typeface="Times New Roman" panose="02020603050405020304" pitchFamily="18" charset="0"/>
                <a:cs typeface="Times New Roman" panose="02020603050405020304" pitchFamily="18" charset="0"/>
              </a:rPr>
              <a:t>: which returns true if socket is closed.</a:t>
            </a:r>
          </a:p>
          <a:p>
            <a:pPr marL="457200" lvl="3" indent="0">
              <a:buNone/>
            </a:pPr>
            <a:endParaRPr lang="en-IN" sz="1600" b="1" dirty="0">
              <a:latin typeface="Times New Roman" panose="02020603050405020304" pitchFamily="18" charset="0"/>
              <a:cs typeface="Times New Roman" panose="02020603050405020304" pitchFamily="18" charset="0"/>
            </a:endParaRPr>
          </a:p>
          <a:p>
            <a:pPr marL="457200" lvl="3" indent="0"/>
            <a:endParaRPr lang="en-US"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862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DF7AF2-BE2A-9BC8-6171-185F0F6F5493}"/>
              </a:ext>
            </a:extLst>
          </p:cNvPr>
          <p:cNvSpPr>
            <a:spLocks noGrp="1"/>
          </p:cNvSpPr>
          <p:nvPr>
            <p:ph idx="1"/>
          </p:nvPr>
        </p:nvSpPr>
        <p:spPr>
          <a:xfrm>
            <a:off x="711741" y="804221"/>
            <a:ext cx="10515600" cy="5353388"/>
          </a:xfrm>
        </p:spPr>
        <p:txBody>
          <a:bodyPr>
            <a:normAutofit/>
          </a:bodyPr>
          <a:lstStyle/>
          <a:p>
            <a:r>
              <a:rPr lang="en-US" sz="2000" dirty="0">
                <a:effectLst/>
                <a:latin typeface="Times New Roman" panose="02020603050405020304" pitchFamily="18" charset="0"/>
              </a:rPr>
              <a:t>Here is how the program works. </a:t>
            </a:r>
          </a:p>
          <a:p>
            <a:r>
              <a:rPr lang="en-US" sz="2000" dirty="0">
                <a:effectLst/>
                <a:latin typeface="Times New Roman" panose="02020603050405020304" pitchFamily="18" charset="0"/>
              </a:rPr>
              <a:t>First, a Socket is constructed that specifies the host name "whois.internic.net" and the port number 43. </a:t>
            </a:r>
          </a:p>
          <a:p>
            <a:r>
              <a:rPr lang="en-US" sz="2000" dirty="0">
                <a:effectLst/>
                <a:latin typeface="Times New Roman" panose="02020603050405020304" pitchFamily="18" charset="0"/>
              </a:rPr>
              <a:t>Internic.net is the </a:t>
            </a:r>
            <a:r>
              <a:rPr lang="en-US" sz="2000" dirty="0" err="1">
                <a:effectLst/>
                <a:latin typeface="Times New Roman" panose="02020603050405020304" pitchFamily="18" charset="0"/>
              </a:rPr>
              <a:t>InterNIC</a:t>
            </a:r>
            <a:r>
              <a:rPr lang="en-US" sz="2000" dirty="0">
                <a:effectLst/>
                <a:latin typeface="Times New Roman" panose="02020603050405020304" pitchFamily="18" charset="0"/>
              </a:rPr>
              <a:t> web site that handles </a:t>
            </a:r>
            <a:r>
              <a:rPr lang="en-US" sz="2000" dirty="0" err="1">
                <a:effectLst/>
                <a:latin typeface="Times New Roman" panose="02020603050405020304" pitchFamily="18" charset="0"/>
              </a:rPr>
              <a:t>whois</a:t>
            </a:r>
            <a:r>
              <a:rPr lang="en-US" sz="2000" dirty="0">
                <a:effectLst/>
                <a:latin typeface="Times New Roman" panose="02020603050405020304" pitchFamily="18" charset="0"/>
              </a:rPr>
              <a:t> requests. Port 43 is the </a:t>
            </a:r>
            <a:r>
              <a:rPr lang="en-US" sz="2000" dirty="0" err="1">
                <a:effectLst/>
                <a:latin typeface="Times New Roman" panose="02020603050405020304" pitchFamily="18" charset="0"/>
              </a:rPr>
              <a:t>whois</a:t>
            </a:r>
            <a:r>
              <a:rPr lang="en-US" sz="2000" dirty="0">
                <a:effectLst/>
                <a:latin typeface="Times New Roman" panose="02020603050405020304" pitchFamily="18" charset="0"/>
              </a:rPr>
              <a:t> port.</a:t>
            </a:r>
          </a:p>
          <a:p>
            <a:r>
              <a:rPr lang="en-US" sz="2000" dirty="0">
                <a:effectLst/>
                <a:latin typeface="Times New Roman" panose="02020603050405020304" pitchFamily="18" charset="0"/>
              </a:rPr>
              <a:t> Next, both input and output streams are opened on the socket. </a:t>
            </a:r>
          </a:p>
          <a:p>
            <a:r>
              <a:rPr lang="en-US" sz="2000" dirty="0">
                <a:effectLst/>
                <a:latin typeface="Times New Roman" panose="02020603050405020304" pitchFamily="18" charset="0"/>
              </a:rPr>
              <a:t>Then, a string is constructed that contains the name of the web site you want to obtain information about. </a:t>
            </a:r>
          </a:p>
          <a:p>
            <a:r>
              <a:rPr lang="en-US" sz="2000" dirty="0">
                <a:effectLst/>
                <a:latin typeface="Times New Roman" panose="02020603050405020304" pitchFamily="18" charset="0"/>
              </a:rPr>
              <a:t>In this case, if no web site is specified on the command line, then "MHProfessional.com" is used. </a:t>
            </a:r>
          </a:p>
          <a:p>
            <a:r>
              <a:rPr lang="en-US" sz="2000" dirty="0">
                <a:effectLst/>
                <a:latin typeface="Times New Roman" panose="02020603050405020304" pitchFamily="18" charset="0"/>
              </a:rPr>
              <a:t>The string is converted into a byte array and then sent out of the socket. </a:t>
            </a:r>
          </a:p>
          <a:p>
            <a:r>
              <a:rPr lang="en-US" sz="2000" dirty="0">
                <a:effectLst/>
                <a:latin typeface="Times New Roman" panose="02020603050405020304" pitchFamily="18" charset="0"/>
              </a:rPr>
              <a:t>The response is read by inputting from the socket, and the results are displayed. </a:t>
            </a:r>
          </a:p>
          <a:p>
            <a:r>
              <a:rPr lang="en-US" sz="2000" dirty="0">
                <a:effectLst/>
                <a:latin typeface="Times New Roman" panose="02020603050405020304" pitchFamily="18" charset="0"/>
              </a:rPr>
              <a:t>Finally, the socket is closed, which also closes the I/O streams.</a:t>
            </a:r>
            <a:endParaRPr lang="en-IN" sz="2000" dirty="0"/>
          </a:p>
        </p:txBody>
      </p:sp>
    </p:spTree>
    <p:extLst>
      <p:ext uri="{BB962C8B-B14F-4D97-AF65-F5344CB8AC3E}">
        <p14:creationId xmlns:p14="http://schemas.microsoft.com/office/powerpoint/2010/main" val="36557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DE9C4F-5370-D12F-74F3-5CC3F1D82159}"/>
              </a:ext>
            </a:extLst>
          </p:cNvPr>
          <p:cNvSpPr txBox="1"/>
          <p:nvPr/>
        </p:nvSpPr>
        <p:spPr>
          <a:xfrm>
            <a:off x="408562" y="148471"/>
            <a:ext cx="9277754" cy="5262979"/>
          </a:xfrm>
          <a:prstGeom prst="rect">
            <a:avLst/>
          </a:prstGeom>
          <a:noFill/>
        </p:spPr>
        <p:txBody>
          <a:bodyPr wrap="square">
            <a:spAutoFit/>
          </a:bodyPr>
          <a:lstStyle/>
          <a:p>
            <a:r>
              <a:rPr lang="en-IN" sz="1600" dirty="0"/>
              <a:t>// Demonstrate Sockets.</a:t>
            </a:r>
          </a:p>
          <a:p>
            <a:r>
              <a:rPr lang="en-IN" sz="1600" dirty="0"/>
              <a:t>import java.net.*;</a:t>
            </a:r>
          </a:p>
          <a:p>
            <a:r>
              <a:rPr lang="en-IN" sz="1600" dirty="0"/>
              <a:t>import java.io.*;</a:t>
            </a:r>
          </a:p>
          <a:p>
            <a:r>
              <a:rPr lang="en-IN" sz="1600" dirty="0"/>
              <a:t>class </a:t>
            </a:r>
            <a:r>
              <a:rPr lang="en-IN" sz="1600" dirty="0" err="1"/>
              <a:t>Whois</a:t>
            </a:r>
            <a:r>
              <a:rPr lang="en-IN" sz="1600" dirty="0"/>
              <a:t> </a:t>
            </a:r>
          </a:p>
          <a:p>
            <a:r>
              <a:rPr lang="en-IN" sz="1600" dirty="0"/>
              <a:t>{</a:t>
            </a:r>
          </a:p>
          <a:p>
            <a:r>
              <a:rPr lang="en-IN" sz="1600" dirty="0"/>
              <a:t>	public static void main(String </a:t>
            </a:r>
            <a:r>
              <a:rPr lang="en-IN" sz="1600" dirty="0" err="1"/>
              <a:t>args</a:t>
            </a:r>
            <a:r>
              <a:rPr lang="en-IN" sz="1600" dirty="0"/>
              <a:t>[]) throws Exception </a:t>
            </a:r>
          </a:p>
          <a:p>
            <a:r>
              <a:rPr lang="en-IN" sz="1600" dirty="0"/>
              <a:t>	{</a:t>
            </a:r>
          </a:p>
          <a:p>
            <a:r>
              <a:rPr lang="en-IN" sz="1600" dirty="0"/>
              <a:t>		int c;</a:t>
            </a:r>
          </a:p>
          <a:p>
            <a:r>
              <a:rPr lang="en-IN" sz="1600" dirty="0"/>
              <a:t>		Socket s = new Socket("whois.internic.net", 43);</a:t>
            </a:r>
          </a:p>
          <a:p>
            <a:r>
              <a:rPr lang="en-IN" sz="1600" dirty="0"/>
              <a:t>		</a:t>
            </a:r>
            <a:r>
              <a:rPr lang="en-IN" sz="1600" dirty="0" err="1"/>
              <a:t>InputStream</a:t>
            </a:r>
            <a:r>
              <a:rPr lang="en-IN" sz="1600" dirty="0"/>
              <a:t> in = </a:t>
            </a:r>
            <a:r>
              <a:rPr lang="en-IN" sz="1600" dirty="0" err="1"/>
              <a:t>s.getInputStream</a:t>
            </a:r>
            <a:r>
              <a:rPr lang="en-IN" sz="1600" dirty="0"/>
              <a:t>();</a:t>
            </a:r>
          </a:p>
          <a:p>
            <a:r>
              <a:rPr lang="en-IN" sz="1600" dirty="0"/>
              <a:t>		</a:t>
            </a:r>
            <a:r>
              <a:rPr lang="en-IN" sz="1600" dirty="0" err="1"/>
              <a:t>OutputStream</a:t>
            </a:r>
            <a:r>
              <a:rPr lang="en-IN" sz="1600" dirty="0"/>
              <a:t> out = </a:t>
            </a:r>
            <a:r>
              <a:rPr lang="en-IN" sz="1600" dirty="0" err="1"/>
              <a:t>s.getOutputStream</a:t>
            </a:r>
            <a:r>
              <a:rPr lang="en-IN" sz="1600" dirty="0"/>
              <a:t>();</a:t>
            </a:r>
          </a:p>
          <a:p>
            <a:r>
              <a:rPr lang="en-IN" sz="1600" dirty="0"/>
              <a:t>		String str = (</a:t>
            </a:r>
            <a:r>
              <a:rPr lang="en-IN" sz="1600" dirty="0" err="1"/>
              <a:t>args.length</a:t>
            </a:r>
            <a:r>
              <a:rPr lang="en-IN" sz="1600" dirty="0"/>
              <a:t> == 0 ? "MHProfessional.com" : </a:t>
            </a:r>
            <a:r>
              <a:rPr lang="en-IN" sz="1600" dirty="0" err="1"/>
              <a:t>args</a:t>
            </a:r>
            <a:r>
              <a:rPr lang="en-IN" sz="1600" dirty="0"/>
              <a:t>[0]) + "\n";</a:t>
            </a:r>
          </a:p>
          <a:p>
            <a:r>
              <a:rPr lang="en-IN" sz="1600" dirty="0"/>
              <a:t>		byte </a:t>
            </a:r>
            <a:r>
              <a:rPr lang="en-IN" sz="1600" dirty="0" err="1"/>
              <a:t>buf</a:t>
            </a:r>
            <a:r>
              <a:rPr lang="en-IN" sz="1600" dirty="0"/>
              <a:t>[] = </a:t>
            </a:r>
            <a:r>
              <a:rPr lang="en-IN" sz="1600" dirty="0" err="1"/>
              <a:t>str.getBytes</a:t>
            </a:r>
            <a:r>
              <a:rPr lang="en-IN" sz="1600" dirty="0"/>
              <a:t>();</a:t>
            </a:r>
          </a:p>
          <a:p>
            <a:r>
              <a:rPr lang="en-IN" sz="1600" dirty="0"/>
              <a:t>		</a:t>
            </a:r>
            <a:r>
              <a:rPr lang="en-IN" sz="1600" dirty="0" err="1"/>
              <a:t>out.write</a:t>
            </a:r>
            <a:r>
              <a:rPr lang="en-IN" sz="1600" dirty="0"/>
              <a:t>(</a:t>
            </a:r>
            <a:r>
              <a:rPr lang="en-IN" sz="1600" dirty="0" err="1"/>
              <a:t>buf</a:t>
            </a:r>
            <a:r>
              <a:rPr lang="en-IN" sz="1600" dirty="0"/>
              <a:t>);</a:t>
            </a:r>
          </a:p>
          <a:p>
            <a:r>
              <a:rPr lang="en-IN" sz="1600" dirty="0"/>
              <a:t>		</a:t>
            </a:r>
          </a:p>
          <a:p>
            <a:r>
              <a:rPr lang="en-IN" sz="1600" dirty="0"/>
              <a:t>		while ((c = </a:t>
            </a:r>
            <a:r>
              <a:rPr lang="en-IN" sz="1600" dirty="0" err="1"/>
              <a:t>in.read</a:t>
            </a:r>
            <a:r>
              <a:rPr lang="en-IN" sz="1600" dirty="0"/>
              <a:t>()) != -1) </a:t>
            </a:r>
          </a:p>
          <a:p>
            <a:r>
              <a:rPr lang="en-IN" sz="1600" dirty="0"/>
              <a:t>		</a:t>
            </a:r>
            <a:r>
              <a:rPr lang="en-IN" sz="1600" dirty="0" err="1"/>
              <a:t>System.out.print</a:t>
            </a:r>
            <a:r>
              <a:rPr lang="en-IN" sz="1600" dirty="0"/>
              <a:t>((char) c);</a:t>
            </a:r>
          </a:p>
          <a:p>
            <a:endParaRPr lang="en-IN" sz="1600" dirty="0"/>
          </a:p>
          <a:p>
            <a:r>
              <a:rPr lang="en-IN" sz="1600" dirty="0"/>
              <a:t>		</a:t>
            </a:r>
            <a:r>
              <a:rPr lang="en-IN" sz="1600" dirty="0" err="1"/>
              <a:t>s.close</a:t>
            </a:r>
            <a:r>
              <a:rPr lang="en-IN" sz="1600" dirty="0"/>
              <a:t>();</a:t>
            </a:r>
          </a:p>
          <a:p>
            <a:r>
              <a:rPr lang="en-IN" sz="1600" dirty="0"/>
              <a:t>}</a:t>
            </a:r>
          </a:p>
          <a:p>
            <a:r>
              <a:rPr lang="en-IN" sz="1600" dirty="0"/>
              <a:t>}</a:t>
            </a:r>
          </a:p>
        </p:txBody>
      </p:sp>
      <p:sp>
        <p:nvSpPr>
          <p:cNvPr id="7" name="TextBox 6">
            <a:extLst>
              <a:ext uri="{FF2B5EF4-FFF2-40B4-BE49-F238E27FC236}">
                <a16:creationId xmlns:a16="http://schemas.microsoft.com/office/drawing/2014/main" id="{A09F6F03-B2CA-CDB0-5C34-FB8F83B47AAE}"/>
              </a:ext>
            </a:extLst>
          </p:cNvPr>
          <p:cNvSpPr txBox="1"/>
          <p:nvPr/>
        </p:nvSpPr>
        <p:spPr>
          <a:xfrm>
            <a:off x="5265095" y="3265226"/>
            <a:ext cx="6094378" cy="3416320"/>
          </a:xfrm>
          <a:prstGeom prst="rect">
            <a:avLst/>
          </a:prstGeom>
          <a:noFill/>
        </p:spPr>
        <p:txBody>
          <a:bodyPr wrap="square">
            <a:spAutoFit/>
          </a:bodyPr>
          <a:lstStyle/>
          <a:p>
            <a:r>
              <a:rPr lang="en-IN" b="1" dirty="0"/>
              <a:t>C:\java\lab&gt;javac Whois.java</a:t>
            </a:r>
          </a:p>
          <a:p>
            <a:endParaRPr lang="en-IN" b="1" dirty="0"/>
          </a:p>
          <a:p>
            <a:r>
              <a:rPr lang="en-IN" b="1" dirty="0"/>
              <a:t>C:\java\lab&gt;java </a:t>
            </a:r>
            <a:r>
              <a:rPr lang="en-IN" b="1" dirty="0" err="1"/>
              <a:t>Whois</a:t>
            </a:r>
            <a:endParaRPr lang="en-IN" b="1" dirty="0"/>
          </a:p>
          <a:p>
            <a:r>
              <a:rPr lang="en-IN" b="1" dirty="0"/>
              <a:t>   Domain Name: MHPROFESSIONAL.COM</a:t>
            </a:r>
          </a:p>
          <a:p>
            <a:r>
              <a:rPr lang="en-IN" b="1" dirty="0"/>
              <a:t>   Registry Domain ID: 479181747_DOMAIN_COM-VRSN</a:t>
            </a:r>
          </a:p>
          <a:p>
            <a:r>
              <a:rPr lang="en-IN" b="1" dirty="0"/>
              <a:t>   Registrar WHOIS Server: whois.corporatedomains.com</a:t>
            </a:r>
          </a:p>
          <a:p>
            <a:r>
              <a:rPr lang="en-IN" b="1" dirty="0"/>
              <a:t>   Registrar URL: http://cscdbs.com</a:t>
            </a:r>
          </a:p>
          <a:p>
            <a:r>
              <a:rPr lang="en-IN" b="1" dirty="0"/>
              <a:t>   Updated Date: 2022-06-05T05:15:14Z</a:t>
            </a:r>
          </a:p>
          <a:p>
            <a:r>
              <a:rPr lang="en-IN" b="1" dirty="0"/>
              <a:t>   Creation Date: 2006-06-09T16:44:39Z</a:t>
            </a:r>
          </a:p>
          <a:p>
            <a:r>
              <a:rPr lang="en-IN" b="1" dirty="0"/>
              <a:t>   Registry Expiry Date: 2023-06-09T16:44:39Z</a:t>
            </a:r>
          </a:p>
          <a:p>
            <a:r>
              <a:rPr lang="en-IN" b="1" dirty="0"/>
              <a:t>   Registrar: CSC Corporate Domains, Inc.</a:t>
            </a:r>
          </a:p>
          <a:p>
            <a:r>
              <a:rPr lang="en-IN" b="1" dirty="0"/>
              <a:t>   </a:t>
            </a:r>
          </a:p>
        </p:txBody>
      </p:sp>
    </p:spTree>
    <p:extLst>
      <p:ext uri="{BB962C8B-B14F-4D97-AF65-F5344CB8AC3E}">
        <p14:creationId xmlns:p14="http://schemas.microsoft.com/office/powerpoint/2010/main" val="2407509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F5BE39-414C-8593-7B11-FAE3EB80407E}"/>
              </a:ext>
            </a:extLst>
          </p:cNvPr>
          <p:cNvSpPr>
            <a:spLocks noGrp="1"/>
          </p:cNvSpPr>
          <p:nvPr>
            <p:ph type="title"/>
          </p:nvPr>
        </p:nvSpPr>
        <p:spPr>
          <a:xfrm>
            <a:off x="838200" y="277576"/>
            <a:ext cx="10515600" cy="549275"/>
          </a:xfrm>
        </p:spPr>
        <p:txBody>
          <a:bodyPr>
            <a:normAutofit fontScale="90000"/>
          </a:bodyPr>
          <a:lstStyle/>
          <a:p>
            <a:pPr algn="ctr"/>
            <a:r>
              <a:rPr lang="en-IN" dirty="0">
                <a:latin typeface="Times New Roman" panose="02020603050405020304" pitchFamily="18" charset="0"/>
                <a:cs typeface="Times New Roman" panose="02020603050405020304" pitchFamily="18" charset="0"/>
              </a:rPr>
              <a:t>Socket class</a:t>
            </a:r>
          </a:p>
        </p:txBody>
      </p:sp>
      <p:sp>
        <p:nvSpPr>
          <p:cNvPr id="5" name="Content Placeholder 4">
            <a:extLst>
              <a:ext uri="{FF2B5EF4-FFF2-40B4-BE49-F238E27FC236}">
                <a16:creationId xmlns:a16="http://schemas.microsoft.com/office/drawing/2014/main" id="{D5B56A78-1524-3566-6986-B01053229705}"/>
              </a:ext>
            </a:extLst>
          </p:cNvPr>
          <p:cNvSpPr>
            <a:spLocks noGrp="1"/>
          </p:cNvSpPr>
          <p:nvPr>
            <p:ph idx="1"/>
          </p:nvPr>
        </p:nvSpPr>
        <p:spPr>
          <a:xfrm>
            <a:off x="838200" y="1253331"/>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A socket is simply an endpoint for communications between the machines. The Socket class can be used to create a socket.</a:t>
            </a:r>
          </a:p>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Methods of Socket Class</a:t>
            </a:r>
            <a:endParaRPr lang="en-IN" sz="2400" b="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public </a:t>
            </a:r>
            <a:r>
              <a:rPr lang="en-IN" sz="1600" dirty="0" err="1">
                <a:latin typeface="Times New Roman" panose="02020603050405020304" pitchFamily="18" charset="0"/>
                <a:cs typeface="Times New Roman" panose="02020603050405020304" pitchFamily="18" charset="0"/>
              </a:rPr>
              <a:t>InputStream</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getInputStream</a:t>
            </a:r>
            <a:r>
              <a:rPr lang="en-IN" sz="1600" dirty="0">
                <a:latin typeface="Times New Roman" panose="02020603050405020304" pitchFamily="18" charset="0"/>
                <a:cs typeface="Times New Roman" panose="02020603050405020304" pitchFamily="18" charset="0"/>
              </a:rPr>
              <a:t>() :  return the input stream connected with the socket</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public </a:t>
            </a:r>
            <a:r>
              <a:rPr lang="en-IN" sz="1600" dirty="0" err="1">
                <a:latin typeface="Times New Roman" panose="02020603050405020304" pitchFamily="18" charset="0"/>
                <a:cs typeface="Times New Roman" panose="02020603050405020304" pitchFamily="18" charset="0"/>
              </a:rPr>
              <a:t>OutputStream</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getOutputStream</a:t>
            </a:r>
            <a:r>
              <a:rPr lang="en-IN" sz="1600" dirty="0">
                <a:latin typeface="Times New Roman" panose="02020603050405020304" pitchFamily="18" charset="0"/>
                <a:cs typeface="Times New Roman" panose="02020603050405020304" pitchFamily="18" charset="0"/>
              </a:rPr>
              <a:t>() : return the output stream connected with socket</a:t>
            </a:r>
          </a:p>
          <a:p>
            <a:pPr marL="342900" indent="-342900">
              <a:buFont typeface="+mj-lt"/>
              <a:buAutoNum type="arabicPeriod"/>
            </a:pPr>
            <a:r>
              <a:rPr lang="en-IN" sz="1600" dirty="0">
                <a:latin typeface="Times New Roman" panose="02020603050405020304" pitchFamily="18" charset="0"/>
                <a:cs typeface="Times New Roman" panose="02020603050405020304" pitchFamily="18" charset="0"/>
              </a:rPr>
              <a:t>public synchronized void close(): closes the socket.</a:t>
            </a:r>
          </a:p>
          <a:p>
            <a:pPr marL="0" indent="0">
              <a:buNone/>
            </a:pPr>
            <a:r>
              <a:rPr lang="en-IN" sz="1600" dirty="0"/>
              <a:t> </a:t>
            </a:r>
          </a:p>
          <a:p>
            <a:pPr marL="0" indent="0">
              <a:buNone/>
            </a:pPr>
            <a:endParaRPr lang="en-IN" sz="1600" dirty="0"/>
          </a:p>
          <a:p>
            <a:pPr marL="342900" indent="-342900">
              <a:buFont typeface="+mj-lt"/>
              <a:buAutoNum type="arabicPeriod"/>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4407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33E5-2461-D0EA-3066-AAFBE5698348}"/>
              </a:ext>
            </a:extLst>
          </p:cNvPr>
          <p:cNvSpPr>
            <a:spLocks noGrp="1"/>
          </p:cNvSpPr>
          <p:nvPr>
            <p:ph type="title"/>
          </p:nvPr>
        </p:nvSpPr>
        <p:spPr>
          <a:xfrm>
            <a:off x="838200" y="352897"/>
            <a:ext cx="10515600" cy="656279"/>
          </a:xfrm>
        </p:spPr>
        <p:txBody>
          <a:bodyPr>
            <a:normAutofit fontScale="90000"/>
          </a:bodyPr>
          <a:lstStyle/>
          <a:p>
            <a:pPr algn="ctr"/>
            <a:r>
              <a:rPr lang="en-IN" dirty="0"/>
              <a:t>Server Socket Class</a:t>
            </a:r>
          </a:p>
        </p:txBody>
      </p:sp>
      <p:sp>
        <p:nvSpPr>
          <p:cNvPr id="3" name="Content Placeholder 2">
            <a:extLst>
              <a:ext uri="{FF2B5EF4-FFF2-40B4-BE49-F238E27FC236}">
                <a16:creationId xmlns:a16="http://schemas.microsoft.com/office/drawing/2014/main" id="{FA67549B-6B7A-2242-8A76-DBF8674A1E38}"/>
              </a:ext>
            </a:extLst>
          </p:cNvPr>
          <p:cNvSpPr>
            <a:spLocks noGrp="1"/>
          </p:cNvSpPr>
          <p:nvPr>
            <p:ph idx="1"/>
          </p:nvPr>
        </p:nvSpPr>
        <p:spPr>
          <a:xfrm>
            <a:off x="838200" y="1436519"/>
            <a:ext cx="10515600" cy="4351338"/>
          </a:xfrm>
        </p:spPr>
        <p:txBody>
          <a:bodyPr/>
          <a:lstStyle/>
          <a:p>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ServerSocket</a:t>
            </a:r>
            <a:r>
              <a:rPr lang="en-US" dirty="0">
                <a:latin typeface="Times New Roman" panose="02020603050405020304" pitchFamily="18" charset="0"/>
                <a:cs typeface="Times New Roman" panose="02020603050405020304" pitchFamily="18" charset="0"/>
              </a:rPr>
              <a:t> class can be used to create a server socket. This object is used to establish communication with the clients.</a:t>
            </a:r>
          </a:p>
          <a:p>
            <a:pPr marL="0" indent="0" algn="ctr">
              <a:buNone/>
            </a:pPr>
            <a:r>
              <a:rPr lang="en-US" b="1" dirty="0">
                <a:latin typeface="Times New Roman" panose="02020603050405020304" pitchFamily="18" charset="0"/>
                <a:cs typeface="Times New Roman" panose="02020603050405020304" pitchFamily="18" charset="0"/>
              </a:rPr>
              <a:t>Methods of Server Socket Class</a:t>
            </a:r>
          </a:p>
          <a:p>
            <a:pPr marL="514350" indent="-514350">
              <a:buAutoNum type="arabicPeriod"/>
            </a:pPr>
            <a:r>
              <a:rPr lang="en-US" dirty="0">
                <a:latin typeface="Times New Roman" panose="02020603050405020304" pitchFamily="18" charset="0"/>
                <a:cs typeface="Times New Roman" panose="02020603050405020304" pitchFamily="18" charset="0"/>
              </a:rPr>
              <a:t>public Socket accept () : return the socket and establish a connection between server and client.</a:t>
            </a:r>
          </a:p>
          <a:p>
            <a:pPr marL="514350" indent="-514350">
              <a:buAutoNum type="arabicPeriod"/>
            </a:pPr>
            <a:r>
              <a:rPr lang="en-US" dirty="0">
                <a:latin typeface="Times New Roman" panose="02020603050405020304" pitchFamily="18" charset="0"/>
                <a:cs typeface="Times New Roman" panose="02020603050405020304" pitchFamily="18" charset="0"/>
              </a:rPr>
              <a:t> public synchronized void close () : close the server socket</a:t>
            </a:r>
            <a:endParaRPr lang="en-US"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016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D0FA-2615-4B7A-22A7-87398476CBE3}"/>
              </a:ext>
            </a:extLst>
          </p:cNvPr>
          <p:cNvSpPr>
            <a:spLocks noGrp="1"/>
          </p:cNvSpPr>
          <p:nvPr>
            <p:ph type="title"/>
          </p:nvPr>
        </p:nvSpPr>
        <p:spPr>
          <a:xfrm>
            <a:off x="838200" y="365126"/>
            <a:ext cx="10515600" cy="627096"/>
          </a:xfrm>
        </p:spPr>
        <p:txBody>
          <a:bodyPr>
            <a:normAutofit fontScale="90000"/>
          </a:bodyPr>
          <a:lstStyle/>
          <a:p>
            <a:pPr algn="ctr"/>
            <a:r>
              <a:rPr lang="en-IN" dirty="0"/>
              <a:t>Example of Java Socket Programming</a:t>
            </a:r>
          </a:p>
        </p:txBody>
      </p:sp>
      <p:sp>
        <p:nvSpPr>
          <p:cNvPr id="3" name="Content Placeholder 2">
            <a:extLst>
              <a:ext uri="{FF2B5EF4-FFF2-40B4-BE49-F238E27FC236}">
                <a16:creationId xmlns:a16="http://schemas.microsoft.com/office/drawing/2014/main" id="{C340CE13-8465-7061-6A01-043BEA1CF088}"/>
              </a:ext>
            </a:extLst>
          </p:cNvPr>
          <p:cNvSpPr>
            <a:spLocks noGrp="1"/>
          </p:cNvSpPr>
          <p:nvPr>
            <p:ph idx="1"/>
          </p:nvPr>
        </p:nvSpPr>
        <p:spPr>
          <a:xfrm>
            <a:off x="760378" y="1253331"/>
            <a:ext cx="10515600" cy="4351338"/>
          </a:xfrm>
        </p:spPr>
        <p:txBody>
          <a:bodyPr>
            <a:normAutofit/>
          </a:bodyPr>
          <a:lstStyle/>
          <a:p>
            <a:pPr marL="0" indent="0">
              <a:buNone/>
            </a:pPr>
            <a:r>
              <a:rPr lang="en-IN" sz="2000" b="1" dirty="0">
                <a:latin typeface="Times New Roman" panose="02020603050405020304" pitchFamily="18" charset="0"/>
                <a:cs typeface="Times New Roman" panose="02020603050405020304" pitchFamily="18" charset="0"/>
              </a:rPr>
              <a:t>Creating Server:</a:t>
            </a:r>
          </a:p>
          <a:p>
            <a:r>
              <a:rPr lang="en-US" sz="2000" dirty="0">
                <a:latin typeface="Times New Roman" panose="02020603050405020304" pitchFamily="18" charset="0"/>
                <a:cs typeface="Times New Roman" panose="02020603050405020304" pitchFamily="18" charset="0"/>
              </a:rPr>
              <a:t>To create the server application, we need to create the instance of </a:t>
            </a:r>
            <a:r>
              <a:rPr lang="en-US" sz="2000" dirty="0" err="1">
                <a:latin typeface="Times New Roman" panose="02020603050405020304" pitchFamily="18" charset="0"/>
                <a:cs typeface="Times New Roman" panose="02020603050405020304" pitchFamily="18" charset="0"/>
              </a:rPr>
              <a:t>ServerSocket</a:t>
            </a:r>
            <a:r>
              <a:rPr lang="en-US" sz="2000" dirty="0">
                <a:latin typeface="Times New Roman" panose="02020603050405020304" pitchFamily="18" charset="0"/>
                <a:cs typeface="Times New Roman" panose="02020603050405020304" pitchFamily="18" charset="0"/>
              </a:rPr>
              <a:t> class. </a:t>
            </a:r>
          </a:p>
          <a:p>
            <a:r>
              <a:rPr lang="en-US" sz="2000" dirty="0">
                <a:latin typeface="Times New Roman" panose="02020603050405020304" pitchFamily="18" charset="0"/>
                <a:cs typeface="Times New Roman" panose="02020603050405020304" pitchFamily="18" charset="0"/>
              </a:rPr>
              <a:t>Here, we are using 6666 port number for the communication between the client and server. </a:t>
            </a:r>
          </a:p>
          <a:p>
            <a:r>
              <a:rPr lang="en-US" sz="2000" dirty="0">
                <a:latin typeface="Times New Roman" panose="02020603050405020304" pitchFamily="18" charset="0"/>
                <a:cs typeface="Times New Roman" panose="02020603050405020304" pitchFamily="18" charset="0"/>
              </a:rPr>
              <a:t>You may also choose any other port number. The accept() method waits for the client. </a:t>
            </a:r>
          </a:p>
          <a:p>
            <a:r>
              <a:rPr lang="en-US" sz="2000" dirty="0">
                <a:latin typeface="Times New Roman" panose="02020603050405020304" pitchFamily="18" charset="0"/>
                <a:cs typeface="Times New Roman" panose="02020603050405020304" pitchFamily="18" charset="0"/>
              </a:rPr>
              <a:t>If clients connects with the given port number, it returns an instance of Socket.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err="1">
                <a:latin typeface="Times New Roman" panose="02020603050405020304" pitchFamily="18" charset="0"/>
                <a:cs typeface="Times New Roman" panose="02020603050405020304" pitchFamily="18" charset="0"/>
              </a:rPr>
              <a:t>ServerSocket</a:t>
            </a:r>
            <a:r>
              <a:rPr lang="en-US" sz="2000" b="1" dirty="0">
                <a:latin typeface="Times New Roman" panose="02020603050405020304" pitchFamily="18" charset="0"/>
                <a:cs typeface="Times New Roman" panose="02020603050405020304" pitchFamily="18" charset="0"/>
              </a:rPr>
              <a:t> ss = new </a:t>
            </a:r>
            <a:r>
              <a:rPr lang="en-US" sz="2000" b="1" dirty="0" err="1">
                <a:latin typeface="Times New Roman" panose="02020603050405020304" pitchFamily="18" charset="0"/>
                <a:cs typeface="Times New Roman" panose="02020603050405020304" pitchFamily="18" charset="0"/>
              </a:rPr>
              <a:t>ServerSocket</a:t>
            </a:r>
            <a:r>
              <a:rPr lang="en-US" sz="2000" b="1" dirty="0">
                <a:latin typeface="Times New Roman" panose="02020603050405020304" pitchFamily="18" charset="0"/>
                <a:cs typeface="Times New Roman" panose="02020603050405020304" pitchFamily="18" charset="0"/>
              </a:rPr>
              <a:t>(6666);</a:t>
            </a:r>
          </a:p>
          <a:p>
            <a:pPr marL="0" indent="0">
              <a:buNone/>
            </a:pPr>
            <a:r>
              <a:rPr lang="en-US" sz="2000" b="1" dirty="0">
                <a:latin typeface="Times New Roman" panose="02020603050405020304" pitchFamily="18" charset="0"/>
                <a:cs typeface="Times New Roman" panose="02020603050405020304" pitchFamily="18" charset="0"/>
              </a:rPr>
              <a:t>Socket s = ss. accept();  // establishes connection and waits for the client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091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7E833D-24A2-058D-7F98-5BAFC89BA5D9}"/>
              </a:ext>
            </a:extLst>
          </p:cNvPr>
          <p:cNvSpPr>
            <a:spLocks noGrp="1"/>
          </p:cNvSpPr>
          <p:nvPr>
            <p:ph idx="1"/>
          </p:nvPr>
        </p:nvSpPr>
        <p:spPr>
          <a:xfrm>
            <a:off x="925749" y="979318"/>
            <a:ext cx="10515600" cy="4351338"/>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Creating Client:</a:t>
            </a:r>
          </a:p>
          <a:p>
            <a:r>
              <a:rPr lang="en-US" sz="2000" dirty="0">
                <a:latin typeface="Times New Roman" panose="02020603050405020304" pitchFamily="18" charset="0"/>
                <a:cs typeface="Times New Roman" panose="02020603050405020304" pitchFamily="18" charset="0"/>
              </a:rPr>
              <a:t>To create the client application, we need to create the instance of Socket class. </a:t>
            </a:r>
          </a:p>
          <a:p>
            <a:r>
              <a:rPr lang="en-US" sz="2000" dirty="0">
                <a:latin typeface="Times New Roman" panose="02020603050405020304" pitchFamily="18" charset="0"/>
                <a:cs typeface="Times New Roman" panose="02020603050405020304" pitchFamily="18" charset="0"/>
              </a:rPr>
              <a:t>Here, we need to pass the IP address or hostname of the Server and a port number. </a:t>
            </a:r>
          </a:p>
          <a:p>
            <a:r>
              <a:rPr lang="en-US" sz="2000" dirty="0">
                <a:latin typeface="Times New Roman" panose="02020603050405020304" pitchFamily="18" charset="0"/>
                <a:cs typeface="Times New Roman" panose="02020603050405020304" pitchFamily="18" charset="0"/>
              </a:rPr>
              <a:t>Here, we are using "localhost" because our server is running on same system.</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Socket s=new Socket("localhost",6666);  </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402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D6C0460-400B-3DFD-43C2-70EC7AA32647}"/>
              </a:ext>
            </a:extLst>
          </p:cNvPr>
          <p:cNvSpPr txBox="1"/>
          <p:nvPr/>
        </p:nvSpPr>
        <p:spPr>
          <a:xfrm>
            <a:off x="233463" y="163538"/>
            <a:ext cx="7188741" cy="5909310"/>
          </a:xfrm>
          <a:prstGeom prst="rect">
            <a:avLst/>
          </a:prstGeom>
          <a:noFill/>
        </p:spPr>
        <p:txBody>
          <a:bodyPr wrap="square">
            <a:spAutoFit/>
          </a:bodyPr>
          <a:lstStyle/>
          <a:p>
            <a:r>
              <a:rPr lang="en-IN" dirty="0"/>
              <a:t> import java.io.*;  </a:t>
            </a:r>
          </a:p>
          <a:p>
            <a:r>
              <a:rPr lang="en-IN" dirty="0"/>
              <a:t>    import java.net.*;  </a:t>
            </a:r>
          </a:p>
          <a:p>
            <a:r>
              <a:rPr lang="en-IN" dirty="0"/>
              <a:t>    public class </a:t>
            </a:r>
            <a:r>
              <a:rPr lang="en-IN" dirty="0" err="1"/>
              <a:t>MyServer</a:t>
            </a:r>
            <a:r>
              <a:rPr lang="en-IN" dirty="0"/>
              <a:t> </a:t>
            </a:r>
          </a:p>
          <a:p>
            <a:r>
              <a:rPr lang="en-IN" dirty="0"/>
              <a:t>	{  </a:t>
            </a:r>
          </a:p>
          <a:p>
            <a:r>
              <a:rPr lang="en-IN" dirty="0"/>
              <a:t>	public static void main(String[] </a:t>
            </a:r>
            <a:r>
              <a:rPr lang="en-IN" dirty="0" err="1"/>
              <a:t>args</a:t>
            </a:r>
            <a:r>
              <a:rPr lang="en-IN" dirty="0"/>
              <a:t>)</a:t>
            </a:r>
          </a:p>
          <a:p>
            <a:r>
              <a:rPr lang="en-IN" dirty="0"/>
              <a:t>	{  </a:t>
            </a:r>
          </a:p>
          <a:p>
            <a:r>
              <a:rPr lang="en-IN" dirty="0"/>
              <a:t>	try</a:t>
            </a:r>
          </a:p>
          <a:p>
            <a:r>
              <a:rPr lang="en-IN" dirty="0"/>
              <a:t>	{  </a:t>
            </a:r>
          </a:p>
          <a:p>
            <a:r>
              <a:rPr lang="en-IN" dirty="0"/>
              <a:t>	</a:t>
            </a:r>
            <a:r>
              <a:rPr lang="en-IN" dirty="0" err="1"/>
              <a:t>ServerSocket</a:t>
            </a:r>
            <a:r>
              <a:rPr lang="en-IN" dirty="0"/>
              <a:t> ss=new </a:t>
            </a:r>
            <a:r>
              <a:rPr lang="en-IN" dirty="0" err="1"/>
              <a:t>ServerSocket</a:t>
            </a:r>
            <a:r>
              <a:rPr lang="en-IN" dirty="0"/>
              <a:t>(6666);  </a:t>
            </a:r>
          </a:p>
          <a:p>
            <a:r>
              <a:rPr lang="en-IN" dirty="0"/>
              <a:t>	Socket s=</a:t>
            </a:r>
            <a:r>
              <a:rPr lang="en-IN" dirty="0" err="1"/>
              <a:t>ss.accept</a:t>
            </a:r>
            <a:r>
              <a:rPr lang="en-IN" dirty="0"/>
              <a:t>();//establishes connection   </a:t>
            </a:r>
          </a:p>
          <a:p>
            <a:r>
              <a:rPr lang="en-IN" dirty="0"/>
              <a:t>	</a:t>
            </a:r>
            <a:r>
              <a:rPr lang="en-IN" dirty="0" err="1"/>
              <a:t>DataInputStream</a:t>
            </a:r>
            <a:r>
              <a:rPr lang="en-IN" dirty="0"/>
              <a:t> dis=new </a:t>
            </a:r>
            <a:r>
              <a:rPr lang="en-IN" dirty="0" err="1"/>
              <a:t>DataInputStream</a:t>
            </a:r>
            <a:r>
              <a:rPr lang="en-IN" dirty="0"/>
              <a:t>(</a:t>
            </a:r>
            <a:r>
              <a:rPr lang="en-IN" dirty="0" err="1"/>
              <a:t>s.getInputStream</a:t>
            </a:r>
            <a:r>
              <a:rPr lang="en-IN" dirty="0"/>
              <a:t>());  </a:t>
            </a:r>
          </a:p>
          <a:p>
            <a:r>
              <a:rPr lang="en-IN" dirty="0"/>
              <a:t>	String str=(String)</a:t>
            </a:r>
            <a:r>
              <a:rPr lang="en-IN" dirty="0" err="1"/>
              <a:t>dis.readUTF</a:t>
            </a:r>
            <a:r>
              <a:rPr lang="en-IN" dirty="0"/>
              <a:t>();  //Unicode Translation Format</a:t>
            </a:r>
          </a:p>
          <a:p>
            <a:r>
              <a:rPr lang="en-IN" dirty="0"/>
              <a:t>	</a:t>
            </a:r>
            <a:r>
              <a:rPr lang="en-IN" dirty="0" err="1"/>
              <a:t>System.out.println</a:t>
            </a:r>
            <a:r>
              <a:rPr lang="en-IN" dirty="0"/>
              <a:t>("message= "+str);  </a:t>
            </a:r>
          </a:p>
          <a:p>
            <a:r>
              <a:rPr lang="en-IN" dirty="0"/>
              <a:t>	</a:t>
            </a:r>
            <a:r>
              <a:rPr lang="en-IN" dirty="0" err="1"/>
              <a:t>ss.close</a:t>
            </a:r>
            <a:r>
              <a:rPr lang="en-IN" dirty="0"/>
              <a:t>();  </a:t>
            </a:r>
          </a:p>
          <a:p>
            <a:r>
              <a:rPr lang="en-IN" dirty="0"/>
              <a:t>	}</a:t>
            </a:r>
          </a:p>
          <a:p>
            <a:r>
              <a:rPr lang="en-IN" dirty="0"/>
              <a:t>	catch(Exception e)</a:t>
            </a:r>
          </a:p>
          <a:p>
            <a:r>
              <a:rPr lang="en-IN" dirty="0"/>
              <a:t>	{</a:t>
            </a:r>
          </a:p>
          <a:p>
            <a:r>
              <a:rPr lang="en-IN" dirty="0"/>
              <a:t>	</a:t>
            </a:r>
            <a:r>
              <a:rPr lang="en-IN" dirty="0" err="1"/>
              <a:t>System.out.println</a:t>
            </a:r>
            <a:r>
              <a:rPr lang="en-IN" dirty="0"/>
              <a:t>(e);</a:t>
            </a:r>
          </a:p>
          <a:p>
            <a:r>
              <a:rPr lang="en-IN" dirty="0"/>
              <a:t>	}  </a:t>
            </a:r>
          </a:p>
          <a:p>
            <a:r>
              <a:rPr lang="en-IN" dirty="0"/>
              <a:t>	}  </a:t>
            </a:r>
          </a:p>
          <a:p>
            <a:r>
              <a:rPr lang="en-IN" dirty="0"/>
              <a:t>    } </a:t>
            </a:r>
          </a:p>
        </p:txBody>
      </p:sp>
      <p:sp>
        <p:nvSpPr>
          <p:cNvPr id="7" name="TextBox 6">
            <a:extLst>
              <a:ext uri="{FF2B5EF4-FFF2-40B4-BE49-F238E27FC236}">
                <a16:creationId xmlns:a16="http://schemas.microsoft.com/office/drawing/2014/main" id="{C25E5D00-CCFD-7B1F-4EFB-DD96C4013444}"/>
              </a:ext>
            </a:extLst>
          </p:cNvPr>
          <p:cNvSpPr txBox="1"/>
          <p:nvPr/>
        </p:nvSpPr>
        <p:spPr>
          <a:xfrm>
            <a:off x="6578329" y="4611309"/>
            <a:ext cx="4579297" cy="923330"/>
          </a:xfrm>
          <a:prstGeom prst="rect">
            <a:avLst/>
          </a:prstGeom>
          <a:noFill/>
        </p:spPr>
        <p:txBody>
          <a:bodyPr wrap="square">
            <a:spAutoFit/>
          </a:bodyPr>
          <a:lstStyle/>
          <a:p>
            <a:r>
              <a:rPr lang="en-IN" b="1" dirty="0"/>
              <a:t>C:\java\lab&gt;javac MyServer.java</a:t>
            </a:r>
          </a:p>
          <a:p>
            <a:endParaRPr lang="en-IN" b="1" dirty="0"/>
          </a:p>
          <a:p>
            <a:r>
              <a:rPr lang="en-IN" b="1" dirty="0"/>
              <a:t>C:\java\lab&gt;java </a:t>
            </a:r>
            <a:r>
              <a:rPr lang="en-IN" b="1" dirty="0" err="1"/>
              <a:t>MyServer</a:t>
            </a:r>
            <a:endParaRPr lang="en-IN" b="1" dirty="0"/>
          </a:p>
        </p:txBody>
      </p:sp>
    </p:spTree>
    <p:extLst>
      <p:ext uri="{BB962C8B-B14F-4D97-AF65-F5344CB8AC3E}">
        <p14:creationId xmlns:p14="http://schemas.microsoft.com/office/powerpoint/2010/main" val="278930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E32A59-6C14-184E-E81F-3460DE8BF023}"/>
              </a:ext>
            </a:extLst>
          </p:cNvPr>
          <p:cNvSpPr txBox="1"/>
          <p:nvPr/>
        </p:nvSpPr>
        <p:spPr>
          <a:xfrm>
            <a:off x="848738" y="121837"/>
            <a:ext cx="7196036" cy="5909310"/>
          </a:xfrm>
          <a:prstGeom prst="rect">
            <a:avLst/>
          </a:prstGeom>
          <a:noFill/>
        </p:spPr>
        <p:txBody>
          <a:bodyPr wrap="square">
            <a:spAutoFit/>
          </a:bodyPr>
          <a:lstStyle/>
          <a:p>
            <a:r>
              <a:rPr lang="en-IN" dirty="0"/>
              <a:t>import java.io.*;  </a:t>
            </a:r>
          </a:p>
          <a:p>
            <a:r>
              <a:rPr lang="en-IN" dirty="0"/>
              <a:t>import java.net.*;  </a:t>
            </a:r>
          </a:p>
          <a:p>
            <a:r>
              <a:rPr lang="en-IN" dirty="0"/>
              <a:t>public class </a:t>
            </a:r>
            <a:r>
              <a:rPr lang="en-IN" dirty="0" err="1"/>
              <a:t>MyClient</a:t>
            </a:r>
            <a:r>
              <a:rPr lang="en-IN" dirty="0"/>
              <a:t> </a:t>
            </a:r>
          </a:p>
          <a:p>
            <a:r>
              <a:rPr lang="en-IN" dirty="0"/>
              <a:t>{  </a:t>
            </a:r>
          </a:p>
          <a:p>
            <a:r>
              <a:rPr lang="en-IN" dirty="0"/>
              <a:t>public static void main(String[] </a:t>
            </a:r>
            <a:r>
              <a:rPr lang="en-IN" dirty="0" err="1"/>
              <a:t>args</a:t>
            </a:r>
            <a:r>
              <a:rPr lang="en-IN" dirty="0"/>
              <a:t>) </a:t>
            </a:r>
          </a:p>
          <a:p>
            <a:r>
              <a:rPr lang="en-IN" dirty="0"/>
              <a:t>{  </a:t>
            </a:r>
          </a:p>
          <a:p>
            <a:r>
              <a:rPr lang="en-IN" dirty="0"/>
              <a:t>try</a:t>
            </a:r>
          </a:p>
          <a:p>
            <a:r>
              <a:rPr lang="en-IN" dirty="0"/>
              <a:t>{      </a:t>
            </a:r>
          </a:p>
          <a:p>
            <a:r>
              <a:rPr lang="en-IN" dirty="0"/>
              <a:t>Socket s=new Socket("localhost",6666);  </a:t>
            </a:r>
          </a:p>
          <a:p>
            <a:r>
              <a:rPr lang="en-IN" dirty="0" err="1"/>
              <a:t>DataOutputStream</a:t>
            </a:r>
            <a:r>
              <a:rPr lang="en-IN" dirty="0"/>
              <a:t> </a:t>
            </a:r>
            <a:r>
              <a:rPr lang="en-IN" dirty="0" err="1"/>
              <a:t>dout</a:t>
            </a:r>
            <a:r>
              <a:rPr lang="en-IN" dirty="0"/>
              <a:t>=new </a:t>
            </a:r>
            <a:r>
              <a:rPr lang="en-IN" dirty="0" err="1"/>
              <a:t>DataOutputStream</a:t>
            </a:r>
            <a:r>
              <a:rPr lang="en-IN" dirty="0"/>
              <a:t>(</a:t>
            </a:r>
            <a:r>
              <a:rPr lang="en-IN" dirty="0" err="1"/>
              <a:t>s.getOutputStream</a:t>
            </a:r>
            <a:r>
              <a:rPr lang="en-IN" dirty="0"/>
              <a:t>());  </a:t>
            </a:r>
          </a:p>
          <a:p>
            <a:r>
              <a:rPr lang="en-IN" dirty="0" err="1"/>
              <a:t>dout.writeUTF</a:t>
            </a:r>
            <a:r>
              <a:rPr lang="en-IN" dirty="0"/>
              <a:t>("Hello Server");  </a:t>
            </a:r>
          </a:p>
          <a:p>
            <a:r>
              <a:rPr lang="en-IN" dirty="0" err="1"/>
              <a:t>dout.flush</a:t>
            </a:r>
            <a:r>
              <a:rPr lang="en-IN" dirty="0"/>
              <a:t>();  </a:t>
            </a:r>
          </a:p>
          <a:p>
            <a:r>
              <a:rPr lang="en-IN" dirty="0" err="1"/>
              <a:t>dout.close</a:t>
            </a:r>
            <a:r>
              <a:rPr lang="en-IN" dirty="0"/>
              <a:t>();  </a:t>
            </a:r>
          </a:p>
          <a:p>
            <a:r>
              <a:rPr lang="en-IN" dirty="0" err="1"/>
              <a:t>s.close</a:t>
            </a:r>
            <a:r>
              <a:rPr lang="en-IN" dirty="0"/>
              <a:t>();  </a:t>
            </a:r>
          </a:p>
          <a:p>
            <a:r>
              <a:rPr lang="en-IN" dirty="0"/>
              <a:t>}</a:t>
            </a:r>
          </a:p>
          <a:p>
            <a:r>
              <a:rPr lang="en-IN" dirty="0"/>
              <a:t>catch(Exception e)</a:t>
            </a:r>
          </a:p>
          <a:p>
            <a:r>
              <a:rPr lang="en-IN" dirty="0"/>
              <a:t>{</a:t>
            </a:r>
          </a:p>
          <a:p>
            <a:r>
              <a:rPr lang="en-IN" dirty="0" err="1"/>
              <a:t>System.out.println</a:t>
            </a:r>
            <a:r>
              <a:rPr lang="en-IN" dirty="0"/>
              <a:t>(e);</a:t>
            </a:r>
          </a:p>
          <a:p>
            <a:r>
              <a:rPr lang="en-IN" dirty="0"/>
              <a:t>}  </a:t>
            </a:r>
          </a:p>
          <a:p>
            <a:r>
              <a:rPr lang="en-IN" dirty="0"/>
              <a:t>}  </a:t>
            </a:r>
          </a:p>
          <a:p>
            <a:r>
              <a:rPr lang="en-IN" dirty="0"/>
              <a:t>} </a:t>
            </a:r>
          </a:p>
        </p:txBody>
      </p:sp>
      <p:sp>
        <p:nvSpPr>
          <p:cNvPr id="5" name="TextBox 4">
            <a:extLst>
              <a:ext uri="{FF2B5EF4-FFF2-40B4-BE49-F238E27FC236}">
                <a16:creationId xmlns:a16="http://schemas.microsoft.com/office/drawing/2014/main" id="{C6F6AD3E-BB4B-9ED2-D163-E5BF7A02FB7A}"/>
              </a:ext>
            </a:extLst>
          </p:cNvPr>
          <p:cNvSpPr txBox="1"/>
          <p:nvPr/>
        </p:nvSpPr>
        <p:spPr>
          <a:xfrm>
            <a:off x="7492729" y="4309752"/>
            <a:ext cx="3976182" cy="923330"/>
          </a:xfrm>
          <a:prstGeom prst="rect">
            <a:avLst/>
          </a:prstGeom>
          <a:noFill/>
        </p:spPr>
        <p:txBody>
          <a:bodyPr wrap="square">
            <a:spAutoFit/>
          </a:bodyPr>
          <a:lstStyle/>
          <a:p>
            <a:r>
              <a:rPr lang="en-IN" dirty="0"/>
              <a:t>C:\java\lab&gt;javac MyClient.java</a:t>
            </a:r>
          </a:p>
          <a:p>
            <a:endParaRPr lang="en-IN" dirty="0"/>
          </a:p>
          <a:p>
            <a:r>
              <a:rPr lang="en-IN" dirty="0"/>
              <a:t>C:\java\lab&gt;java </a:t>
            </a:r>
            <a:r>
              <a:rPr lang="en-IN" dirty="0" err="1"/>
              <a:t>MyClient</a:t>
            </a:r>
            <a:endParaRPr lang="en-IN" dirty="0"/>
          </a:p>
        </p:txBody>
      </p:sp>
    </p:spTree>
    <p:extLst>
      <p:ext uri="{BB962C8B-B14F-4D97-AF65-F5344CB8AC3E}">
        <p14:creationId xmlns:p14="http://schemas.microsoft.com/office/powerpoint/2010/main" val="822361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F284C-F1AB-DE40-C757-46A5523D7E86}"/>
              </a:ext>
            </a:extLst>
          </p:cNvPr>
          <p:cNvSpPr>
            <a:spLocks noGrp="1"/>
          </p:cNvSpPr>
          <p:nvPr>
            <p:ph type="title"/>
          </p:nvPr>
        </p:nvSpPr>
        <p:spPr>
          <a:xfrm>
            <a:off x="838200" y="248393"/>
            <a:ext cx="10515600" cy="597913"/>
          </a:xfrm>
        </p:spPr>
        <p:txBody>
          <a:bodyPr>
            <a:noAutofit/>
          </a:bodyPr>
          <a:lstStyle/>
          <a:p>
            <a:pPr algn="ctr"/>
            <a:r>
              <a:rPr lang="en-US" sz="3200" b="1" dirty="0"/>
              <a:t>Example of Java Socket Programming (Read-Write both side)</a:t>
            </a:r>
            <a:endParaRPr lang="en-IN" sz="3200" dirty="0"/>
          </a:p>
        </p:txBody>
      </p:sp>
      <p:sp>
        <p:nvSpPr>
          <p:cNvPr id="3" name="Content Placeholder 2">
            <a:extLst>
              <a:ext uri="{FF2B5EF4-FFF2-40B4-BE49-F238E27FC236}">
                <a16:creationId xmlns:a16="http://schemas.microsoft.com/office/drawing/2014/main" id="{0FBC8B1A-92AE-9D00-9DF7-7BFABE5668FC}"/>
              </a:ext>
            </a:extLst>
          </p:cNvPr>
          <p:cNvSpPr>
            <a:spLocks noGrp="1"/>
          </p:cNvSpPr>
          <p:nvPr>
            <p:ph idx="1"/>
          </p:nvPr>
        </p:nvSpPr>
        <p:spPr>
          <a:xfrm>
            <a:off x="838200" y="1455974"/>
            <a:ext cx="10515600" cy="4351338"/>
          </a:xfrm>
        </p:spPr>
        <p:txBody>
          <a:bodyPr/>
          <a:lstStyle/>
          <a:p>
            <a:pPr algn="just"/>
            <a:r>
              <a:rPr lang="en-US" dirty="0"/>
              <a:t>In this example, client will write first to the server then server will receive and print the text. Then server will write to the client and client will receive and print the text. The step goes on.</a:t>
            </a:r>
            <a:endParaRPr lang="en-IN" dirty="0"/>
          </a:p>
        </p:txBody>
      </p:sp>
    </p:spTree>
    <p:extLst>
      <p:ext uri="{BB962C8B-B14F-4D97-AF65-F5344CB8AC3E}">
        <p14:creationId xmlns:p14="http://schemas.microsoft.com/office/powerpoint/2010/main" val="1755589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03CBFD2-AA9C-2F55-8BE3-C0FBFA40B747}"/>
              </a:ext>
            </a:extLst>
          </p:cNvPr>
          <p:cNvSpPr txBox="1"/>
          <p:nvPr/>
        </p:nvSpPr>
        <p:spPr>
          <a:xfrm>
            <a:off x="486383" y="202449"/>
            <a:ext cx="8373082" cy="6186309"/>
          </a:xfrm>
          <a:prstGeom prst="rect">
            <a:avLst/>
          </a:prstGeom>
          <a:noFill/>
        </p:spPr>
        <p:txBody>
          <a:bodyPr wrap="square">
            <a:spAutoFit/>
          </a:bodyPr>
          <a:lstStyle/>
          <a:p>
            <a:r>
              <a:rPr lang="en-IN" dirty="0"/>
              <a:t>//Server side program </a:t>
            </a:r>
          </a:p>
          <a:p>
            <a:r>
              <a:rPr lang="en-IN" dirty="0"/>
              <a:t>import java.net.*;  </a:t>
            </a:r>
          </a:p>
          <a:p>
            <a:r>
              <a:rPr lang="en-IN" dirty="0"/>
              <a:t>    import java.io.*;  </a:t>
            </a:r>
          </a:p>
          <a:p>
            <a:r>
              <a:rPr lang="en-IN" dirty="0"/>
              <a:t>    class MyServer1{  </a:t>
            </a:r>
          </a:p>
          <a:p>
            <a:r>
              <a:rPr lang="en-IN" dirty="0"/>
              <a:t>    public static void main(String </a:t>
            </a:r>
            <a:r>
              <a:rPr lang="en-IN" dirty="0" err="1"/>
              <a:t>args</a:t>
            </a:r>
            <a:r>
              <a:rPr lang="en-IN" dirty="0"/>
              <a:t>[])throws Exception{  </a:t>
            </a:r>
          </a:p>
          <a:p>
            <a:r>
              <a:rPr lang="en-IN" dirty="0"/>
              <a:t>    </a:t>
            </a:r>
            <a:r>
              <a:rPr lang="en-IN" dirty="0" err="1"/>
              <a:t>ServerSocket</a:t>
            </a:r>
            <a:r>
              <a:rPr lang="en-IN" dirty="0"/>
              <a:t> ss=new </a:t>
            </a:r>
            <a:r>
              <a:rPr lang="en-IN" dirty="0" err="1"/>
              <a:t>ServerSocket</a:t>
            </a:r>
            <a:r>
              <a:rPr lang="en-IN" dirty="0"/>
              <a:t>(3333);  </a:t>
            </a:r>
          </a:p>
          <a:p>
            <a:r>
              <a:rPr lang="en-IN" dirty="0"/>
              <a:t>    Socket s=</a:t>
            </a:r>
            <a:r>
              <a:rPr lang="en-IN" dirty="0" err="1"/>
              <a:t>ss.accept</a:t>
            </a:r>
            <a:r>
              <a:rPr lang="en-IN" dirty="0"/>
              <a:t>();  </a:t>
            </a:r>
          </a:p>
          <a:p>
            <a:r>
              <a:rPr lang="en-IN" dirty="0"/>
              <a:t>    </a:t>
            </a:r>
            <a:r>
              <a:rPr lang="en-IN" dirty="0" err="1"/>
              <a:t>DataInputStream</a:t>
            </a:r>
            <a:r>
              <a:rPr lang="en-IN" dirty="0"/>
              <a:t> din=new </a:t>
            </a:r>
            <a:r>
              <a:rPr lang="en-IN" dirty="0" err="1"/>
              <a:t>DataInputStream</a:t>
            </a:r>
            <a:r>
              <a:rPr lang="en-IN" dirty="0"/>
              <a:t>(</a:t>
            </a:r>
            <a:r>
              <a:rPr lang="en-IN" dirty="0" err="1"/>
              <a:t>s.getInputStream</a:t>
            </a:r>
            <a:r>
              <a:rPr lang="en-IN" dirty="0"/>
              <a:t>());  </a:t>
            </a:r>
          </a:p>
          <a:p>
            <a:r>
              <a:rPr lang="en-IN" dirty="0"/>
              <a:t>    </a:t>
            </a:r>
            <a:r>
              <a:rPr lang="en-IN" dirty="0" err="1"/>
              <a:t>DataOutputStream</a:t>
            </a:r>
            <a:r>
              <a:rPr lang="en-IN" dirty="0"/>
              <a:t> </a:t>
            </a:r>
            <a:r>
              <a:rPr lang="en-IN" dirty="0" err="1"/>
              <a:t>dout</a:t>
            </a:r>
            <a:r>
              <a:rPr lang="en-IN" dirty="0"/>
              <a:t>=new </a:t>
            </a:r>
            <a:r>
              <a:rPr lang="en-IN" dirty="0" err="1"/>
              <a:t>DataOutputStream</a:t>
            </a:r>
            <a:r>
              <a:rPr lang="en-IN" dirty="0"/>
              <a:t>(</a:t>
            </a:r>
            <a:r>
              <a:rPr lang="en-IN" dirty="0" err="1"/>
              <a:t>s.getOutputStream</a:t>
            </a:r>
            <a:r>
              <a:rPr lang="en-IN" dirty="0"/>
              <a:t>());  </a:t>
            </a:r>
          </a:p>
          <a:p>
            <a:r>
              <a:rPr lang="en-IN" dirty="0"/>
              <a:t>    </a:t>
            </a:r>
            <a:r>
              <a:rPr lang="en-IN" dirty="0" err="1"/>
              <a:t>BufferedReader</a:t>
            </a:r>
            <a:r>
              <a:rPr lang="en-IN" dirty="0"/>
              <a:t> </a:t>
            </a:r>
            <a:r>
              <a:rPr lang="en-IN" dirty="0" err="1"/>
              <a:t>br</a:t>
            </a:r>
            <a:r>
              <a:rPr lang="en-IN" dirty="0"/>
              <a:t>=new </a:t>
            </a:r>
            <a:r>
              <a:rPr lang="en-IN" dirty="0" err="1"/>
              <a:t>BufferedReader</a:t>
            </a:r>
            <a:r>
              <a:rPr lang="en-IN" dirty="0"/>
              <a:t>(new </a:t>
            </a:r>
            <a:r>
              <a:rPr lang="en-IN" dirty="0" err="1"/>
              <a:t>InputStreamReader</a:t>
            </a:r>
            <a:r>
              <a:rPr lang="en-IN" dirty="0"/>
              <a:t>(System.in));  </a:t>
            </a:r>
          </a:p>
          <a:p>
            <a:r>
              <a:rPr lang="en-IN" dirty="0"/>
              <a:t>    String str="",str2="";  </a:t>
            </a:r>
          </a:p>
          <a:p>
            <a:r>
              <a:rPr lang="en-IN" dirty="0"/>
              <a:t>    while(!</a:t>
            </a:r>
            <a:r>
              <a:rPr lang="en-IN" dirty="0" err="1"/>
              <a:t>str.equals</a:t>
            </a:r>
            <a:r>
              <a:rPr lang="en-IN" dirty="0"/>
              <a:t>("stop")){  </a:t>
            </a:r>
          </a:p>
          <a:p>
            <a:r>
              <a:rPr lang="en-IN" dirty="0"/>
              <a:t>    str=</a:t>
            </a:r>
            <a:r>
              <a:rPr lang="en-IN" dirty="0" err="1"/>
              <a:t>din.readUTF</a:t>
            </a:r>
            <a:r>
              <a:rPr lang="en-IN" dirty="0"/>
              <a:t>();  </a:t>
            </a:r>
          </a:p>
          <a:p>
            <a:r>
              <a:rPr lang="en-IN" dirty="0"/>
              <a:t>    </a:t>
            </a:r>
            <a:r>
              <a:rPr lang="en-IN" dirty="0" err="1"/>
              <a:t>System.out.println</a:t>
            </a:r>
            <a:r>
              <a:rPr lang="en-IN" dirty="0"/>
              <a:t>("client says: "+str);  </a:t>
            </a:r>
          </a:p>
          <a:p>
            <a:r>
              <a:rPr lang="en-IN" dirty="0"/>
              <a:t>    str2=</a:t>
            </a:r>
            <a:r>
              <a:rPr lang="en-IN" dirty="0" err="1"/>
              <a:t>br.readLine</a:t>
            </a:r>
            <a:r>
              <a:rPr lang="en-IN" dirty="0"/>
              <a:t>();  </a:t>
            </a:r>
          </a:p>
          <a:p>
            <a:r>
              <a:rPr lang="en-IN" dirty="0"/>
              <a:t>    </a:t>
            </a:r>
            <a:r>
              <a:rPr lang="en-IN" dirty="0" err="1"/>
              <a:t>dout.writeUTF</a:t>
            </a:r>
            <a:r>
              <a:rPr lang="en-IN" dirty="0"/>
              <a:t>(str2);  </a:t>
            </a:r>
          </a:p>
          <a:p>
            <a:r>
              <a:rPr lang="en-IN" dirty="0"/>
              <a:t>    </a:t>
            </a:r>
            <a:r>
              <a:rPr lang="en-IN" dirty="0" err="1"/>
              <a:t>dout.flush</a:t>
            </a:r>
            <a:r>
              <a:rPr lang="en-IN" dirty="0"/>
              <a:t>();  </a:t>
            </a:r>
          </a:p>
          <a:p>
            <a:r>
              <a:rPr lang="en-IN" dirty="0"/>
              <a:t>    }  </a:t>
            </a:r>
          </a:p>
          <a:p>
            <a:r>
              <a:rPr lang="en-IN" dirty="0"/>
              <a:t>    </a:t>
            </a:r>
            <a:r>
              <a:rPr lang="en-IN" dirty="0" err="1"/>
              <a:t>din.close</a:t>
            </a:r>
            <a:r>
              <a:rPr lang="en-IN" dirty="0"/>
              <a:t>();  </a:t>
            </a:r>
          </a:p>
          <a:p>
            <a:r>
              <a:rPr lang="en-IN" dirty="0"/>
              <a:t>    </a:t>
            </a:r>
            <a:r>
              <a:rPr lang="en-IN" dirty="0" err="1"/>
              <a:t>s.close</a:t>
            </a:r>
            <a:r>
              <a:rPr lang="en-IN" dirty="0"/>
              <a:t>();  </a:t>
            </a:r>
          </a:p>
          <a:p>
            <a:r>
              <a:rPr lang="en-IN" dirty="0"/>
              <a:t>    </a:t>
            </a:r>
            <a:r>
              <a:rPr lang="en-IN" dirty="0" err="1"/>
              <a:t>ss.close</a:t>
            </a:r>
            <a:r>
              <a:rPr lang="en-IN" dirty="0"/>
              <a:t>();  </a:t>
            </a:r>
          </a:p>
          <a:p>
            <a:r>
              <a:rPr lang="en-IN" dirty="0"/>
              <a:t>    }} </a:t>
            </a:r>
          </a:p>
        </p:txBody>
      </p:sp>
    </p:spTree>
    <p:extLst>
      <p:ext uri="{BB962C8B-B14F-4D97-AF65-F5344CB8AC3E}">
        <p14:creationId xmlns:p14="http://schemas.microsoft.com/office/powerpoint/2010/main" val="3376293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657B69C-D440-041E-9FD7-D3A30CB22C62}"/>
              </a:ext>
            </a:extLst>
          </p:cNvPr>
          <p:cNvSpPr txBox="1"/>
          <p:nvPr/>
        </p:nvSpPr>
        <p:spPr>
          <a:xfrm>
            <a:off x="612842" y="389587"/>
            <a:ext cx="8353627" cy="6186309"/>
          </a:xfrm>
          <a:prstGeom prst="rect">
            <a:avLst/>
          </a:prstGeom>
          <a:noFill/>
        </p:spPr>
        <p:txBody>
          <a:bodyPr wrap="square">
            <a:spAutoFit/>
          </a:bodyPr>
          <a:lstStyle/>
          <a:p>
            <a:r>
              <a:rPr lang="en-IN" dirty="0"/>
              <a:t>//client side program</a:t>
            </a:r>
          </a:p>
          <a:p>
            <a:r>
              <a:rPr lang="en-IN" dirty="0"/>
              <a:t> import java.net.*;  </a:t>
            </a:r>
          </a:p>
          <a:p>
            <a:r>
              <a:rPr lang="en-IN" dirty="0"/>
              <a:t>    import java.io.*;  </a:t>
            </a:r>
          </a:p>
          <a:p>
            <a:r>
              <a:rPr lang="en-IN" dirty="0"/>
              <a:t>    class MyClient1{  </a:t>
            </a:r>
          </a:p>
          <a:p>
            <a:r>
              <a:rPr lang="en-IN" dirty="0"/>
              <a:t>    public static void main(String </a:t>
            </a:r>
            <a:r>
              <a:rPr lang="en-IN" dirty="0" err="1"/>
              <a:t>args</a:t>
            </a:r>
            <a:r>
              <a:rPr lang="en-IN" dirty="0"/>
              <a:t>[])throws Exception{  </a:t>
            </a:r>
          </a:p>
          <a:p>
            <a:r>
              <a:rPr lang="en-IN" dirty="0"/>
              <a:t>    Socket s=new Socket("localhost",3333);  </a:t>
            </a:r>
          </a:p>
          <a:p>
            <a:r>
              <a:rPr lang="en-IN" dirty="0"/>
              <a:t>    </a:t>
            </a:r>
            <a:r>
              <a:rPr lang="en-IN" dirty="0" err="1"/>
              <a:t>DataInputStream</a:t>
            </a:r>
            <a:r>
              <a:rPr lang="en-IN" dirty="0"/>
              <a:t> din=new </a:t>
            </a:r>
            <a:r>
              <a:rPr lang="en-IN" dirty="0" err="1"/>
              <a:t>DataInputStream</a:t>
            </a:r>
            <a:r>
              <a:rPr lang="en-IN" dirty="0"/>
              <a:t>(</a:t>
            </a:r>
            <a:r>
              <a:rPr lang="en-IN" dirty="0" err="1"/>
              <a:t>s.getInputStream</a:t>
            </a:r>
            <a:r>
              <a:rPr lang="en-IN" dirty="0"/>
              <a:t>());  </a:t>
            </a:r>
          </a:p>
          <a:p>
            <a:r>
              <a:rPr lang="en-IN" dirty="0"/>
              <a:t>    </a:t>
            </a:r>
            <a:r>
              <a:rPr lang="en-IN" dirty="0" err="1"/>
              <a:t>DataOutputStream</a:t>
            </a:r>
            <a:r>
              <a:rPr lang="en-IN" dirty="0"/>
              <a:t> </a:t>
            </a:r>
            <a:r>
              <a:rPr lang="en-IN" dirty="0" err="1"/>
              <a:t>dout</a:t>
            </a:r>
            <a:r>
              <a:rPr lang="en-IN" dirty="0"/>
              <a:t>=new </a:t>
            </a:r>
            <a:r>
              <a:rPr lang="en-IN" dirty="0" err="1"/>
              <a:t>DataOutputStream</a:t>
            </a:r>
            <a:r>
              <a:rPr lang="en-IN" dirty="0"/>
              <a:t>(</a:t>
            </a:r>
            <a:r>
              <a:rPr lang="en-IN" dirty="0" err="1"/>
              <a:t>s.getOutputStream</a:t>
            </a:r>
            <a:r>
              <a:rPr lang="en-IN" dirty="0"/>
              <a:t>());  </a:t>
            </a:r>
          </a:p>
          <a:p>
            <a:r>
              <a:rPr lang="en-IN" dirty="0"/>
              <a:t>    </a:t>
            </a:r>
            <a:r>
              <a:rPr lang="en-IN" dirty="0" err="1"/>
              <a:t>BufferedReader</a:t>
            </a:r>
            <a:r>
              <a:rPr lang="en-IN" dirty="0"/>
              <a:t> </a:t>
            </a:r>
            <a:r>
              <a:rPr lang="en-IN" dirty="0" err="1"/>
              <a:t>br</a:t>
            </a:r>
            <a:r>
              <a:rPr lang="en-IN" dirty="0"/>
              <a:t>=new </a:t>
            </a:r>
            <a:r>
              <a:rPr lang="en-IN" dirty="0" err="1"/>
              <a:t>BufferedReader</a:t>
            </a:r>
            <a:r>
              <a:rPr lang="en-IN" dirty="0"/>
              <a:t>(new </a:t>
            </a:r>
            <a:r>
              <a:rPr lang="en-IN" dirty="0" err="1"/>
              <a:t>InputStreamReader</a:t>
            </a:r>
            <a:r>
              <a:rPr lang="en-IN" dirty="0"/>
              <a:t>(System.in));  </a:t>
            </a:r>
          </a:p>
          <a:p>
            <a:r>
              <a:rPr lang="en-IN" dirty="0"/>
              <a:t>      </a:t>
            </a:r>
          </a:p>
          <a:p>
            <a:r>
              <a:rPr lang="en-IN" dirty="0"/>
              <a:t>    String str="",str2="";  </a:t>
            </a:r>
          </a:p>
          <a:p>
            <a:r>
              <a:rPr lang="en-IN" dirty="0"/>
              <a:t>    while(!</a:t>
            </a:r>
            <a:r>
              <a:rPr lang="en-IN" dirty="0" err="1"/>
              <a:t>str.equals</a:t>
            </a:r>
            <a:r>
              <a:rPr lang="en-IN" dirty="0"/>
              <a:t>("stop")){  </a:t>
            </a:r>
          </a:p>
          <a:p>
            <a:r>
              <a:rPr lang="en-IN" dirty="0"/>
              <a:t>    str=</a:t>
            </a:r>
            <a:r>
              <a:rPr lang="en-IN" dirty="0" err="1"/>
              <a:t>br.readLine</a:t>
            </a:r>
            <a:r>
              <a:rPr lang="en-IN" dirty="0"/>
              <a:t>();  </a:t>
            </a:r>
          </a:p>
          <a:p>
            <a:r>
              <a:rPr lang="en-IN" dirty="0"/>
              <a:t>    </a:t>
            </a:r>
            <a:r>
              <a:rPr lang="en-IN" dirty="0" err="1"/>
              <a:t>dout.writeUTF</a:t>
            </a:r>
            <a:r>
              <a:rPr lang="en-IN" dirty="0"/>
              <a:t>(str);  </a:t>
            </a:r>
          </a:p>
          <a:p>
            <a:r>
              <a:rPr lang="en-IN" dirty="0"/>
              <a:t>    </a:t>
            </a:r>
            <a:r>
              <a:rPr lang="en-IN" dirty="0" err="1"/>
              <a:t>dout.flush</a:t>
            </a:r>
            <a:r>
              <a:rPr lang="en-IN" dirty="0"/>
              <a:t>();  </a:t>
            </a:r>
          </a:p>
          <a:p>
            <a:r>
              <a:rPr lang="en-IN" dirty="0"/>
              <a:t>    str2=</a:t>
            </a:r>
            <a:r>
              <a:rPr lang="en-IN" dirty="0" err="1"/>
              <a:t>din.readUTF</a:t>
            </a:r>
            <a:r>
              <a:rPr lang="en-IN" dirty="0"/>
              <a:t>();  </a:t>
            </a:r>
          </a:p>
          <a:p>
            <a:r>
              <a:rPr lang="en-IN" dirty="0"/>
              <a:t>    </a:t>
            </a:r>
            <a:r>
              <a:rPr lang="en-IN" dirty="0" err="1"/>
              <a:t>System.out.println</a:t>
            </a:r>
            <a:r>
              <a:rPr lang="en-IN" dirty="0"/>
              <a:t>("Server says: "+str2);  </a:t>
            </a:r>
          </a:p>
          <a:p>
            <a:r>
              <a:rPr lang="en-IN" dirty="0"/>
              <a:t>    }  </a:t>
            </a:r>
          </a:p>
          <a:p>
            <a:r>
              <a:rPr lang="en-IN" dirty="0"/>
              <a:t>      </a:t>
            </a:r>
          </a:p>
          <a:p>
            <a:r>
              <a:rPr lang="en-IN" dirty="0"/>
              <a:t>    </a:t>
            </a:r>
            <a:r>
              <a:rPr lang="en-IN" dirty="0" err="1"/>
              <a:t>dout.close</a:t>
            </a:r>
            <a:r>
              <a:rPr lang="en-IN" dirty="0"/>
              <a:t>();  </a:t>
            </a:r>
          </a:p>
          <a:p>
            <a:r>
              <a:rPr lang="en-IN" dirty="0"/>
              <a:t>    </a:t>
            </a:r>
            <a:r>
              <a:rPr lang="en-IN" dirty="0" err="1"/>
              <a:t>s.close</a:t>
            </a:r>
            <a:r>
              <a:rPr lang="en-IN" dirty="0"/>
              <a:t>();  </a:t>
            </a:r>
          </a:p>
          <a:p>
            <a:r>
              <a:rPr lang="en-IN" dirty="0"/>
              <a:t>    }} </a:t>
            </a:r>
          </a:p>
        </p:txBody>
      </p:sp>
    </p:spTree>
    <p:extLst>
      <p:ext uri="{BB962C8B-B14F-4D97-AF65-F5344CB8AC3E}">
        <p14:creationId xmlns:p14="http://schemas.microsoft.com/office/powerpoint/2010/main" val="3927479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572D-8FA9-D1CA-4D97-448D46C54042}"/>
              </a:ext>
            </a:extLst>
          </p:cNvPr>
          <p:cNvSpPr>
            <a:spLocks noGrp="1"/>
          </p:cNvSpPr>
          <p:nvPr>
            <p:ph type="title"/>
          </p:nvPr>
        </p:nvSpPr>
        <p:spPr>
          <a:xfrm>
            <a:off x="838200" y="365126"/>
            <a:ext cx="10515600" cy="627096"/>
          </a:xfrm>
        </p:spPr>
        <p:txBody>
          <a:bodyPr>
            <a:normAutofit fontScale="90000"/>
          </a:bodyPr>
          <a:lstStyle/>
          <a:p>
            <a:pPr algn="ctr"/>
            <a:r>
              <a:rPr lang="en-IN" dirty="0"/>
              <a:t>How to run</a:t>
            </a:r>
          </a:p>
        </p:txBody>
      </p:sp>
      <p:sp>
        <p:nvSpPr>
          <p:cNvPr id="3" name="Content Placeholder 2">
            <a:extLst>
              <a:ext uri="{FF2B5EF4-FFF2-40B4-BE49-F238E27FC236}">
                <a16:creationId xmlns:a16="http://schemas.microsoft.com/office/drawing/2014/main" id="{50987A64-4401-28A4-9225-859A61FB7921}"/>
              </a:ext>
            </a:extLst>
          </p:cNvPr>
          <p:cNvSpPr>
            <a:spLocks noGrp="1"/>
          </p:cNvSpPr>
          <p:nvPr>
            <p:ph idx="1"/>
          </p:nvPr>
        </p:nvSpPr>
        <p:spPr>
          <a:xfrm>
            <a:off x="838200" y="1245140"/>
            <a:ext cx="10515600" cy="4931823"/>
          </a:xfrm>
        </p:spPr>
        <p:txBody>
          <a:bodyPr/>
          <a:lstStyle/>
          <a:p>
            <a:r>
              <a:rPr lang="en-IN" dirty="0"/>
              <a:t>Compile the java program (MyServer1.java)</a:t>
            </a:r>
          </a:p>
          <a:p>
            <a:r>
              <a:rPr lang="en-IN" dirty="0"/>
              <a:t>Run the program</a:t>
            </a:r>
          </a:p>
          <a:p>
            <a:r>
              <a:rPr lang="en-IN" dirty="0"/>
              <a:t>Open another command prompt</a:t>
            </a:r>
          </a:p>
          <a:p>
            <a:r>
              <a:rPr lang="en-IN" dirty="0"/>
              <a:t>Compile the client side java program (MyClient.java)</a:t>
            </a:r>
          </a:p>
          <a:p>
            <a:r>
              <a:rPr lang="en-IN" dirty="0"/>
              <a:t>Run the program, it ask for text message</a:t>
            </a:r>
          </a:p>
          <a:p>
            <a:r>
              <a:rPr lang="en-IN" dirty="0"/>
              <a:t>After giving text message, it is shown in server window</a:t>
            </a:r>
          </a:p>
          <a:p>
            <a:r>
              <a:rPr lang="en-IN" dirty="0"/>
              <a:t>Similar process happen at server side.</a:t>
            </a:r>
          </a:p>
          <a:p>
            <a:r>
              <a:rPr lang="en-IN" dirty="0"/>
              <a:t>Communication is going on until both write the message </a:t>
            </a:r>
            <a:r>
              <a:rPr lang="en-IN" dirty="0">
                <a:highlight>
                  <a:srgbClr val="FFFF00"/>
                </a:highlight>
              </a:rPr>
              <a:t>stop</a:t>
            </a:r>
          </a:p>
        </p:txBody>
      </p:sp>
    </p:spTree>
    <p:extLst>
      <p:ext uri="{BB962C8B-B14F-4D97-AF65-F5344CB8AC3E}">
        <p14:creationId xmlns:p14="http://schemas.microsoft.com/office/powerpoint/2010/main" val="1344614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2528</Words>
  <Application>Microsoft Office PowerPoint</Application>
  <PresentationFormat>Widescreen</PresentationFormat>
  <Paragraphs>246</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Office Theme</vt:lpstr>
      <vt:lpstr>OBJECT ORIENTED PROGRAMMING Networking with Java</vt:lpstr>
      <vt:lpstr>Networking with Java</vt:lpstr>
      <vt:lpstr>PowerPoint Presentation</vt:lpstr>
      <vt:lpstr>InetAddress Class</vt:lpstr>
      <vt:lpstr>Factory Methods</vt:lpstr>
      <vt:lpstr>PowerPoint Presentation</vt:lpstr>
      <vt:lpstr>TCP/IP Client Sockets</vt:lpstr>
      <vt:lpstr>PowerPoint Presentation</vt:lpstr>
      <vt:lpstr>PowerPoint Presentation</vt:lpstr>
      <vt:lpstr>PowerPoint Presentation</vt:lpstr>
      <vt:lpstr>Socket class</vt:lpstr>
      <vt:lpstr>Server Socket Class</vt:lpstr>
      <vt:lpstr>Example of Java Socket Programming</vt:lpstr>
      <vt:lpstr>PowerPoint Presentation</vt:lpstr>
      <vt:lpstr>PowerPoint Presentation</vt:lpstr>
      <vt:lpstr>PowerPoint Presentation</vt:lpstr>
      <vt:lpstr>Example of Java Socket Programming (Read-Write both side)</vt:lpstr>
      <vt:lpstr>PowerPoint Presentation</vt:lpstr>
      <vt:lpstr>PowerPoint Presentation</vt:lpstr>
      <vt:lpstr>How to run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Networking with Java</dc:title>
  <dc:creator>ABINASH TRIPATHY</dc:creator>
  <cp:lastModifiedBy>Abinash Tripathy</cp:lastModifiedBy>
  <cp:revision>2</cp:revision>
  <dcterms:created xsi:type="dcterms:W3CDTF">2023-05-18T03:27:32Z</dcterms:created>
  <dcterms:modified xsi:type="dcterms:W3CDTF">2024-03-20T15:46:43Z</dcterms:modified>
</cp:coreProperties>
</file>