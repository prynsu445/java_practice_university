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82" r:id="rId4"/>
    <p:sldId id="283" r:id="rId5"/>
    <p:sldId id="284" r:id="rId6"/>
    <p:sldId id="285" r:id="rId7"/>
    <p:sldId id="286" r:id="rId8"/>
    <p:sldId id="288" r:id="rId9"/>
    <p:sldId id="289" r:id="rId10"/>
    <p:sldId id="290" r:id="rId11"/>
    <p:sldId id="291" r:id="rId12"/>
    <p:sldId id="292" r:id="rId13"/>
    <p:sldId id="293" r:id="rId14"/>
    <p:sldId id="294" r:id="rId15"/>
    <p:sldId id="295" r:id="rId16"/>
    <p:sldId id="287" r:id="rId17"/>
    <p:sldId id="296" r:id="rId18"/>
    <p:sldId id="297" r:id="rId19"/>
    <p:sldId id="299" r:id="rId20"/>
    <p:sldId id="300" r:id="rId21"/>
    <p:sldId id="301" r:id="rId22"/>
    <p:sldId id="30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4A471-743F-34FD-B2DD-7D85B02DCF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B746A0-29BD-A56C-0A94-C2CF9D170E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13FCDD-943F-606B-F659-8582C99B13C9}"/>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5" name="Footer Placeholder 4">
            <a:extLst>
              <a:ext uri="{FF2B5EF4-FFF2-40B4-BE49-F238E27FC236}">
                <a16:creationId xmlns:a16="http://schemas.microsoft.com/office/drawing/2014/main" id="{B4B8079A-ACCB-F12A-6848-D0B21C4399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FF974C-4004-DA45-D964-6D592FBA2249}"/>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3602230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6A569-CD96-593E-500F-7DB9D20AD0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A9D581-9262-1B52-2D62-E06A7151D1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EFBB7F-92B8-714E-9A99-B9492F0EF1C5}"/>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5" name="Footer Placeholder 4">
            <a:extLst>
              <a:ext uri="{FF2B5EF4-FFF2-40B4-BE49-F238E27FC236}">
                <a16:creationId xmlns:a16="http://schemas.microsoft.com/office/drawing/2014/main" id="{25B0E013-C7D6-42DD-F666-FFC9468292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AADD34-7AD0-60D3-ADC3-80FF6122E90C}"/>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1749829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EA662-2818-44F4-E8A9-08AEEA89AF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664EAB-375E-468A-CB24-6D82BDB2B0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ABC4C-D7EE-C76B-2BEC-E0568D9E2A82}"/>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5" name="Footer Placeholder 4">
            <a:extLst>
              <a:ext uri="{FF2B5EF4-FFF2-40B4-BE49-F238E27FC236}">
                <a16:creationId xmlns:a16="http://schemas.microsoft.com/office/drawing/2014/main" id="{1643155F-7816-5422-E7F2-494642720E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62AB59-FD92-E9BF-1854-213786311A3E}"/>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2881464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89B5A-73C8-9EA4-4888-C437E47615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041467-305A-DEEB-AC0B-1AA7013263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D0BF13-4801-2BD0-7B10-A437EADA0E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A86AEF-FF20-D0AD-9B35-23ABC6E62682}"/>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6" name="Footer Placeholder 5">
            <a:extLst>
              <a:ext uri="{FF2B5EF4-FFF2-40B4-BE49-F238E27FC236}">
                <a16:creationId xmlns:a16="http://schemas.microsoft.com/office/drawing/2014/main" id="{B055BC2F-0F3C-B84B-42D5-10D4F737DB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A6AFD3-6472-1B76-A24A-86444182752E}"/>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202278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1FF17-A43C-5FD7-35C2-67C43F25E5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2C9A7B-4510-B6BE-38D2-B1E6D04A1B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A9790-BCED-DA4F-EBDE-ED749F7F1D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0F97AD-B998-7AEE-10EF-CF8F416338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EB6A48-5B12-9D54-36C3-F8DEB717DF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4790AF-2AFA-E076-96A9-5047EC336C3C}"/>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8" name="Footer Placeholder 7">
            <a:extLst>
              <a:ext uri="{FF2B5EF4-FFF2-40B4-BE49-F238E27FC236}">
                <a16:creationId xmlns:a16="http://schemas.microsoft.com/office/drawing/2014/main" id="{B9CBAFBB-58CA-FB35-1F0C-B0A91FC0FA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5A9E7D5-1DD3-29D6-1DD4-79FAEFF396C7}"/>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180472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0BEB-5C69-B5BD-F6BA-00BD51ED45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CC55A9-B979-93A8-6C93-8C70DC55B2F9}"/>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4" name="Footer Placeholder 3">
            <a:extLst>
              <a:ext uri="{FF2B5EF4-FFF2-40B4-BE49-F238E27FC236}">
                <a16:creationId xmlns:a16="http://schemas.microsoft.com/office/drawing/2014/main" id="{8283C2A9-006E-0868-F40B-9CAB445A85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3CC97F-14AF-EADF-1A28-9BE0A365F503}"/>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1032115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E0B8B-DFF6-5A0A-0E42-0CBB680759AA}"/>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3" name="Footer Placeholder 2">
            <a:extLst>
              <a:ext uri="{FF2B5EF4-FFF2-40B4-BE49-F238E27FC236}">
                <a16:creationId xmlns:a16="http://schemas.microsoft.com/office/drawing/2014/main" id="{38D0F37F-834B-C902-80CA-94370400FC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A3B96F-8E8E-5795-30FD-095D87324720}"/>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3955385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76A4C-030F-4DE1-6D3A-71B54A338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7504ED-E301-DD10-8E19-C039331071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B2055F-BFDF-052F-CFCD-FD8A461AF2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CDFABE-DFC2-8B4B-E5D2-18E1C474549F}"/>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6" name="Footer Placeholder 5">
            <a:extLst>
              <a:ext uri="{FF2B5EF4-FFF2-40B4-BE49-F238E27FC236}">
                <a16:creationId xmlns:a16="http://schemas.microsoft.com/office/drawing/2014/main" id="{F7B6ECDF-9DC1-668B-9D4D-CCC17AC632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31288B-8F97-20E0-F3EF-AE3F1F168032}"/>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191573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5FE9-CBC7-479F-F6DF-3B792075D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95E622-FBB0-6C1D-809B-26C6852DB5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CC0BB8-599C-DF82-431D-CDC5BC480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D3A5A3-800E-716D-FCE1-BA4B0BFFCD53}"/>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6" name="Footer Placeholder 5">
            <a:extLst>
              <a:ext uri="{FF2B5EF4-FFF2-40B4-BE49-F238E27FC236}">
                <a16:creationId xmlns:a16="http://schemas.microsoft.com/office/drawing/2014/main" id="{22A0D7E5-BB0D-2993-32FB-5A8D721563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88B4BB-512F-217F-B9BB-70A1C223BE18}"/>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41133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F484-E164-081B-0192-CC0B9C5225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7ED87F-AE9C-3D1A-0907-5BD7B57DC6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CF4366-99E4-F29B-6F1E-B2AB6BE167AF}"/>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5" name="Footer Placeholder 4">
            <a:extLst>
              <a:ext uri="{FF2B5EF4-FFF2-40B4-BE49-F238E27FC236}">
                <a16:creationId xmlns:a16="http://schemas.microsoft.com/office/drawing/2014/main" id="{02112E03-581C-E4A5-83A0-29DB407019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5FC651-D59A-97A8-F9E1-A6FD012367F5}"/>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1614295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8432DB-C7A5-0BF7-3F70-62927E7004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99B7BC-AA5C-50ED-A50E-283D1DA2E4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48193E-AC79-301B-2A93-4D7695160E96}"/>
              </a:ext>
            </a:extLst>
          </p:cNvPr>
          <p:cNvSpPr>
            <a:spLocks noGrp="1"/>
          </p:cNvSpPr>
          <p:nvPr>
            <p:ph type="dt" sz="half" idx="10"/>
          </p:nvPr>
        </p:nvSpPr>
        <p:spPr/>
        <p:txBody>
          <a:bodyPr/>
          <a:lstStyle/>
          <a:p>
            <a:fld id="{A0C833A4-ED80-4818-B4F6-279F226A8004}" type="datetimeFigureOut">
              <a:rPr lang="en-IN" smtClean="0"/>
              <a:t>19-03-2024</a:t>
            </a:fld>
            <a:endParaRPr lang="en-IN"/>
          </a:p>
        </p:txBody>
      </p:sp>
      <p:sp>
        <p:nvSpPr>
          <p:cNvPr id="5" name="Footer Placeholder 4">
            <a:extLst>
              <a:ext uri="{FF2B5EF4-FFF2-40B4-BE49-F238E27FC236}">
                <a16:creationId xmlns:a16="http://schemas.microsoft.com/office/drawing/2014/main" id="{5B28FD7F-8BE2-15EA-9A3C-022CA5CDC7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761BCA-396B-A442-6F08-D91D38249AEB}"/>
              </a:ext>
            </a:extLst>
          </p:cNvPr>
          <p:cNvSpPr>
            <a:spLocks noGrp="1"/>
          </p:cNvSpPr>
          <p:nvPr>
            <p:ph type="sldNum" sz="quarter" idx="12"/>
          </p:nvPr>
        </p:nvSpPr>
        <p:spPr/>
        <p:txBody>
          <a:bodyPr/>
          <a:lstStyle/>
          <a:p>
            <a:fld id="{7F5CD3ED-AFD4-4C55-86F4-1C5B7CFAD5E8}" type="slidenum">
              <a:rPr lang="en-IN" smtClean="0"/>
              <a:t>‹#›</a:t>
            </a:fld>
            <a:endParaRPr lang="en-IN"/>
          </a:p>
        </p:txBody>
      </p:sp>
    </p:spTree>
    <p:extLst>
      <p:ext uri="{BB962C8B-B14F-4D97-AF65-F5344CB8AC3E}">
        <p14:creationId xmlns:p14="http://schemas.microsoft.com/office/powerpoint/2010/main" val="470513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61806F-CAF8-36CA-A363-17051643A3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54E574-1BE1-3908-B0AC-535C829B9F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2657AC-30C5-4C50-AFD8-4C78E884D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833A4-ED80-4818-B4F6-279F226A8004}" type="datetimeFigureOut">
              <a:rPr lang="en-IN" smtClean="0"/>
              <a:t>19-03-2024</a:t>
            </a:fld>
            <a:endParaRPr lang="en-IN"/>
          </a:p>
        </p:txBody>
      </p:sp>
      <p:sp>
        <p:nvSpPr>
          <p:cNvPr id="5" name="Footer Placeholder 4">
            <a:extLst>
              <a:ext uri="{FF2B5EF4-FFF2-40B4-BE49-F238E27FC236}">
                <a16:creationId xmlns:a16="http://schemas.microsoft.com/office/drawing/2014/main" id="{AEEEECD9-069B-47BC-F965-D1E4584AE9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0930E8-B7D8-7FE0-3E7B-D3E649080F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CD3ED-AFD4-4C55-86F4-1C5B7CFAD5E8}" type="slidenum">
              <a:rPr lang="en-IN" smtClean="0"/>
              <a:t>‹#›</a:t>
            </a:fld>
            <a:endParaRPr lang="en-IN"/>
          </a:p>
        </p:txBody>
      </p:sp>
    </p:spTree>
    <p:extLst>
      <p:ext uri="{BB962C8B-B14F-4D97-AF65-F5344CB8AC3E}">
        <p14:creationId xmlns:p14="http://schemas.microsoft.com/office/powerpoint/2010/main" val="973656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96022E-0367-734D-4144-0AF2FC5425AD}"/>
              </a:ext>
            </a:extLst>
          </p:cNvPr>
          <p:cNvSpPr>
            <a:spLocks noGrp="1"/>
          </p:cNvSpPr>
          <p:nvPr>
            <p:ph type="ctrTitle"/>
          </p:nvPr>
        </p:nvSpPr>
        <p:spPr>
          <a:xfrm>
            <a:off x="1524000" y="329261"/>
            <a:ext cx="9144000" cy="2740510"/>
          </a:xfrm>
        </p:spPr>
        <p:txBody>
          <a:bodyPr>
            <a:normAutofit/>
          </a:bodyPr>
          <a:lstStyle/>
          <a:p>
            <a:r>
              <a:rPr lang="en-IN" b="1" dirty="0">
                <a:latin typeface="Times New Roman" panose="02020603050405020304" pitchFamily="18" charset="0"/>
                <a:cs typeface="Times New Roman" panose="02020603050405020304" pitchFamily="18" charset="0"/>
              </a:rPr>
              <a:t>OBJECT ORIENTED PROGRAMMING</a:t>
            </a:r>
            <a:br>
              <a:rPr lang="en-IN" b="1">
                <a:latin typeface="Times New Roman" panose="02020603050405020304" pitchFamily="18" charset="0"/>
                <a:cs typeface="Times New Roman" panose="02020603050405020304" pitchFamily="18" charset="0"/>
              </a:rPr>
            </a:br>
            <a:r>
              <a:rPr lang="en-IN" b="1">
                <a:latin typeface="Times New Roman" panose="02020603050405020304" pitchFamily="18" charset="0"/>
                <a:cs typeface="Times New Roman" panose="02020603050405020304" pitchFamily="18" charset="0"/>
              </a:rPr>
              <a:t>Multithreading</a:t>
            </a:r>
            <a:endParaRPr lang="en-IN" b="1"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019047E7-C0D9-F400-71A9-002B6CE31A15}"/>
              </a:ext>
            </a:extLst>
          </p:cNvPr>
          <p:cNvSpPr>
            <a:spLocks noGrp="1"/>
          </p:cNvSpPr>
          <p:nvPr>
            <p:ph type="subTitle" idx="1"/>
          </p:nvPr>
        </p:nvSpPr>
        <p:spPr>
          <a:xfrm>
            <a:off x="1524000" y="3602038"/>
            <a:ext cx="9144000" cy="1655762"/>
          </a:xfrm>
        </p:spPr>
        <p:txBody>
          <a:bodyPr>
            <a:normAutofit lnSpcReduction="10000"/>
          </a:bodyPr>
          <a:lstStyle/>
          <a:p>
            <a:r>
              <a:rPr lang="en-IN" dirty="0"/>
              <a:t>Prepared by </a:t>
            </a:r>
          </a:p>
          <a:p>
            <a:r>
              <a:rPr lang="en-IN" dirty="0" err="1"/>
              <a:t>Dr.</a:t>
            </a:r>
            <a:r>
              <a:rPr lang="en-IN" dirty="0"/>
              <a:t> </a:t>
            </a:r>
            <a:r>
              <a:rPr lang="en-IN" dirty="0" err="1"/>
              <a:t>Abinash</a:t>
            </a:r>
            <a:r>
              <a:rPr lang="en-IN" dirty="0"/>
              <a:t> Tripathy</a:t>
            </a:r>
          </a:p>
          <a:p>
            <a:r>
              <a:rPr lang="en-IN" dirty="0"/>
              <a:t>School of Computer Application</a:t>
            </a:r>
          </a:p>
          <a:p>
            <a:r>
              <a:rPr lang="en-IN" dirty="0"/>
              <a:t>KIIT Deemed to be University, Bhubaneswar</a:t>
            </a:r>
          </a:p>
        </p:txBody>
      </p:sp>
    </p:spTree>
    <p:extLst>
      <p:ext uri="{BB962C8B-B14F-4D97-AF65-F5344CB8AC3E}">
        <p14:creationId xmlns:p14="http://schemas.microsoft.com/office/powerpoint/2010/main" val="2733109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BF492-A2D8-B25E-7DEB-29B29FADF6FC}"/>
              </a:ext>
            </a:extLst>
          </p:cNvPr>
          <p:cNvSpPr>
            <a:spLocks noGrp="1"/>
          </p:cNvSpPr>
          <p:nvPr>
            <p:ph type="title"/>
          </p:nvPr>
        </p:nvSpPr>
        <p:spPr>
          <a:xfrm>
            <a:off x="838200" y="170572"/>
            <a:ext cx="10515600" cy="724373"/>
          </a:xfrm>
        </p:spPr>
        <p:txBody>
          <a:bodyPr/>
          <a:lstStyle/>
          <a:p>
            <a:pPr algn="ctr"/>
            <a:r>
              <a:rPr lang="en-IN" dirty="0"/>
              <a:t>Multithreading in Java</a:t>
            </a:r>
          </a:p>
        </p:txBody>
      </p:sp>
      <p:sp>
        <p:nvSpPr>
          <p:cNvPr id="3" name="Content Placeholder 2">
            <a:extLst>
              <a:ext uri="{FF2B5EF4-FFF2-40B4-BE49-F238E27FC236}">
                <a16:creationId xmlns:a16="http://schemas.microsoft.com/office/drawing/2014/main" id="{9FD91E54-582F-6E86-E954-994172908FA1}"/>
              </a:ext>
            </a:extLst>
          </p:cNvPr>
          <p:cNvSpPr>
            <a:spLocks noGrp="1"/>
          </p:cNvSpPr>
          <p:nvPr>
            <p:ph idx="1"/>
          </p:nvPr>
        </p:nvSpPr>
        <p:spPr>
          <a:xfrm>
            <a:off x="838200" y="1253331"/>
            <a:ext cx="10515600" cy="4351338"/>
          </a:xfrm>
        </p:spPr>
        <p:txBody>
          <a:bodyPr>
            <a:normAutofit/>
          </a:bodyPr>
          <a:lstStyle/>
          <a:p>
            <a:pPr algn="just"/>
            <a:r>
              <a:rPr lang="en-US" sz="2400" dirty="0"/>
              <a:t>Multithreading in java is a process of executing multiple threads simultaneously.</a:t>
            </a:r>
          </a:p>
          <a:p>
            <a:pPr algn="just"/>
            <a:r>
              <a:rPr lang="en-US" sz="2400" dirty="0"/>
              <a:t>A thread is a lightweight sub-process, the smallest unit of processing. </a:t>
            </a:r>
          </a:p>
          <a:p>
            <a:pPr algn="just"/>
            <a:r>
              <a:rPr lang="en-US" sz="2400" dirty="0"/>
              <a:t>Multiprocessing and multithreading, both are used to achieve multitasking.</a:t>
            </a:r>
          </a:p>
          <a:p>
            <a:pPr algn="just"/>
            <a:r>
              <a:rPr lang="en-US" sz="2400" dirty="0"/>
              <a:t>However, we use multithreading than multiprocessing because threads use a shared memory area. They don't allocate separate memory area so saves memory, and context-switching between the threads takes less time than process.</a:t>
            </a:r>
          </a:p>
          <a:p>
            <a:pPr marL="0" indent="0" algn="just">
              <a:buNone/>
            </a:pPr>
            <a:endParaRPr lang="en-IN" sz="2400" dirty="0"/>
          </a:p>
        </p:txBody>
      </p:sp>
    </p:spTree>
    <p:extLst>
      <p:ext uri="{BB962C8B-B14F-4D97-AF65-F5344CB8AC3E}">
        <p14:creationId xmlns:p14="http://schemas.microsoft.com/office/powerpoint/2010/main" val="2629037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F19E0-D28B-96C6-FB3C-00438B9570EA}"/>
              </a:ext>
            </a:extLst>
          </p:cNvPr>
          <p:cNvSpPr>
            <a:spLocks noGrp="1"/>
          </p:cNvSpPr>
          <p:nvPr>
            <p:ph type="title"/>
          </p:nvPr>
        </p:nvSpPr>
        <p:spPr>
          <a:xfrm>
            <a:off x="838200" y="365125"/>
            <a:ext cx="10515600" cy="656279"/>
          </a:xfrm>
        </p:spPr>
        <p:txBody>
          <a:bodyPr>
            <a:normAutofit fontScale="90000"/>
          </a:bodyPr>
          <a:lstStyle/>
          <a:p>
            <a:pPr algn="ctr"/>
            <a:r>
              <a:rPr lang="en-IN" dirty="0"/>
              <a:t>Advantage of Java Multithreading</a:t>
            </a:r>
          </a:p>
        </p:txBody>
      </p:sp>
      <p:sp>
        <p:nvSpPr>
          <p:cNvPr id="3" name="Content Placeholder 2">
            <a:extLst>
              <a:ext uri="{FF2B5EF4-FFF2-40B4-BE49-F238E27FC236}">
                <a16:creationId xmlns:a16="http://schemas.microsoft.com/office/drawing/2014/main" id="{772D665E-55C0-904B-5783-8FBB567917AF}"/>
              </a:ext>
            </a:extLst>
          </p:cNvPr>
          <p:cNvSpPr>
            <a:spLocks noGrp="1"/>
          </p:cNvSpPr>
          <p:nvPr>
            <p:ph idx="1"/>
          </p:nvPr>
        </p:nvSpPr>
        <p:spPr>
          <a:xfrm>
            <a:off x="838200" y="1572706"/>
            <a:ext cx="10515600" cy="4351338"/>
          </a:xfrm>
        </p:spPr>
        <p:txBody>
          <a:bodyPr/>
          <a:lstStyle/>
          <a:p>
            <a:pPr algn="just"/>
            <a:r>
              <a:rPr lang="en-US" dirty="0"/>
              <a:t>It </a:t>
            </a:r>
            <a:r>
              <a:rPr lang="en-US" b="1" dirty="0"/>
              <a:t>doesn't block the user</a:t>
            </a:r>
            <a:r>
              <a:rPr lang="en-US" dirty="0"/>
              <a:t> because threads are independent and you can perform multiple operations at the same time.</a:t>
            </a:r>
          </a:p>
          <a:p>
            <a:pPr algn="just"/>
            <a:r>
              <a:rPr lang="en-US" dirty="0"/>
              <a:t>You </a:t>
            </a:r>
            <a:r>
              <a:rPr lang="en-US" b="1" dirty="0"/>
              <a:t>can perform many operations together, so it saves time</a:t>
            </a:r>
            <a:r>
              <a:rPr lang="en-US" dirty="0"/>
              <a:t>.</a:t>
            </a:r>
          </a:p>
          <a:p>
            <a:pPr algn="just"/>
            <a:r>
              <a:rPr lang="en-US" dirty="0"/>
              <a:t>Threads are </a:t>
            </a:r>
            <a:r>
              <a:rPr lang="en-US" b="1" dirty="0"/>
              <a:t>independent</a:t>
            </a:r>
            <a:r>
              <a:rPr lang="en-US" dirty="0"/>
              <a:t>, so it doesn't affect other threads if an exception occurs in a single thread.</a:t>
            </a:r>
          </a:p>
          <a:p>
            <a:endParaRPr lang="en-IN" dirty="0"/>
          </a:p>
        </p:txBody>
      </p:sp>
    </p:spTree>
    <p:extLst>
      <p:ext uri="{BB962C8B-B14F-4D97-AF65-F5344CB8AC3E}">
        <p14:creationId xmlns:p14="http://schemas.microsoft.com/office/powerpoint/2010/main" val="366703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0D284-FE32-D10C-BED4-77C7CDACD03D}"/>
              </a:ext>
            </a:extLst>
          </p:cNvPr>
          <p:cNvSpPr>
            <a:spLocks noGrp="1"/>
          </p:cNvSpPr>
          <p:nvPr>
            <p:ph type="title"/>
          </p:nvPr>
        </p:nvSpPr>
        <p:spPr>
          <a:xfrm>
            <a:off x="838200" y="248393"/>
            <a:ext cx="10515600" cy="607641"/>
          </a:xfrm>
        </p:spPr>
        <p:txBody>
          <a:bodyPr>
            <a:normAutofit fontScale="90000"/>
          </a:bodyPr>
          <a:lstStyle/>
          <a:p>
            <a:pPr algn="ctr"/>
            <a:r>
              <a:rPr lang="en-IN" dirty="0"/>
              <a:t>Thread in Java </a:t>
            </a:r>
          </a:p>
        </p:txBody>
      </p:sp>
      <p:sp>
        <p:nvSpPr>
          <p:cNvPr id="3" name="Content Placeholder 2">
            <a:extLst>
              <a:ext uri="{FF2B5EF4-FFF2-40B4-BE49-F238E27FC236}">
                <a16:creationId xmlns:a16="http://schemas.microsoft.com/office/drawing/2014/main" id="{C395CF26-93BC-88F1-FB1F-5AEF1D2F3B9B}"/>
              </a:ext>
            </a:extLst>
          </p:cNvPr>
          <p:cNvSpPr>
            <a:spLocks noGrp="1"/>
          </p:cNvSpPr>
          <p:nvPr>
            <p:ph idx="1"/>
          </p:nvPr>
        </p:nvSpPr>
        <p:spPr>
          <a:xfrm>
            <a:off x="838200" y="1027957"/>
            <a:ext cx="10515600" cy="2814469"/>
          </a:xfrm>
        </p:spPr>
        <p:txBody>
          <a:bodyPr>
            <a:normAutofit/>
          </a:bodyPr>
          <a:lstStyle/>
          <a:p>
            <a:r>
              <a:rPr lang="en-US" sz="2400" dirty="0"/>
              <a:t>A thread is a lightweight subprocess, the smallest unit of processing. It is a separate path of execution.</a:t>
            </a:r>
          </a:p>
          <a:p>
            <a:r>
              <a:rPr lang="en-US" sz="2400" dirty="0"/>
              <a:t>Threads are independent. If there occurs exception in one thread, it doesn't affect other threads. It uses a shared memory area.</a:t>
            </a:r>
          </a:p>
          <a:p>
            <a:r>
              <a:rPr lang="en-US" sz="2400" dirty="0"/>
              <a:t>As shown in the figure, a thread is executed inside the process.</a:t>
            </a:r>
          </a:p>
          <a:p>
            <a:r>
              <a:rPr lang="en-US" sz="2400" dirty="0"/>
              <a:t> There is context-switching between the threads. There can be multiple processes inside the OS, and one process can have multiple threads.</a:t>
            </a:r>
          </a:p>
          <a:p>
            <a:endParaRPr lang="en-IN" dirty="0"/>
          </a:p>
        </p:txBody>
      </p:sp>
      <p:pic>
        <p:nvPicPr>
          <p:cNvPr id="4" name="Picture 3">
            <a:extLst>
              <a:ext uri="{FF2B5EF4-FFF2-40B4-BE49-F238E27FC236}">
                <a16:creationId xmlns:a16="http://schemas.microsoft.com/office/drawing/2014/main" id="{EBD3FD35-BE23-9560-1FB8-2E5BE9685634}"/>
              </a:ext>
            </a:extLst>
          </p:cNvPr>
          <p:cNvPicPr>
            <a:picLocks noChangeAspect="1"/>
          </p:cNvPicPr>
          <p:nvPr/>
        </p:nvPicPr>
        <p:blipFill>
          <a:blip r:embed="rId2"/>
          <a:stretch>
            <a:fillRect/>
          </a:stretch>
        </p:blipFill>
        <p:spPr>
          <a:xfrm>
            <a:off x="7463234" y="3565036"/>
            <a:ext cx="4284000" cy="3165517"/>
          </a:xfrm>
          <a:prstGeom prst="rect">
            <a:avLst/>
          </a:prstGeom>
        </p:spPr>
      </p:pic>
    </p:spTree>
    <p:extLst>
      <p:ext uri="{BB962C8B-B14F-4D97-AF65-F5344CB8AC3E}">
        <p14:creationId xmlns:p14="http://schemas.microsoft.com/office/powerpoint/2010/main" val="4053003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E35DC-B73D-C9BC-F81E-60F7A41A89F0}"/>
              </a:ext>
            </a:extLst>
          </p:cNvPr>
          <p:cNvSpPr>
            <a:spLocks noGrp="1"/>
          </p:cNvSpPr>
          <p:nvPr>
            <p:ph type="title"/>
          </p:nvPr>
        </p:nvSpPr>
        <p:spPr>
          <a:xfrm>
            <a:off x="838200" y="258121"/>
            <a:ext cx="10515600" cy="597913"/>
          </a:xfrm>
        </p:spPr>
        <p:txBody>
          <a:bodyPr>
            <a:normAutofit fontScale="90000"/>
          </a:bodyPr>
          <a:lstStyle/>
          <a:p>
            <a:pPr algn="ctr"/>
            <a:r>
              <a:rPr lang="en-IN" dirty="0"/>
              <a:t>Life cycle of Thread</a:t>
            </a:r>
          </a:p>
        </p:txBody>
      </p:sp>
      <p:sp>
        <p:nvSpPr>
          <p:cNvPr id="3" name="Content Placeholder 2">
            <a:extLst>
              <a:ext uri="{FF2B5EF4-FFF2-40B4-BE49-F238E27FC236}">
                <a16:creationId xmlns:a16="http://schemas.microsoft.com/office/drawing/2014/main" id="{599A6687-E82F-8DB2-45ED-5154B786A2B4}"/>
              </a:ext>
            </a:extLst>
          </p:cNvPr>
          <p:cNvSpPr>
            <a:spLocks noGrp="1"/>
          </p:cNvSpPr>
          <p:nvPr>
            <p:ph idx="1"/>
          </p:nvPr>
        </p:nvSpPr>
        <p:spPr>
          <a:xfrm>
            <a:off x="838200" y="1253331"/>
            <a:ext cx="10515600" cy="4351338"/>
          </a:xfrm>
        </p:spPr>
        <p:txBody>
          <a:bodyPr>
            <a:normAutofit/>
          </a:bodyPr>
          <a:lstStyle/>
          <a:p>
            <a:pPr algn="just"/>
            <a:r>
              <a:rPr lang="en-US" sz="2400" dirty="0"/>
              <a:t>The Life Cycle of a Thread in Java refers to the state transformations of a thread that begins with its birth and ends with its death. </a:t>
            </a:r>
          </a:p>
          <a:p>
            <a:pPr algn="just"/>
            <a:r>
              <a:rPr lang="en-US" sz="2400" dirty="0"/>
              <a:t>When a thread instance is generated and executed by calling the start() method of the Thread class, the thread enters the runnable state. </a:t>
            </a:r>
          </a:p>
          <a:p>
            <a:pPr algn="just"/>
            <a:r>
              <a:rPr lang="en-US" sz="2400" dirty="0"/>
              <a:t>When the sleep() or wait() methods of the Thread class are called, the thread enters a non-runnable mode.</a:t>
            </a:r>
          </a:p>
          <a:p>
            <a:pPr algn="just"/>
            <a:r>
              <a:rPr lang="en-US" sz="2400" dirty="0"/>
              <a:t>Thread returns from non-runnable state to runnable state and starts statement execution. </a:t>
            </a:r>
          </a:p>
          <a:p>
            <a:pPr algn="just"/>
            <a:r>
              <a:rPr lang="en-US" sz="2400" dirty="0"/>
              <a:t>The thread dies when it exits the run() process. In Java, these thread state transformations are referred to as the Thread life cycle.</a:t>
            </a:r>
            <a:endParaRPr lang="en-IN" sz="2400" dirty="0"/>
          </a:p>
        </p:txBody>
      </p:sp>
    </p:spTree>
    <p:extLst>
      <p:ext uri="{BB962C8B-B14F-4D97-AF65-F5344CB8AC3E}">
        <p14:creationId xmlns:p14="http://schemas.microsoft.com/office/powerpoint/2010/main" val="335802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CF5D2-C662-5658-EE41-14BD6B6980D0}"/>
              </a:ext>
            </a:extLst>
          </p:cNvPr>
          <p:cNvSpPr>
            <a:spLocks noGrp="1"/>
          </p:cNvSpPr>
          <p:nvPr>
            <p:ph type="title"/>
          </p:nvPr>
        </p:nvSpPr>
        <p:spPr>
          <a:xfrm>
            <a:off x="838200" y="365126"/>
            <a:ext cx="10515600" cy="636824"/>
          </a:xfrm>
        </p:spPr>
        <p:txBody>
          <a:bodyPr>
            <a:normAutofit fontScale="90000"/>
          </a:bodyPr>
          <a:lstStyle/>
          <a:p>
            <a:pPr algn="ctr"/>
            <a:r>
              <a:rPr lang="en-IN" dirty="0"/>
              <a:t>Life cycle of Thread</a:t>
            </a:r>
          </a:p>
        </p:txBody>
      </p:sp>
      <p:pic>
        <p:nvPicPr>
          <p:cNvPr id="5" name="Picture 4">
            <a:extLst>
              <a:ext uri="{FF2B5EF4-FFF2-40B4-BE49-F238E27FC236}">
                <a16:creationId xmlns:a16="http://schemas.microsoft.com/office/drawing/2014/main" id="{F65531BF-ADB0-B392-2161-3DA5F8B66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1726" y="1385502"/>
            <a:ext cx="4916020" cy="4865208"/>
          </a:xfrm>
          <a:prstGeom prst="rect">
            <a:avLst/>
          </a:prstGeom>
        </p:spPr>
      </p:pic>
    </p:spTree>
    <p:extLst>
      <p:ext uri="{BB962C8B-B14F-4D97-AF65-F5344CB8AC3E}">
        <p14:creationId xmlns:p14="http://schemas.microsoft.com/office/powerpoint/2010/main" val="2349458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13959-35BE-01C4-E5D8-5AAA4B88FC34}"/>
              </a:ext>
            </a:extLst>
          </p:cNvPr>
          <p:cNvSpPr>
            <a:spLocks noGrp="1"/>
          </p:cNvSpPr>
          <p:nvPr>
            <p:ph type="title"/>
          </p:nvPr>
        </p:nvSpPr>
        <p:spPr>
          <a:xfrm>
            <a:off x="838200" y="102478"/>
            <a:ext cx="10515600" cy="656279"/>
          </a:xfrm>
        </p:spPr>
        <p:txBody>
          <a:bodyPr>
            <a:normAutofit fontScale="90000"/>
          </a:bodyPr>
          <a:lstStyle/>
          <a:p>
            <a:pPr algn="ctr"/>
            <a:r>
              <a:rPr lang="en-IN" dirty="0"/>
              <a:t>Life cycle of Thread</a:t>
            </a:r>
          </a:p>
        </p:txBody>
      </p:sp>
      <p:sp>
        <p:nvSpPr>
          <p:cNvPr id="3" name="Content Placeholder 2">
            <a:extLst>
              <a:ext uri="{FF2B5EF4-FFF2-40B4-BE49-F238E27FC236}">
                <a16:creationId xmlns:a16="http://schemas.microsoft.com/office/drawing/2014/main" id="{F6076ED4-CBD0-4082-A126-A29277F7F496}"/>
              </a:ext>
            </a:extLst>
          </p:cNvPr>
          <p:cNvSpPr>
            <a:spLocks noGrp="1"/>
          </p:cNvSpPr>
          <p:nvPr>
            <p:ph idx="1"/>
          </p:nvPr>
        </p:nvSpPr>
        <p:spPr>
          <a:xfrm>
            <a:off x="883596" y="959864"/>
            <a:ext cx="10515600" cy="5217200"/>
          </a:xfrm>
        </p:spPr>
        <p:txBody>
          <a:bodyPr>
            <a:normAutofit fontScale="92500" lnSpcReduction="10000"/>
          </a:bodyPr>
          <a:lstStyle/>
          <a:p>
            <a:pPr algn="just"/>
            <a:r>
              <a:rPr lang="en-IN" sz="2000" b="1" dirty="0">
                <a:latin typeface="Times New Roman" panose="02020603050405020304" pitchFamily="18" charset="0"/>
                <a:cs typeface="Times New Roman" panose="02020603050405020304" pitchFamily="18" charset="0"/>
              </a:rPr>
              <a:t>New State: </a:t>
            </a:r>
            <a:r>
              <a:rPr lang="en-US" sz="2000" dirty="0">
                <a:latin typeface="Times New Roman" panose="02020603050405020304" pitchFamily="18" charset="0"/>
                <a:cs typeface="Times New Roman" panose="02020603050405020304" pitchFamily="18" charset="0"/>
              </a:rPr>
              <a:t>As we use the Thread class to construct a thread entity, the thread is born and is defined as being in the New state. That is, when a thread is created, it enters a new state, but the start() method on the instance has not yet been invoked.</a:t>
            </a:r>
          </a:p>
          <a:p>
            <a:pPr algn="just"/>
            <a:r>
              <a:rPr lang="en-US" sz="2000" b="1" dirty="0">
                <a:latin typeface="Times New Roman" panose="02020603050405020304" pitchFamily="18" charset="0"/>
                <a:cs typeface="Times New Roman" panose="02020603050405020304" pitchFamily="18" charset="0"/>
              </a:rPr>
              <a:t>Runnable State: </a:t>
            </a:r>
            <a:r>
              <a:rPr lang="en-US" sz="2000" dirty="0">
                <a:latin typeface="Times New Roman" panose="02020603050405020304" pitchFamily="18" charset="0"/>
                <a:cs typeface="Times New Roman" panose="02020603050405020304" pitchFamily="18" charset="0"/>
              </a:rPr>
              <a:t>A thread in the runnable state is prepared to execute the code. When a new thread's start() function is called, it enters a runnable state. </a:t>
            </a:r>
          </a:p>
          <a:p>
            <a:pPr algn="just"/>
            <a:r>
              <a:rPr lang="en-US" sz="2000" dirty="0">
                <a:latin typeface="Times New Roman" panose="02020603050405020304" pitchFamily="18" charset="0"/>
                <a:cs typeface="Times New Roman" panose="02020603050405020304" pitchFamily="18" charset="0"/>
              </a:rPr>
              <a:t>In the runnable environment, the thread is ready for execution and is awaiting the processor's availability (CPU time). That is, the thread has entered the queue (line) of threads waiting for execution.</a:t>
            </a:r>
          </a:p>
          <a:p>
            <a:pPr algn="just"/>
            <a:r>
              <a:rPr lang="en-US" sz="2000" b="1" dirty="0">
                <a:latin typeface="Times New Roman" panose="02020603050405020304" pitchFamily="18" charset="0"/>
                <a:cs typeface="Times New Roman" panose="02020603050405020304" pitchFamily="18" charset="0"/>
              </a:rPr>
              <a:t>Running State: </a:t>
            </a:r>
            <a:r>
              <a:rPr lang="en-US" sz="2000" dirty="0">
                <a:latin typeface="Times New Roman" panose="02020603050405020304" pitchFamily="18" charset="0"/>
                <a:cs typeface="Times New Roman" panose="02020603050405020304" pitchFamily="18" charset="0"/>
              </a:rPr>
              <a:t>Running implies that the processor (CPU) has assigned a time slot to the thread for execution. When a thread from the runnable state is chosen for execution by the thread scheduler, it joins the running state. </a:t>
            </a:r>
          </a:p>
          <a:p>
            <a:pPr algn="just"/>
            <a:r>
              <a:rPr lang="en-US" sz="2000" dirty="0">
                <a:latin typeface="Times New Roman" panose="02020603050405020304" pitchFamily="18" charset="0"/>
                <a:cs typeface="Times New Roman" panose="02020603050405020304" pitchFamily="18" charset="0"/>
              </a:rPr>
              <a:t>In the running state, the processor allots time to the thread for execution and runs its run procedure. This is the state in which the thread directly executes its operations. Only from the runnable state will a thread enter the running state.</a:t>
            </a:r>
          </a:p>
          <a:p>
            <a:pPr>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Blocked State : </a:t>
            </a:r>
            <a:r>
              <a:rPr lang="en-US" sz="2100" dirty="0">
                <a:latin typeface="Times New Roman" panose="02020603050405020304" pitchFamily="18" charset="0"/>
                <a:cs typeface="Times New Roman" panose="02020603050405020304" pitchFamily="18" charset="0"/>
              </a:rPr>
              <a:t>When the thread is alive, i.e., the thread class object persists, but it cannot be selected for execution by the scheduler. It is now inactive.</a:t>
            </a:r>
          </a:p>
          <a:p>
            <a:r>
              <a:rPr lang="en-US" sz="2100" b="1" dirty="0">
                <a:latin typeface="Times New Roman" panose="02020603050405020304" pitchFamily="18" charset="0"/>
                <a:cs typeface="Times New Roman" panose="02020603050405020304" pitchFamily="18" charset="0"/>
              </a:rPr>
              <a:t>Dead State : </a:t>
            </a:r>
            <a:r>
              <a:rPr lang="en-US" sz="2100" dirty="0">
                <a:latin typeface="Times New Roman" panose="02020603050405020304" pitchFamily="18" charset="0"/>
                <a:cs typeface="Times New Roman" panose="02020603050405020304" pitchFamily="18" charset="0"/>
              </a:rPr>
              <a:t>When a thread's run() function ends the execution of sentences, it automatically dies or enters the dead state. That is, when a thread exits the run() process, it is terminated or killed. When the stop() function is invoked, a thread will also go dead.</a:t>
            </a:r>
          </a:p>
          <a:p>
            <a:endParaRPr lang="en-US" sz="21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8956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7A9B-9B92-C28B-C56C-05677B0BDA8F}"/>
              </a:ext>
            </a:extLst>
          </p:cNvPr>
          <p:cNvSpPr>
            <a:spLocks noGrp="1"/>
          </p:cNvSpPr>
          <p:nvPr>
            <p:ph type="title"/>
          </p:nvPr>
        </p:nvSpPr>
        <p:spPr>
          <a:xfrm>
            <a:off x="838200" y="141490"/>
            <a:ext cx="10515600" cy="539547"/>
          </a:xfrm>
        </p:spPr>
        <p:txBody>
          <a:bodyPr>
            <a:normAutofit fontScale="90000"/>
          </a:bodyPr>
          <a:lstStyle/>
          <a:p>
            <a:pPr algn="ctr"/>
            <a:r>
              <a:rPr lang="en-IN" dirty="0"/>
              <a:t>How to create Thread in Java</a:t>
            </a:r>
          </a:p>
        </p:txBody>
      </p:sp>
      <p:sp>
        <p:nvSpPr>
          <p:cNvPr id="3" name="Content Placeholder 2">
            <a:extLst>
              <a:ext uri="{FF2B5EF4-FFF2-40B4-BE49-F238E27FC236}">
                <a16:creationId xmlns:a16="http://schemas.microsoft.com/office/drawing/2014/main" id="{B835F3E3-AE33-C0A5-FE15-375344ABFB3F}"/>
              </a:ext>
            </a:extLst>
          </p:cNvPr>
          <p:cNvSpPr>
            <a:spLocks noGrp="1"/>
          </p:cNvSpPr>
          <p:nvPr>
            <p:ph idx="1"/>
          </p:nvPr>
        </p:nvSpPr>
        <p:spPr>
          <a:xfrm>
            <a:off x="916022" y="1086323"/>
            <a:ext cx="10515600" cy="4351338"/>
          </a:xfrm>
        </p:spPr>
        <p:txBody>
          <a:bodyPr/>
          <a:lstStyle/>
          <a:p>
            <a:pPr algn="just"/>
            <a:r>
              <a:rPr lang="en-US" dirty="0"/>
              <a:t>There are two ways to create a thread:</a:t>
            </a:r>
          </a:p>
          <a:p>
            <a:pPr lvl="1" algn="just"/>
            <a:r>
              <a:rPr lang="en-US" dirty="0"/>
              <a:t>By extending Thread class</a:t>
            </a:r>
          </a:p>
          <a:p>
            <a:pPr lvl="1" algn="just"/>
            <a:r>
              <a:rPr lang="en-US" dirty="0"/>
              <a:t>By implementing Runnable interface.</a:t>
            </a:r>
          </a:p>
          <a:p>
            <a:endParaRPr lang="en-IN" dirty="0"/>
          </a:p>
        </p:txBody>
      </p:sp>
    </p:spTree>
    <p:extLst>
      <p:ext uri="{BB962C8B-B14F-4D97-AF65-F5344CB8AC3E}">
        <p14:creationId xmlns:p14="http://schemas.microsoft.com/office/powerpoint/2010/main" val="937103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2110F-D50B-08F4-51CE-DE8EAFB4D19F}"/>
              </a:ext>
            </a:extLst>
          </p:cNvPr>
          <p:cNvSpPr>
            <a:spLocks noGrp="1"/>
          </p:cNvSpPr>
          <p:nvPr>
            <p:ph type="title"/>
          </p:nvPr>
        </p:nvSpPr>
        <p:spPr>
          <a:xfrm>
            <a:off x="838200" y="180301"/>
            <a:ext cx="10515600" cy="627096"/>
          </a:xfrm>
        </p:spPr>
        <p:txBody>
          <a:bodyPr>
            <a:normAutofit fontScale="90000"/>
          </a:bodyPr>
          <a:lstStyle/>
          <a:p>
            <a:pPr algn="ctr"/>
            <a:r>
              <a:rPr lang="en-IN" dirty="0"/>
              <a:t>Thread Class</a:t>
            </a:r>
          </a:p>
        </p:txBody>
      </p:sp>
      <p:sp>
        <p:nvSpPr>
          <p:cNvPr id="3" name="Content Placeholder 2">
            <a:extLst>
              <a:ext uri="{FF2B5EF4-FFF2-40B4-BE49-F238E27FC236}">
                <a16:creationId xmlns:a16="http://schemas.microsoft.com/office/drawing/2014/main" id="{F746DA2D-F28A-C6E7-9241-45F67E74DD5E}"/>
              </a:ext>
            </a:extLst>
          </p:cNvPr>
          <p:cNvSpPr>
            <a:spLocks noGrp="1"/>
          </p:cNvSpPr>
          <p:nvPr>
            <p:ph idx="1"/>
          </p:nvPr>
        </p:nvSpPr>
        <p:spPr>
          <a:xfrm>
            <a:off x="838199" y="1348969"/>
            <a:ext cx="10727987" cy="4351338"/>
          </a:xfrm>
        </p:spPr>
        <p:txBody>
          <a:bodyPr/>
          <a:lstStyle/>
          <a:p>
            <a:r>
              <a:rPr lang="en-US" dirty="0"/>
              <a:t>Thread class provide constructors and methods to create and perform operations on a thread.</a:t>
            </a:r>
          </a:p>
          <a:p>
            <a:r>
              <a:rPr lang="en-US" dirty="0"/>
              <a:t>Thread class extends Object class and implements Runnable interface.</a:t>
            </a:r>
          </a:p>
          <a:p>
            <a:r>
              <a:rPr lang="en-US" dirty="0"/>
              <a:t>Commonly used Constructors of Thread class:</a:t>
            </a:r>
          </a:p>
          <a:p>
            <a:pPr lvl="1"/>
            <a:r>
              <a:rPr lang="en-US" dirty="0"/>
              <a:t>Thread()</a:t>
            </a:r>
          </a:p>
          <a:p>
            <a:pPr lvl="1"/>
            <a:r>
              <a:rPr lang="en-US" dirty="0"/>
              <a:t>Thread(String name)</a:t>
            </a:r>
          </a:p>
          <a:p>
            <a:pPr lvl="1"/>
            <a:r>
              <a:rPr lang="en-US" dirty="0"/>
              <a:t>Thread(Runnable r)</a:t>
            </a:r>
          </a:p>
          <a:p>
            <a:pPr lvl="1"/>
            <a:r>
              <a:rPr lang="en-US" dirty="0"/>
              <a:t>Thread(Runnable r, String name)</a:t>
            </a:r>
          </a:p>
          <a:p>
            <a:endParaRPr lang="en-IN" dirty="0"/>
          </a:p>
        </p:txBody>
      </p:sp>
    </p:spTree>
    <p:extLst>
      <p:ext uri="{BB962C8B-B14F-4D97-AF65-F5344CB8AC3E}">
        <p14:creationId xmlns:p14="http://schemas.microsoft.com/office/powerpoint/2010/main" val="3724877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3FE6A-CA4B-1D4D-0F96-8EBA7A3B8D57}"/>
              </a:ext>
            </a:extLst>
          </p:cNvPr>
          <p:cNvSpPr>
            <a:spLocks noGrp="1"/>
          </p:cNvSpPr>
          <p:nvPr>
            <p:ph type="title"/>
          </p:nvPr>
        </p:nvSpPr>
        <p:spPr>
          <a:xfrm>
            <a:off x="838200" y="141490"/>
            <a:ext cx="10515600" cy="539547"/>
          </a:xfrm>
        </p:spPr>
        <p:txBody>
          <a:bodyPr>
            <a:normAutofit fontScale="90000"/>
          </a:bodyPr>
          <a:lstStyle/>
          <a:p>
            <a:pPr algn="ctr"/>
            <a:r>
              <a:rPr lang="en-IN" dirty="0"/>
              <a:t>Create thread using Thread()</a:t>
            </a:r>
          </a:p>
        </p:txBody>
      </p:sp>
      <p:sp>
        <p:nvSpPr>
          <p:cNvPr id="3" name="Content Placeholder 2">
            <a:extLst>
              <a:ext uri="{FF2B5EF4-FFF2-40B4-BE49-F238E27FC236}">
                <a16:creationId xmlns:a16="http://schemas.microsoft.com/office/drawing/2014/main" id="{9EF59ED6-D6E6-F153-9CB6-FA8273C9339C}"/>
              </a:ext>
            </a:extLst>
          </p:cNvPr>
          <p:cNvSpPr>
            <a:spLocks noGrp="1"/>
          </p:cNvSpPr>
          <p:nvPr>
            <p:ph idx="1"/>
          </p:nvPr>
        </p:nvSpPr>
        <p:spPr>
          <a:xfrm>
            <a:off x="838200" y="1183600"/>
            <a:ext cx="10515600" cy="470102"/>
          </a:xfrm>
        </p:spPr>
        <p:txBody>
          <a:bodyPr>
            <a:normAutofit lnSpcReduction="10000"/>
          </a:bodyPr>
          <a:lstStyle/>
          <a:p>
            <a:r>
              <a:rPr lang="en-US" dirty="0"/>
              <a:t>The default Thread() constructor is used to create a new Thread class.</a:t>
            </a:r>
            <a:endParaRPr lang="en-IN" dirty="0"/>
          </a:p>
        </p:txBody>
      </p:sp>
      <p:sp>
        <p:nvSpPr>
          <p:cNvPr id="5" name="TextBox 4">
            <a:extLst>
              <a:ext uri="{FF2B5EF4-FFF2-40B4-BE49-F238E27FC236}">
                <a16:creationId xmlns:a16="http://schemas.microsoft.com/office/drawing/2014/main" id="{8D5404E0-BFF5-2E0A-8C0B-421C35F603CD}"/>
              </a:ext>
            </a:extLst>
          </p:cNvPr>
          <p:cNvSpPr txBox="1"/>
          <p:nvPr/>
        </p:nvSpPr>
        <p:spPr>
          <a:xfrm>
            <a:off x="1459149" y="1958928"/>
            <a:ext cx="10058400" cy="2585323"/>
          </a:xfrm>
          <a:prstGeom prst="rect">
            <a:avLst/>
          </a:prstGeom>
          <a:noFill/>
        </p:spPr>
        <p:txBody>
          <a:bodyPr wrap="square">
            <a:spAutoFit/>
          </a:bodyPr>
          <a:lstStyle/>
          <a:p>
            <a:r>
              <a:rPr lang="en-US" dirty="0"/>
              <a:t>public class </a:t>
            </a:r>
            <a:r>
              <a:rPr lang="en-US" dirty="0" err="1"/>
              <a:t>ThreadExample</a:t>
            </a:r>
            <a:r>
              <a:rPr lang="en-US" dirty="0"/>
              <a:t> extends Thread</a:t>
            </a:r>
          </a:p>
          <a:p>
            <a:r>
              <a:rPr lang="en-US" dirty="0"/>
              <a:t>{</a:t>
            </a:r>
          </a:p>
          <a:p>
            <a:r>
              <a:rPr lang="en-US" dirty="0"/>
              <a:t>	public static void main (String </a:t>
            </a:r>
            <a:r>
              <a:rPr lang="en-US" dirty="0" err="1"/>
              <a:t>args</a:t>
            </a:r>
            <a:r>
              <a:rPr lang="en-US" dirty="0"/>
              <a:t>[])</a:t>
            </a:r>
          </a:p>
          <a:p>
            <a:r>
              <a:rPr lang="en-US" dirty="0"/>
              <a:t>	{</a:t>
            </a:r>
          </a:p>
          <a:p>
            <a:r>
              <a:rPr lang="en-US" dirty="0"/>
              <a:t>		Thread t1 = new Thread();</a:t>
            </a:r>
          </a:p>
          <a:p>
            <a:r>
              <a:rPr lang="en-US" dirty="0"/>
              <a:t>		t1.start();</a:t>
            </a:r>
          </a:p>
          <a:p>
            <a:r>
              <a:rPr lang="en-US" dirty="0"/>
              <a:t>		</a:t>
            </a:r>
            <a:r>
              <a:rPr lang="en-US" dirty="0" err="1"/>
              <a:t>System.out.println</a:t>
            </a:r>
            <a:r>
              <a:rPr lang="en-US" dirty="0"/>
              <a:t>("Thread has been created with name " +t1.getName());</a:t>
            </a:r>
          </a:p>
          <a:p>
            <a:r>
              <a:rPr lang="en-US" dirty="0"/>
              <a:t>	}</a:t>
            </a:r>
          </a:p>
          <a:p>
            <a:r>
              <a:rPr lang="en-US" dirty="0"/>
              <a:t>}</a:t>
            </a:r>
            <a:endParaRPr lang="en-IN" dirty="0"/>
          </a:p>
        </p:txBody>
      </p:sp>
      <p:sp>
        <p:nvSpPr>
          <p:cNvPr id="7" name="TextBox 6">
            <a:extLst>
              <a:ext uri="{FF2B5EF4-FFF2-40B4-BE49-F238E27FC236}">
                <a16:creationId xmlns:a16="http://schemas.microsoft.com/office/drawing/2014/main" id="{EF4D9DF1-93B6-23D8-6836-200334985B95}"/>
              </a:ext>
            </a:extLst>
          </p:cNvPr>
          <p:cNvSpPr txBox="1"/>
          <p:nvPr/>
        </p:nvSpPr>
        <p:spPr>
          <a:xfrm>
            <a:off x="1675589" y="5498976"/>
            <a:ext cx="6094378" cy="646331"/>
          </a:xfrm>
          <a:prstGeom prst="rect">
            <a:avLst/>
          </a:prstGeom>
          <a:noFill/>
        </p:spPr>
        <p:txBody>
          <a:bodyPr wrap="square">
            <a:spAutoFit/>
          </a:bodyPr>
          <a:lstStyle/>
          <a:p>
            <a:r>
              <a:rPr lang="en-US" dirty="0"/>
              <a:t>C:\java\lab&gt;java ThreadExample.java</a:t>
            </a:r>
          </a:p>
          <a:p>
            <a:r>
              <a:rPr lang="en-US" dirty="0"/>
              <a:t>Thread has been created with name Thread-0</a:t>
            </a:r>
            <a:endParaRPr lang="en-IN" dirty="0"/>
          </a:p>
        </p:txBody>
      </p:sp>
    </p:spTree>
    <p:extLst>
      <p:ext uri="{BB962C8B-B14F-4D97-AF65-F5344CB8AC3E}">
        <p14:creationId xmlns:p14="http://schemas.microsoft.com/office/powerpoint/2010/main" val="4165083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E4C7-354F-CB65-815D-1331CDA7DEF3}"/>
              </a:ext>
            </a:extLst>
          </p:cNvPr>
          <p:cNvSpPr>
            <a:spLocks noGrp="1"/>
          </p:cNvSpPr>
          <p:nvPr>
            <p:ph type="title"/>
          </p:nvPr>
        </p:nvSpPr>
        <p:spPr>
          <a:xfrm>
            <a:off x="838200" y="295681"/>
            <a:ext cx="10515600" cy="539547"/>
          </a:xfrm>
        </p:spPr>
        <p:txBody>
          <a:bodyPr>
            <a:normAutofit fontScale="90000"/>
          </a:bodyPr>
          <a:lstStyle/>
          <a:p>
            <a:pPr algn="ctr"/>
            <a:r>
              <a:rPr lang="en-IN" dirty="0"/>
              <a:t>Create thread using Thread(String str)</a:t>
            </a:r>
          </a:p>
        </p:txBody>
      </p:sp>
      <p:sp>
        <p:nvSpPr>
          <p:cNvPr id="3" name="Content Placeholder 2">
            <a:extLst>
              <a:ext uri="{FF2B5EF4-FFF2-40B4-BE49-F238E27FC236}">
                <a16:creationId xmlns:a16="http://schemas.microsoft.com/office/drawing/2014/main" id="{18CDD46D-E58D-1308-04E9-3B35B613F889}"/>
              </a:ext>
            </a:extLst>
          </p:cNvPr>
          <p:cNvSpPr>
            <a:spLocks noGrp="1"/>
          </p:cNvSpPr>
          <p:nvPr>
            <p:ph idx="1"/>
          </p:nvPr>
        </p:nvSpPr>
        <p:spPr>
          <a:xfrm>
            <a:off x="838200" y="1222510"/>
            <a:ext cx="10515600" cy="470103"/>
          </a:xfrm>
        </p:spPr>
        <p:txBody>
          <a:bodyPr>
            <a:normAutofit lnSpcReduction="10000"/>
          </a:bodyPr>
          <a:lstStyle/>
          <a:p>
            <a:r>
              <a:rPr lang="en-US" dirty="0"/>
              <a:t>A thread object is created and a name is provided to the same.</a:t>
            </a:r>
            <a:endParaRPr lang="en-IN" dirty="0"/>
          </a:p>
        </p:txBody>
      </p:sp>
      <p:sp>
        <p:nvSpPr>
          <p:cNvPr id="5" name="TextBox 4">
            <a:extLst>
              <a:ext uri="{FF2B5EF4-FFF2-40B4-BE49-F238E27FC236}">
                <a16:creationId xmlns:a16="http://schemas.microsoft.com/office/drawing/2014/main" id="{5602BD29-84AE-93A7-0E65-0F92A9A891B5}"/>
              </a:ext>
            </a:extLst>
          </p:cNvPr>
          <p:cNvSpPr txBox="1"/>
          <p:nvPr/>
        </p:nvSpPr>
        <p:spPr>
          <a:xfrm>
            <a:off x="1050587" y="1997839"/>
            <a:ext cx="9610928" cy="2585323"/>
          </a:xfrm>
          <a:prstGeom prst="rect">
            <a:avLst/>
          </a:prstGeom>
          <a:noFill/>
        </p:spPr>
        <p:txBody>
          <a:bodyPr wrap="square">
            <a:spAutoFit/>
          </a:bodyPr>
          <a:lstStyle/>
          <a:p>
            <a:r>
              <a:rPr lang="en-US" dirty="0"/>
              <a:t>public class ThreadExample1 extends Thread</a:t>
            </a:r>
          </a:p>
          <a:p>
            <a:r>
              <a:rPr lang="en-US" dirty="0"/>
              <a:t>{</a:t>
            </a:r>
          </a:p>
          <a:p>
            <a:r>
              <a:rPr lang="en-US" dirty="0"/>
              <a:t>	public static void main (String </a:t>
            </a:r>
            <a:r>
              <a:rPr lang="en-US" dirty="0" err="1"/>
              <a:t>args</a:t>
            </a:r>
            <a:r>
              <a:rPr lang="en-US" dirty="0"/>
              <a:t>[])</a:t>
            </a:r>
          </a:p>
          <a:p>
            <a:r>
              <a:rPr lang="en-US" dirty="0"/>
              <a:t>	{</a:t>
            </a:r>
          </a:p>
          <a:p>
            <a:r>
              <a:rPr lang="en-US" dirty="0"/>
              <a:t>		Thread t1 = new Thread("java thread");</a:t>
            </a:r>
          </a:p>
          <a:p>
            <a:r>
              <a:rPr lang="en-US" dirty="0"/>
              <a:t>		t1.start();</a:t>
            </a:r>
          </a:p>
          <a:p>
            <a:r>
              <a:rPr lang="en-US" dirty="0"/>
              <a:t>		</a:t>
            </a:r>
            <a:r>
              <a:rPr lang="en-US" dirty="0" err="1"/>
              <a:t>System.out.println</a:t>
            </a:r>
            <a:r>
              <a:rPr lang="en-US" dirty="0"/>
              <a:t>("Thread has been created with name " +t1.getName());</a:t>
            </a:r>
          </a:p>
          <a:p>
            <a:r>
              <a:rPr lang="en-US" dirty="0"/>
              <a:t>	}</a:t>
            </a:r>
          </a:p>
          <a:p>
            <a:r>
              <a:rPr lang="en-US" dirty="0"/>
              <a:t>}</a:t>
            </a:r>
            <a:endParaRPr lang="en-IN" dirty="0"/>
          </a:p>
        </p:txBody>
      </p:sp>
      <p:sp>
        <p:nvSpPr>
          <p:cNvPr id="7" name="TextBox 6">
            <a:extLst>
              <a:ext uri="{FF2B5EF4-FFF2-40B4-BE49-F238E27FC236}">
                <a16:creationId xmlns:a16="http://schemas.microsoft.com/office/drawing/2014/main" id="{58057B9B-2A69-E574-482B-8C2B2043BA68}"/>
              </a:ext>
            </a:extLst>
          </p:cNvPr>
          <p:cNvSpPr txBox="1"/>
          <p:nvPr/>
        </p:nvSpPr>
        <p:spPr>
          <a:xfrm>
            <a:off x="2035513" y="5489111"/>
            <a:ext cx="6094378" cy="646331"/>
          </a:xfrm>
          <a:prstGeom prst="rect">
            <a:avLst/>
          </a:prstGeom>
          <a:noFill/>
        </p:spPr>
        <p:txBody>
          <a:bodyPr wrap="square">
            <a:spAutoFit/>
          </a:bodyPr>
          <a:lstStyle/>
          <a:p>
            <a:r>
              <a:rPr lang="en-US" dirty="0"/>
              <a:t>C:\java\lab&gt;java ThreadExample1</a:t>
            </a:r>
          </a:p>
          <a:p>
            <a:r>
              <a:rPr lang="en-US" dirty="0"/>
              <a:t>Thread has been created with name java thread</a:t>
            </a:r>
            <a:endParaRPr lang="en-IN" dirty="0"/>
          </a:p>
        </p:txBody>
      </p:sp>
    </p:spTree>
    <p:extLst>
      <p:ext uri="{BB962C8B-B14F-4D97-AF65-F5344CB8AC3E}">
        <p14:creationId xmlns:p14="http://schemas.microsoft.com/office/powerpoint/2010/main" val="578800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A8CE-219A-25E5-4A28-4532D0CA3395}"/>
              </a:ext>
            </a:extLst>
          </p:cNvPr>
          <p:cNvSpPr>
            <a:spLocks noGrp="1"/>
          </p:cNvSpPr>
          <p:nvPr>
            <p:ph type="title"/>
          </p:nvPr>
        </p:nvSpPr>
        <p:spPr>
          <a:xfrm>
            <a:off x="838200" y="24758"/>
            <a:ext cx="10515600" cy="656279"/>
          </a:xfrm>
        </p:spPr>
        <p:txBody>
          <a:bodyPr>
            <a:normAutofit fontScale="90000"/>
          </a:bodyPr>
          <a:lstStyle/>
          <a:p>
            <a:pPr algn="ctr"/>
            <a:r>
              <a:rPr lang="en-IN" dirty="0"/>
              <a:t>Create thread using Thread (Runnable R)</a:t>
            </a:r>
          </a:p>
        </p:txBody>
      </p:sp>
      <p:sp>
        <p:nvSpPr>
          <p:cNvPr id="3" name="Content Placeholder 2">
            <a:extLst>
              <a:ext uri="{FF2B5EF4-FFF2-40B4-BE49-F238E27FC236}">
                <a16:creationId xmlns:a16="http://schemas.microsoft.com/office/drawing/2014/main" id="{6C28B21F-DAB5-95AC-6BD5-32DA29E45B66}"/>
              </a:ext>
            </a:extLst>
          </p:cNvPr>
          <p:cNvSpPr>
            <a:spLocks noGrp="1"/>
          </p:cNvSpPr>
          <p:nvPr>
            <p:ph idx="1"/>
          </p:nvPr>
        </p:nvSpPr>
        <p:spPr>
          <a:xfrm>
            <a:off x="838200" y="919602"/>
            <a:ext cx="10515600" cy="431192"/>
          </a:xfrm>
        </p:spPr>
        <p:txBody>
          <a:bodyPr>
            <a:normAutofit fontScale="92500" lnSpcReduction="10000"/>
          </a:bodyPr>
          <a:lstStyle/>
          <a:p>
            <a:r>
              <a:rPr lang="en-US" dirty="0"/>
              <a:t>Runnable reference is passed and a new Thread object is created.</a:t>
            </a:r>
            <a:endParaRPr lang="en-IN" dirty="0"/>
          </a:p>
        </p:txBody>
      </p:sp>
      <p:sp>
        <p:nvSpPr>
          <p:cNvPr id="5" name="TextBox 4">
            <a:extLst>
              <a:ext uri="{FF2B5EF4-FFF2-40B4-BE49-F238E27FC236}">
                <a16:creationId xmlns:a16="http://schemas.microsoft.com/office/drawing/2014/main" id="{BB27BFF8-287B-E8BE-0A77-3C3AF736F608}"/>
              </a:ext>
            </a:extLst>
          </p:cNvPr>
          <p:cNvSpPr txBox="1"/>
          <p:nvPr/>
        </p:nvSpPr>
        <p:spPr>
          <a:xfrm>
            <a:off x="1138136" y="1589359"/>
            <a:ext cx="9747114" cy="4524315"/>
          </a:xfrm>
          <a:prstGeom prst="rect">
            <a:avLst/>
          </a:prstGeom>
          <a:noFill/>
        </p:spPr>
        <p:txBody>
          <a:bodyPr wrap="square">
            <a:spAutoFit/>
          </a:bodyPr>
          <a:lstStyle/>
          <a:p>
            <a:r>
              <a:rPr lang="en-IN"/>
              <a:t>class Testing implements Runnable</a:t>
            </a:r>
          </a:p>
          <a:p>
            <a:r>
              <a:rPr lang="en-IN"/>
              <a:t>{</a:t>
            </a:r>
          </a:p>
          <a:p>
            <a:r>
              <a:rPr lang="en-IN"/>
              <a:t>	public void run()</a:t>
            </a:r>
          </a:p>
          <a:p>
            <a:r>
              <a:rPr lang="en-IN"/>
              <a:t>	{</a:t>
            </a:r>
          </a:p>
          <a:p>
            <a:r>
              <a:rPr lang="en-IN"/>
              <a:t>		System.out.println("Do something");</a:t>
            </a:r>
          </a:p>
          <a:p>
            <a:r>
              <a:rPr lang="en-IN"/>
              <a:t>	}</a:t>
            </a:r>
          </a:p>
          <a:p>
            <a:r>
              <a:rPr lang="en-IN"/>
              <a:t>}	</a:t>
            </a:r>
          </a:p>
          <a:p>
            <a:r>
              <a:rPr lang="en-IN"/>
              <a:t>class ThreadExample2 extends Thread</a:t>
            </a:r>
          </a:p>
          <a:p>
            <a:r>
              <a:rPr lang="en-IN"/>
              <a:t>{</a:t>
            </a:r>
          </a:p>
          <a:p>
            <a:r>
              <a:rPr lang="en-IN"/>
              <a:t>	public static void main (String args[])</a:t>
            </a:r>
          </a:p>
          <a:p>
            <a:r>
              <a:rPr lang="en-IN"/>
              <a:t>	{</a:t>
            </a:r>
          </a:p>
          <a:p>
            <a:r>
              <a:rPr lang="en-IN"/>
              <a:t>		Thread t1 = new Thread (new Testing());</a:t>
            </a:r>
          </a:p>
          <a:p>
            <a:r>
              <a:rPr lang="en-IN"/>
              <a:t>		t1.start();</a:t>
            </a:r>
          </a:p>
          <a:p>
            <a:r>
              <a:rPr lang="en-IN"/>
              <a:t>		System.out.println(" Thread has been created with name " + t1.getName());</a:t>
            </a:r>
          </a:p>
          <a:p>
            <a:r>
              <a:rPr lang="en-IN"/>
              <a:t>	}</a:t>
            </a:r>
          </a:p>
          <a:p>
            <a:r>
              <a:rPr lang="en-IN"/>
              <a:t>}</a:t>
            </a:r>
            <a:endParaRPr lang="en-IN" dirty="0"/>
          </a:p>
        </p:txBody>
      </p:sp>
      <p:sp>
        <p:nvSpPr>
          <p:cNvPr id="7" name="TextBox 6">
            <a:extLst>
              <a:ext uri="{FF2B5EF4-FFF2-40B4-BE49-F238E27FC236}">
                <a16:creationId xmlns:a16="http://schemas.microsoft.com/office/drawing/2014/main" id="{EAD6DC5A-4BE2-B14A-4517-DB35F0EFE2BF}"/>
              </a:ext>
            </a:extLst>
          </p:cNvPr>
          <p:cNvSpPr txBox="1"/>
          <p:nvPr/>
        </p:nvSpPr>
        <p:spPr>
          <a:xfrm>
            <a:off x="7470843" y="3161888"/>
            <a:ext cx="4523361" cy="923330"/>
          </a:xfrm>
          <a:prstGeom prst="rect">
            <a:avLst/>
          </a:prstGeom>
          <a:noFill/>
        </p:spPr>
        <p:txBody>
          <a:bodyPr wrap="square">
            <a:spAutoFit/>
          </a:bodyPr>
          <a:lstStyle/>
          <a:p>
            <a:r>
              <a:rPr lang="en-IN" dirty="0"/>
              <a:t>C:\java\lab&gt; java ThreadExample2</a:t>
            </a:r>
          </a:p>
          <a:p>
            <a:r>
              <a:rPr lang="en-IN" dirty="0"/>
              <a:t>Do something</a:t>
            </a:r>
          </a:p>
          <a:p>
            <a:r>
              <a:rPr lang="en-IN" dirty="0"/>
              <a:t> Thread has been created with name Thread-0</a:t>
            </a:r>
          </a:p>
        </p:txBody>
      </p:sp>
    </p:spTree>
    <p:extLst>
      <p:ext uri="{BB962C8B-B14F-4D97-AF65-F5344CB8AC3E}">
        <p14:creationId xmlns:p14="http://schemas.microsoft.com/office/powerpoint/2010/main" val="126985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F0A0-6235-3207-693B-3919F56E3312}"/>
              </a:ext>
            </a:extLst>
          </p:cNvPr>
          <p:cNvSpPr>
            <a:spLocks noGrp="1"/>
          </p:cNvSpPr>
          <p:nvPr>
            <p:ph type="title"/>
          </p:nvPr>
        </p:nvSpPr>
        <p:spPr>
          <a:xfrm>
            <a:off x="838200" y="81486"/>
            <a:ext cx="10515600" cy="607641"/>
          </a:xfrm>
        </p:spPr>
        <p:txBody>
          <a:bodyPr>
            <a:normAutofit/>
          </a:bodyPr>
          <a:lstStyle/>
          <a:p>
            <a:pPr algn="ctr"/>
            <a:r>
              <a:rPr lang="en-IN" sz="3600" dirty="0"/>
              <a:t>Create thread using </a:t>
            </a:r>
            <a:r>
              <a:rPr lang="en-US" sz="3600" dirty="0"/>
              <a:t>Thread (Runnable r, String r)</a:t>
            </a:r>
            <a:endParaRPr lang="en-IN" sz="3600" dirty="0"/>
          </a:p>
        </p:txBody>
      </p:sp>
      <p:sp>
        <p:nvSpPr>
          <p:cNvPr id="3" name="Content Placeholder 2">
            <a:extLst>
              <a:ext uri="{FF2B5EF4-FFF2-40B4-BE49-F238E27FC236}">
                <a16:creationId xmlns:a16="http://schemas.microsoft.com/office/drawing/2014/main" id="{3DD5527E-0B36-F1A5-DEBB-4B965A4775D1}"/>
              </a:ext>
            </a:extLst>
          </p:cNvPr>
          <p:cNvSpPr>
            <a:spLocks noGrp="1"/>
          </p:cNvSpPr>
          <p:nvPr>
            <p:ph idx="1"/>
          </p:nvPr>
        </p:nvSpPr>
        <p:spPr>
          <a:xfrm>
            <a:off x="838200" y="971229"/>
            <a:ext cx="10515600" cy="828388"/>
          </a:xfrm>
        </p:spPr>
        <p:txBody>
          <a:bodyPr>
            <a:normAutofit lnSpcReduction="10000"/>
          </a:bodyPr>
          <a:lstStyle/>
          <a:p>
            <a:pPr algn="just"/>
            <a:r>
              <a:rPr lang="en-US" dirty="0"/>
              <a:t> A new Thread object by passing a Runnable reference as the first parameter and also providing a name for the newly generated thread.</a:t>
            </a:r>
            <a:endParaRPr lang="en-IN" dirty="0"/>
          </a:p>
        </p:txBody>
      </p:sp>
      <p:sp>
        <p:nvSpPr>
          <p:cNvPr id="5" name="TextBox 4">
            <a:extLst>
              <a:ext uri="{FF2B5EF4-FFF2-40B4-BE49-F238E27FC236}">
                <a16:creationId xmlns:a16="http://schemas.microsoft.com/office/drawing/2014/main" id="{F81E6353-8800-B78E-2A91-6C4D4ED22F52}"/>
              </a:ext>
            </a:extLst>
          </p:cNvPr>
          <p:cNvSpPr txBox="1"/>
          <p:nvPr/>
        </p:nvSpPr>
        <p:spPr>
          <a:xfrm>
            <a:off x="632297" y="1717656"/>
            <a:ext cx="9221821" cy="4524315"/>
          </a:xfrm>
          <a:prstGeom prst="rect">
            <a:avLst/>
          </a:prstGeom>
          <a:noFill/>
        </p:spPr>
        <p:txBody>
          <a:bodyPr wrap="square">
            <a:spAutoFit/>
          </a:bodyPr>
          <a:lstStyle/>
          <a:p>
            <a:r>
              <a:rPr lang="en-US" dirty="0"/>
              <a:t>class Book implements Runnable</a:t>
            </a:r>
          </a:p>
          <a:p>
            <a:r>
              <a:rPr lang="en-US" dirty="0"/>
              <a:t>{</a:t>
            </a:r>
          </a:p>
          <a:p>
            <a:r>
              <a:rPr lang="en-US" dirty="0"/>
              <a:t>	public void run()</a:t>
            </a:r>
          </a:p>
          <a:p>
            <a:r>
              <a:rPr lang="en-US" dirty="0"/>
              <a:t>	{</a:t>
            </a:r>
          </a:p>
          <a:p>
            <a:r>
              <a:rPr lang="en-US" dirty="0"/>
              <a:t>		</a:t>
            </a:r>
            <a:r>
              <a:rPr lang="en-US" dirty="0" err="1"/>
              <a:t>System.out.println</a:t>
            </a:r>
            <a:r>
              <a:rPr lang="en-US" dirty="0"/>
              <a:t>("Do A task");</a:t>
            </a:r>
          </a:p>
          <a:p>
            <a:r>
              <a:rPr lang="en-US" dirty="0"/>
              <a:t>	}</a:t>
            </a:r>
          </a:p>
          <a:p>
            <a:r>
              <a:rPr lang="en-US" dirty="0"/>
              <a:t>}</a:t>
            </a:r>
          </a:p>
          <a:p>
            <a:r>
              <a:rPr lang="en-US" dirty="0"/>
              <a:t>public class ThreadExample3 extends Thread</a:t>
            </a:r>
          </a:p>
          <a:p>
            <a:r>
              <a:rPr lang="en-US" dirty="0"/>
              <a:t>{</a:t>
            </a:r>
          </a:p>
          <a:p>
            <a:r>
              <a:rPr lang="en-US" dirty="0"/>
              <a:t>	public static void main (String </a:t>
            </a:r>
            <a:r>
              <a:rPr lang="en-US" dirty="0" err="1"/>
              <a:t>args</a:t>
            </a:r>
            <a:r>
              <a:rPr lang="en-US" dirty="0"/>
              <a:t>[])</a:t>
            </a:r>
          </a:p>
          <a:p>
            <a:r>
              <a:rPr lang="en-US" dirty="0"/>
              <a:t>	{</a:t>
            </a:r>
          </a:p>
          <a:p>
            <a:r>
              <a:rPr lang="en-US" dirty="0"/>
              <a:t>		Thread t1 = new Thread (new Book(), "Book Thread");</a:t>
            </a:r>
          </a:p>
          <a:p>
            <a:r>
              <a:rPr lang="en-US" dirty="0"/>
              <a:t>		t1.start();</a:t>
            </a:r>
          </a:p>
          <a:p>
            <a:r>
              <a:rPr lang="en-US" dirty="0"/>
              <a:t>		</a:t>
            </a:r>
            <a:r>
              <a:rPr lang="en-US" dirty="0" err="1"/>
              <a:t>System.out.println</a:t>
            </a:r>
            <a:r>
              <a:rPr lang="en-US" dirty="0"/>
              <a:t>("Thread has been created with name " +t1.getName());</a:t>
            </a:r>
          </a:p>
          <a:p>
            <a:r>
              <a:rPr lang="en-US" dirty="0"/>
              <a:t>	}</a:t>
            </a:r>
          </a:p>
          <a:p>
            <a:r>
              <a:rPr lang="en-US" dirty="0"/>
              <a:t>}</a:t>
            </a:r>
            <a:endParaRPr lang="en-IN" dirty="0"/>
          </a:p>
        </p:txBody>
      </p:sp>
      <p:sp>
        <p:nvSpPr>
          <p:cNvPr id="7" name="TextBox 6">
            <a:extLst>
              <a:ext uri="{FF2B5EF4-FFF2-40B4-BE49-F238E27FC236}">
                <a16:creationId xmlns:a16="http://schemas.microsoft.com/office/drawing/2014/main" id="{AED9E280-0046-2460-CA4D-50AD58C98DC7}"/>
              </a:ext>
            </a:extLst>
          </p:cNvPr>
          <p:cNvSpPr txBox="1"/>
          <p:nvPr/>
        </p:nvSpPr>
        <p:spPr>
          <a:xfrm>
            <a:off x="7035530" y="3429000"/>
            <a:ext cx="6094378" cy="923330"/>
          </a:xfrm>
          <a:prstGeom prst="rect">
            <a:avLst/>
          </a:prstGeom>
          <a:noFill/>
        </p:spPr>
        <p:txBody>
          <a:bodyPr wrap="square">
            <a:spAutoFit/>
          </a:bodyPr>
          <a:lstStyle/>
          <a:p>
            <a:r>
              <a:rPr lang="en-US" dirty="0"/>
              <a:t>C:\java\lab&gt; java ThreadExample3</a:t>
            </a:r>
          </a:p>
          <a:p>
            <a:r>
              <a:rPr lang="en-US" dirty="0"/>
              <a:t>Do A task</a:t>
            </a:r>
          </a:p>
          <a:p>
            <a:r>
              <a:rPr lang="en-US" dirty="0"/>
              <a:t>Thread has been created with name Book Thread</a:t>
            </a:r>
            <a:endParaRPr lang="en-IN" dirty="0"/>
          </a:p>
        </p:txBody>
      </p:sp>
    </p:spTree>
    <p:extLst>
      <p:ext uri="{BB962C8B-B14F-4D97-AF65-F5344CB8AC3E}">
        <p14:creationId xmlns:p14="http://schemas.microsoft.com/office/powerpoint/2010/main" val="1649506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5C7F-B508-22B0-64EA-7397303A4E81}"/>
              </a:ext>
            </a:extLst>
          </p:cNvPr>
          <p:cNvSpPr>
            <a:spLocks noGrp="1"/>
          </p:cNvSpPr>
          <p:nvPr>
            <p:ph type="title"/>
          </p:nvPr>
        </p:nvSpPr>
        <p:spPr>
          <a:xfrm>
            <a:off x="838200" y="73396"/>
            <a:ext cx="10515600" cy="607641"/>
          </a:xfrm>
        </p:spPr>
        <p:txBody>
          <a:bodyPr>
            <a:normAutofit fontScale="90000"/>
          </a:bodyPr>
          <a:lstStyle/>
          <a:p>
            <a:pPr algn="ctr"/>
            <a:r>
              <a:rPr lang="en-IN" dirty="0"/>
              <a:t>Multithreading in Java </a:t>
            </a:r>
          </a:p>
        </p:txBody>
      </p:sp>
      <p:sp>
        <p:nvSpPr>
          <p:cNvPr id="3" name="Content Placeholder 2">
            <a:extLst>
              <a:ext uri="{FF2B5EF4-FFF2-40B4-BE49-F238E27FC236}">
                <a16:creationId xmlns:a16="http://schemas.microsoft.com/office/drawing/2014/main" id="{1E40F95D-6386-C04A-91B1-F857005D6909}"/>
              </a:ext>
            </a:extLst>
          </p:cNvPr>
          <p:cNvSpPr>
            <a:spLocks noGrp="1"/>
          </p:cNvSpPr>
          <p:nvPr>
            <p:ph idx="1"/>
          </p:nvPr>
        </p:nvSpPr>
        <p:spPr>
          <a:xfrm>
            <a:off x="838200" y="1096050"/>
            <a:ext cx="10515600" cy="5119923"/>
          </a:xfrm>
        </p:spPr>
        <p:txBody>
          <a:bodyPr>
            <a:normAutofit/>
          </a:bodyPr>
          <a:lstStyle/>
          <a:p>
            <a:pPr algn="just"/>
            <a:r>
              <a:rPr lang="en-US" sz="2400" dirty="0">
                <a:latin typeface="Times New Roman" panose="02020603050405020304" pitchFamily="18" charset="0"/>
                <a:cs typeface="Times New Roman" panose="02020603050405020304" pitchFamily="18" charset="0"/>
              </a:rPr>
              <a:t>In Java, multithreading is the method of running two or more threads at the same time to maximize CPU utilization.</a:t>
            </a:r>
          </a:p>
          <a:p>
            <a:pPr algn="just"/>
            <a:r>
              <a:rPr lang="en-US" sz="2400" dirty="0">
                <a:latin typeface="Times New Roman" panose="02020603050405020304" pitchFamily="18" charset="0"/>
                <a:cs typeface="Times New Roman" panose="02020603050405020304" pitchFamily="18" charset="0"/>
              </a:rPr>
              <a:t>  As a result, it is often referred to as Concurrency in Java. Each thread runs in parallel with the others.  </a:t>
            </a:r>
          </a:p>
          <a:p>
            <a:pPr algn="just"/>
            <a:r>
              <a:rPr lang="en-US" sz="2400" dirty="0">
                <a:latin typeface="Times New Roman" panose="02020603050405020304" pitchFamily="18" charset="0"/>
                <a:cs typeface="Times New Roman" panose="02020603050405020304" pitchFamily="18" charset="0"/>
              </a:rPr>
              <a:t>Since several threads do not assign different memory areas, they conserve memory. Furthermore, switching between threads takes less time.</a:t>
            </a:r>
          </a:p>
          <a:p>
            <a:pPr algn="just"/>
            <a:r>
              <a:rPr lang="en-US" sz="2400" dirty="0">
                <a:latin typeface="Times New Roman" panose="02020603050405020304" pitchFamily="18" charset="0"/>
                <a:cs typeface="Times New Roman" panose="02020603050405020304" pitchFamily="18" charset="0"/>
              </a:rPr>
              <a:t>In Java, multithreading enhances program structure by making it simpler and easier to navigate. </a:t>
            </a:r>
          </a:p>
          <a:p>
            <a:pPr algn="just"/>
            <a:r>
              <a:rPr lang="en-US" sz="2400" dirty="0">
                <a:latin typeface="Times New Roman" panose="02020603050405020304" pitchFamily="18" charset="0"/>
                <a:cs typeface="Times New Roman" panose="02020603050405020304" pitchFamily="18" charset="0"/>
              </a:rPr>
              <a:t>These generalized threads can be used in high-server media applications to easily change or enhance the configuration of these complex structures.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998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F7D19B-9925-EE09-ACD1-81341E52FB18}"/>
              </a:ext>
            </a:extLst>
          </p:cNvPr>
          <p:cNvSpPr txBox="1"/>
          <p:nvPr/>
        </p:nvSpPr>
        <p:spPr>
          <a:xfrm>
            <a:off x="1274323" y="551688"/>
            <a:ext cx="7373566" cy="4524315"/>
          </a:xfrm>
          <a:prstGeom prst="rect">
            <a:avLst/>
          </a:prstGeom>
          <a:noFill/>
        </p:spPr>
        <p:txBody>
          <a:bodyPr wrap="square">
            <a:spAutoFit/>
          </a:bodyPr>
          <a:lstStyle/>
          <a:p>
            <a:r>
              <a:rPr lang="en-IN" dirty="0"/>
              <a:t>public class </a:t>
            </a:r>
            <a:r>
              <a:rPr lang="en-IN" dirty="0" err="1"/>
              <a:t>ExampleMT</a:t>
            </a:r>
            <a:r>
              <a:rPr lang="en-IN" dirty="0"/>
              <a:t> implements Runnable</a:t>
            </a:r>
          </a:p>
          <a:p>
            <a:r>
              <a:rPr lang="en-IN" dirty="0"/>
              <a:t>{</a:t>
            </a:r>
          </a:p>
          <a:p>
            <a:r>
              <a:rPr lang="en-IN" dirty="0"/>
              <a:t>	public static void main ( String </a:t>
            </a:r>
            <a:r>
              <a:rPr lang="en-IN" dirty="0" err="1"/>
              <a:t>args</a:t>
            </a:r>
            <a:r>
              <a:rPr lang="en-IN" dirty="0"/>
              <a:t>[])</a:t>
            </a:r>
          </a:p>
          <a:p>
            <a:r>
              <a:rPr lang="en-IN" dirty="0"/>
              <a:t>	{</a:t>
            </a:r>
          </a:p>
          <a:p>
            <a:r>
              <a:rPr lang="en-IN" dirty="0"/>
              <a:t>		Thread E = new Thread ("demo1");</a:t>
            </a:r>
          </a:p>
          <a:p>
            <a:r>
              <a:rPr lang="en-IN" dirty="0"/>
              <a:t>		Thread E1 = new Thread ("demo2");</a:t>
            </a:r>
          </a:p>
          <a:p>
            <a:r>
              <a:rPr lang="en-IN" dirty="0"/>
              <a:t>		</a:t>
            </a:r>
            <a:r>
              <a:rPr lang="en-IN" dirty="0" err="1"/>
              <a:t>E.start</a:t>
            </a:r>
            <a:r>
              <a:rPr lang="en-IN" dirty="0"/>
              <a:t>();</a:t>
            </a:r>
          </a:p>
          <a:p>
            <a:r>
              <a:rPr lang="en-IN" dirty="0"/>
              <a:t>		E1.start();</a:t>
            </a:r>
          </a:p>
          <a:p>
            <a:r>
              <a:rPr lang="en-IN" dirty="0"/>
              <a:t>		</a:t>
            </a:r>
            <a:r>
              <a:rPr lang="en-IN" dirty="0" err="1"/>
              <a:t>System.out.println</a:t>
            </a:r>
            <a:r>
              <a:rPr lang="en-IN" dirty="0"/>
              <a:t>("Thread names are following");</a:t>
            </a:r>
          </a:p>
          <a:p>
            <a:r>
              <a:rPr lang="en-IN" dirty="0"/>
              <a:t>		</a:t>
            </a:r>
            <a:r>
              <a:rPr lang="en-IN" dirty="0" err="1"/>
              <a:t>System.out.println</a:t>
            </a:r>
            <a:r>
              <a:rPr lang="en-IN" dirty="0"/>
              <a:t>(</a:t>
            </a:r>
            <a:r>
              <a:rPr lang="en-IN" dirty="0" err="1"/>
              <a:t>E.getName</a:t>
            </a:r>
            <a:r>
              <a:rPr lang="en-IN" dirty="0"/>
              <a:t>());</a:t>
            </a:r>
          </a:p>
          <a:p>
            <a:r>
              <a:rPr lang="en-IN" dirty="0"/>
              <a:t>		</a:t>
            </a:r>
            <a:r>
              <a:rPr lang="en-IN" dirty="0" err="1"/>
              <a:t>System.out.println</a:t>
            </a:r>
            <a:r>
              <a:rPr lang="en-IN" dirty="0"/>
              <a:t>(E1.getName());</a:t>
            </a:r>
          </a:p>
          <a:p>
            <a:r>
              <a:rPr lang="en-IN" dirty="0"/>
              <a:t>	}</a:t>
            </a:r>
          </a:p>
          <a:p>
            <a:r>
              <a:rPr lang="en-IN" dirty="0"/>
              <a:t>	public void run()</a:t>
            </a:r>
          </a:p>
          <a:p>
            <a:r>
              <a:rPr lang="en-IN" dirty="0"/>
              <a:t>	{</a:t>
            </a:r>
          </a:p>
          <a:p>
            <a:r>
              <a:rPr lang="en-IN" dirty="0"/>
              <a:t>	}</a:t>
            </a:r>
          </a:p>
          <a:p>
            <a:r>
              <a:rPr lang="en-IN" dirty="0"/>
              <a:t>}</a:t>
            </a:r>
          </a:p>
        </p:txBody>
      </p:sp>
      <p:sp>
        <p:nvSpPr>
          <p:cNvPr id="7" name="TextBox 6">
            <a:extLst>
              <a:ext uri="{FF2B5EF4-FFF2-40B4-BE49-F238E27FC236}">
                <a16:creationId xmlns:a16="http://schemas.microsoft.com/office/drawing/2014/main" id="{0F452569-22AD-F066-B365-93EF3150CA08}"/>
              </a:ext>
            </a:extLst>
          </p:cNvPr>
          <p:cNvSpPr txBox="1"/>
          <p:nvPr/>
        </p:nvSpPr>
        <p:spPr>
          <a:xfrm>
            <a:off x="5819572" y="4823006"/>
            <a:ext cx="6094378" cy="1200329"/>
          </a:xfrm>
          <a:prstGeom prst="rect">
            <a:avLst/>
          </a:prstGeom>
          <a:noFill/>
        </p:spPr>
        <p:txBody>
          <a:bodyPr wrap="square">
            <a:spAutoFit/>
          </a:bodyPr>
          <a:lstStyle/>
          <a:p>
            <a:r>
              <a:rPr lang="en-US" dirty="0"/>
              <a:t>C:\java\lab&gt;java </a:t>
            </a:r>
            <a:r>
              <a:rPr lang="en-US" dirty="0" err="1"/>
              <a:t>ExampleMT</a:t>
            </a:r>
            <a:endParaRPr lang="en-US" dirty="0"/>
          </a:p>
          <a:p>
            <a:r>
              <a:rPr lang="en-US" dirty="0"/>
              <a:t>Thread names are following</a:t>
            </a:r>
          </a:p>
          <a:p>
            <a:r>
              <a:rPr lang="en-US" dirty="0"/>
              <a:t>demo1</a:t>
            </a:r>
          </a:p>
          <a:p>
            <a:r>
              <a:rPr lang="en-US" dirty="0"/>
              <a:t>demo2</a:t>
            </a:r>
            <a:endParaRPr lang="en-IN" dirty="0"/>
          </a:p>
        </p:txBody>
      </p:sp>
    </p:spTree>
    <p:extLst>
      <p:ext uri="{BB962C8B-B14F-4D97-AF65-F5344CB8AC3E}">
        <p14:creationId xmlns:p14="http://schemas.microsoft.com/office/powerpoint/2010/main" val="3765880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20C0B-15C9-6C92-5658-79CD051E06A4}"/>
              </a:ext>
            </a:extLst>
          </p:cNvPr>
          <p:cNvSpPr>
            <a:spLocks noGrp="1"/>
          </p:cNvSpPr>
          <p:nvPr>
            <p:ph type="title"/>
          </p:nvPr>
        </p:nvSpPr>
        <p:spPr>
          <a:xfrm>
            <a:off x="838200" y="258121"/>
            <a:ext cx="10515600" cy="627096"/>
          </a:xfrm>
        </p:spPr>
        <p:txBody>
          <a:bodyPr>
            <a:normAutofit fontScale="90000"/>
          </a:bodyPr>
          <a:lstStyle/>
          <a:p>
            <a:pPr algn="ctr"/>
            <a:r>
              <a:rPr lang="en-IN" dirty="0"/>
              <a:t>Thread Priority in java</a:t>
            </a:r>
          </a:p>
        </p:txBody>
      </p:sp>
      <p:sp>
        <p:nvSpPr>
          <p:cNvPr id="3" name="Content Placeholder 2">
            <a:extLst>
              <a:ext uri="{FF2B5EF4-FFF2-40B4-BE49-F238E27FC236}">
                <a16:creationId xmlns:a16="http://schemas.microsoft.com/office/drawing/2014/main" id="{26ACA5C6-6C86-2CF7-ED98-4EF7664FDB1D}"/>
              </a:ext>
            </a:extLst>
          </p:cNvPr>
          <p:cNvSpPr>
            <a:spLocks noGrp="1"/>
          </p:cNvSpPr>
          <p:nvPr>
            <p:ph idx="1"/>
          </p:nvPr>
        </p:nvSpPr>
        <p:spPr>
          <a:xfrm>
            <a:off x="838200" y="1096050"/>
            <a:ext cx="10515600" cy="5139379"/>
          </a:xfrm>
        </p:spPr>
        <p:txBody>
          <a:bodyPr>
            <a:noAutofit/>
          </a:bodyPr>
          <a:lstStyle/>
          <a:p>
            <a:pPr algn="just"/>
            <a:r>
              <a:rPr lang="en-US" sz="2000" dirty="0">
                <a:latin typeface="Times New Roman" panose="02020603050405020304" pitchFamily="18" charset="0"/>
                <a:cs typeface="Times New Roman" panose="02020603050405020304" pitchFamily="18" charset="0"/>
              </a:rPr>
              <a:t>The number of services assigned to a given thread is referred to as its priority. Any thread generated in the JVM is given a priority. The priority scale runs from 1 to 10.</a:t>
            </a:r>
          </a:p>
          <a:p>
            <a:pPr algn="just"/>
            <a:r>
              <a:rPr lang="en-US" sz="2000" dirty="0">
                <a:latin typeface="Times New Roman" panose="02020603050405020304" pitchFamily="18" charset="0"/>
                <a:cs typeface="Times New Roman" panose="02020603050405020304" pitchFamily="18" charset="0"/>
              </a:rPr>
              <a:t>In most cases, thread schedular schedules the threads according to their priority (known as preemptive scheduling). </a:t>
            </a:r>
          </a:p>
          <a:p>
            <a:pPr lvl="1" algn="just"/>
            <a:r>
              <a:rPr lang="en-US" sz="2000" dirty="0">
                <a:latin typeface="Times New Roman" panose="02020603050405020304" pitchFamily="18" charset="0"/>
                <a:cs typeface="Times New Roman" panose="02020603050405020304" pitchFamily="18" charset="0"/>
              </a:rPr>
              <a:t>1 is considered as lowest priority</a:t>
            </a:r>
          </a:p>
          <a:p>
            <a:pPr lvl="1" algn="just"/>
            <a:r>
              <a:rPr lang="en-US" sz="2000" dirty="0">
                <a:latin typeface="Times New Roman" panose="02020603050405020304" pitchFamily="18" charset="0"/>
                <a:cs typeface="Times New Roman" panose="02020603050405020304" pitchFamily="18" charset="0"/>
              </a:rPr>
              <a:t>5 is considered as standard priority</a:t>
            </a:r>
          </a:p>
          <a:p>
            <a:pPr lvl="1" algn="just"/>
            <a:r>
              <a:rPr lang="en-US" sz="2000" dirty="0">
                <a:latin typeface="Times New Roman" panose="02020603050405020304" pitchFamily="18" charset="0"/>
                <a:cs typeface="Times New Roman" panose="02020603050405020304" pitchFamily="18" charset="0"/>
              </a:rPr>
              <a:t>10 is considered as highest level of priority</a:t>
            </a:r>
          </a:p>
          <a:p>
            <a:pPr marL="430213" lvl="1" indent="-342900" algn="just"/>
            <a:r>
              <a:rPr lang="en-US" sz="2000" dirty="0">
                <a:latin typeface="Times New Roman" panose="02020603050405020304" pitchFamily="18" charset="0"/>
                <a:cs typeface="Times New Roman" panose="02020603050405020304" pitchFamily="18" charset="0"/>
              </a:rPr>
              <a:t>The main thread's priority is set to 5 by default, and each child thread will have the same priority as its parent thread. We have the ability to adjust the priority of any thread, whether it is the main thread or a user-defined thread. </a:t>
            </a:r>
          </a:p>
          <a:p>
            <a:r>
              <a:rPr lang="en-US" sz="2000" dirty="0">
                <a:latin typeface="Times New Roman" panose="02020603050405020304" pitchFamily="18" charset="0"/>
                <a:cs typeface="Times New Roman" panose="02020603050405020304" pitchFamily="18" charset="0"/>
              </a:rPr>
              <a:t>It is advised to adjust the priority using the Thread class's constants, which are as follows:</a:t>
            </a:r>
          </a:p>
          <a:p>
            <a:pPr lvl="1">
              <a:buFont typeface="+mj-lt"/>
              <a:buAutoNum type="arabicPeriod"/>
            </a:pPr>
            <a:r>
              <a:rPr lang="en-US" sz="1600" dirty="0" err="1">
                <a:latin typeface="Times New Roman" panose="02020603050405020304" pitchFamily="18" charset="0"/>
                <a:cs typeface="Times New Roman" panose="02020603050405020304" pitchFamily="18" charset="0"/>
              </a:rPr>
              <a:t>Thread.MIN_PRIORITY</a:t>
            </a:r>
            <a:r>
              <a:rPr lang="en-US" sz="1600" dirty="0">
                <a:latin typeface="Times New Roman" panose="02020603050405020304" pitchFamily="18" charset="0"/>
                <a:cs typeface="Times New Roman" panose="02020603050405020304" pitchFamily="18" charset="0"/>
              </a:rPr>
              <a:t>;</a:t>
            </a:r>
          </a:p>
          <a:p>
            <a:pPr lvl="1">
              <a:buFont typeface="+mj-lt"/>
              <a:buAutoNum type="arabicPeriod"/>
            </a:pPr>
            <a:r>
              <a:rPr lang="en-US" sz="1600" dirty="0" err="1">
                <a:latin typeface="Times New Roman" panose="02020603050405020304" pitchFamily="18" charset="0"/>
                <a:cs typeface="Times New Roman" panose="02020603050405020304" pitchFamily="18" charset="0"/>
              </a:rPr>
              <a:t>Thread.NORM_PRIORITY</a:t>
            </a:r>
            <a:r>
              <a:rPr lang="en-US" sz="1600" dirty="0">
                <a:latin typeface="Times New Roman" panose="02020603050405020304" pitchFamily="18" charset="0"/>
                <a:cs typeface="Times New Roman" panose="02020603050405020304" pitchFamily="18" charset="0"/>
              </a:rPr>
              <a:t>;</a:t>
            </a:r>
          </a:p>
          <a:p>
            <a:pPr lvl="1">
              <a:buFont typeface="+mj-lt"/>
              <a:buAutoNum type="arabicPeriod"/>
            </a:pPr>
            <a:r>
              <a:rPr lang="en-US" sz="1600" dirty="0" err="1">
                <a:latin typeface="Times New Roman" panose="02020603050405020304" pitchFamily="18" charset="0"/>
                <a:cs typeface="Times New Roman" panose="02020603050405020304" pitchFamily="18" charset="0"/>
              </a:rPr>
              <a:t>Thread.MAX_PRIORITY</a:t>
            </a:r>
            <a:r>
              <a:rPr lang="en-US" sz="1600" dirty="0">
                <a:latin typeface="Times New Roman" panose="02020603050405020304" pitchFamily="18" charset="0"/>
                <a:cs typeface="Times New Roman" panose="02020603050405020304" pitchFamily="18" charset="0"/>
              </a:rPr>
              <a:t>;</a:t>
            </a:r>
          </a:p>
          <a:p>
            <a:pPr marL="430213" lvl="1" indent="-342900"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060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28E968-41FC-5FEF-2D87-5B1C46482576}"/>
              </a:ext>
            </a:extLst>
          </p:cNvPr>
          <p:cNvSpPr txBox="1"/>
          <p:nvPr/>
        </p:nvSpPr>
        <p:spPr>
          <a:xfrm>
            <a:off x="398835" y="197346"/>
            <a:ext cx="4776281" cy="3970318"/>
          </a:xfrm>
          <a:prstGeom prst="rect">
            <a:avLst/>
          </a:prstGeom>
          <a:noFill/>
        </p:spPr>
        <p:txBody>
          <a:bodyPr wrap="square">
            <a:spAutoFit/>
          </a:bodyPr>
          <a:lstStyle/>
          <a:p>
            <a:r>
              <a:rPr lang="en-IN" sz="1400" dirty="0"/>
              <a:t>import </a:t>
            </a:r>
            <a:r>
              <a:rPr lang="en-IN" sz="1400" dirty="0" err="1"/>
              <a:t>java.lang</a:t>
            </a:r>
            <a:r>
              <a:rPr lang="en-IN" sz="1400" dirty="0"/>
              <a:t>.*;</a:t>
            </a:r>
          </a:p>
          <a:p>
            <a:r>
              <a:rPr lang="en-IN" sz="1400" dirty="0"/>
              <a:t>class </a:t>
            </a:r>
            <a:r>
              <a:rPr lang="en-IN" sz="1400" dirty="0" err="1"/>
              <a:t>ThreadPriority</a:t>
            </a:r>
            <a:r>
              <a:rPr lang="en-IN" sz="1400" dirty="0"/>
              <a:t> extends Thread</a:t>
            </a:r>
          </a:p>
          <a:p>
            <a:r>
              <a:rPr lang="en-IN" sz="1400" dirty="0"/>
              <a:t>{</a:t>
            </a:r>
          </a:p>
          <a:p>
            <a:r>
              <a:rPr lang="en-IN" sz="1400" dirty="0"/>
              <a:t>public void run()</a:t>
            </a:r>
          </a:p>
          <a:p>
            <a:r>
              <a:rPr lang="en-IN" sz="1400" dirty="0"/>
              <a:t>{</a:t>
            </a:r>
          </a:p>
          <a:p>
            <a:r>
              <a:rPr lang="en-IN" sz="1400" dirty="0" err="1"/>
              <a:t>System.out.println</a:t>
            </a:r>
            <a:r>
              <a:rPr lang="en-IN" sz="1400" dirty="0"/>
              <a:t>("Inside run method");</a:t>
            </a:r>
          </a:p>
          <a:p>
            <a:r>
              <a:rPr lang="en-IN" sz="1400" dirty="0"/>
              <a:t>}</a:t>
            </a:r>
          </a:p>
          <a:p>
            <a:r>
              <a:rPr lang="en-IN" sz="1400" dirty="0"/>
              <a:t>public static void main ( String </a:t>
            </a:r>
            <a:r>
              <a:rPr lang="en-IN" sz="1400" dirty="0" err="1"/>
              <a:t>args</a:t>
            </a:r>
            <a:r>
              <a:rPr lang="en-IN" sz="1400" dirty="0"/>
              <a:t>[])</a:t>
            </a:r>
          </a:p>
          <a:p>
            <a:r>
              <a:rPr lang="en-IN" sz="1400" dirty="0"/>
              <a:t>{</a:t>
            </a:r>
          </a:p>
          <a:p>
            <a:r>
              <a:rPr lang="en-IN" sz="1400" dirty="0" err="1"/>
              <a:t>ThreadPriority</a:t>
            </a:r>
            <a:r>
              <a:rPr lang="en-IN" sz="1400" dirty="0"/>
              <a:t> t1 = new </a:t>
            </a:r>
            <a:r>
              <a:rPr lang="en-IN" sz="1400" dirty="0" err="1"/>
              <a:t>ThreadPriority</a:t>
            </a:r>
            <a:r>
              <a:rPr lang="en-IN" sz="1400" dirty="0"/>
              <a:t>();</a:t>
            </a:r>
          </a:p>
          <a:p>
            <a:r>
              <a:rPr lang="en-IN" sz="1400" dirty="0" err="1"/>
              <a:t>ThreadPriority</a:t>
            </a:r>
            <a:r>
              <a:rPr lang="en-IN" sz="1400" dirty="0"/>
              <a:t> t2 = new </a:t>
            </a:r>
            <a:r>
              <a:rPr lang="en-IN" sz="1400" dirty="0" err="1"/>
              <a:t>ThreadPriority</a:t>
            </a:r>
            <a:r>
              <a:rPr lang="en-IN" sz="1400" dirty="0"/>
              <a:t>();</a:t>
            </a:r>
          </a:p>
          <a:p>
            <a:r>
              <a:rPr lang="en-IN" sz="1400" dirty="0" err="1"/>
              <a:t>ThreadPriority</a:t>
            </a:r>
            <a:r>
              <a:rPr lang="en-IN" sz="1400" dirty="0"/>
              <a:t> t3 = new </a:t>
            </a:r>
            <a:r>
              <a:rPr lang="en-IN" sz="1400" dirty="0" err="1"/>
              <a:t>ThreadPriority</a:t>
            </a:r>
            <a:r>
              <a:rPr lang="en-IN" sz="1400" dirty="0"/>
              <a:t>();</a:t>
            </a:r>
          </a:p>
          <a:p>
            <a:r>
              <a:rPr lang="en-IN" sz="1400" dirty="0"/>
              <a:t>		</a:t>
            </a:r>
          </a:p>
          <a:p>
            <a:r>
              <a:rPr lang="en-IN" sz="1400" dirty="0" err="1"/>
              <a:t>System.out.println</a:t>
            </a:r>
            <a:r>
              <a:rPr lang="en-IN" sz="1400" dirty="0"/>
              <a:t> ("t1 thread priority :" +t1.getPriority());</a:t>
            </a:r>
          </a:p>
          <a:p>
            <a:r>
              <a:rPr lang="en-IN" sz="1400" dirty="0" err="1"/>
              <a:t>System.out.println</a:t>
            </a:r>
            <a:r>
              <a:rPr lang="en-IN" sz="1400" dirty="0"/>
              <a:t> ("t2 thread priority :" +t2.getPriority());</a:t>
            </a:r>
          </a:p>
          <a:p>
            <a:r>
              <a:rPr lang="en-IN" sz="1400" dirty="0" err="1"/>
              <a:t>System.out.println</a:t>
            </a:r>
            <a:r>
              <a:rPr lang="en-IN" sz="1400" dirty="0"/>
              <a:t> ("t3 thread priority :" +t3.getPriority());</a:t>
            </a:r>
          </a:p>
          <a:p>
            <a:r>
              <a:rPr lang="en-IN" sz="1400" dirty="0"/>
              <a:t>		</a:t>
            </a:r>
          </a:p>
          <a:p>
            <a:r>
              <a:rPr lang="en-IN" sz="1400" dirty="0"/>
              <a:t>		</a:t>
            </a:r>
          </a:p>
        </p:txBody>
      </p:sp>
      <p:sp>
        <p:nvSpPr>
          <p:cNvPr id="7" name="TextBox 6">
            <a:extLst>
              <a:ext uri="{FF2B5EF4-FFF2-40B4-BE49-F238E27FC236}">
                <a16:creationId xmlns:a16="http://schemas.microsoft.com/office/drawing/2014/main" id="{702311DB-17D6-A6EF-7D58-90AF83D2EEE4}"/>
              </a:ext>
            </a:extLst>
          </p:cNvPr>
          <p:cNvSpPr txBox="1"/>
          <p:nvPr/>
        </p:nvSpPr>
        <p:spPr>
          <a:xfrm>
            <a:off x="5252936" y="197346"/>
            <a:ext cx="6937442" cy="3108543"/>
          </a:xfrm>
          <a:prstGeom prst="rect">
            <a:avLst/>
          </a:prstGeom>
          <a:noFill/>
        </p:spPr>
        <p:txBody>
          <a:bodyPr wrap="square">
            <a:spAutoFit/>
          </a:bodyPr>
          <a:lstStyle/>
          <a:p>
            <a:r>
              <a:rPr lang="en-IN" sz="1400" dirty="0"/>
              <a:t>t1.setPriority(2);</a:t>
            </a:r>
          </a:p>
          <a:p>
            <a:r>
              <a:rPr lang="en-IN" sz="1400" dirty="0"/>
              <a:t>t2.setPriority(5);</a:t>
            </a:r>
          </a:p>
          <a:p>
            <a:r>
              <a:rPr lang="en-IN" sz="1400" dirty="0"/>
              <a:t>t3.setPriority(8);</a:t>
            </a:r>
          </a:p>
          <a:p>
            <a:r>
              <a:rPr lang="en-IN" sz="1400" dirty="0"/>
              <a:t>		</a:t>
            </a:r>
          </a:p>
          <a:p>
            <a:r>
              <a:rPr lang="en-IN" sz="1400" dirty="0" err="1"/>
              <a:t>System.out.println</a:t>
            </a:r>
            <a:r>
              <a:rPr lang="en-IN" sz="1400" dirty="0"/>
              <a:t> ("t1 thread priority :" +t1.getPriority());</a:t>
            </a:r>
          </a:p>
          <a:p>
            <a:r>
              <a:rPr lang="en-IN" sz="1400" dirty="0" err="1"/>
              <a:t>System.out.println</a:t>
            </a:r>
            <a:r>
              <a:rPr lang="en-IN" sz="1400" dirty="0"/>
              <a:t> ("t2 thread priority :" +t2.getPriority());</a:t>
            </a:r>
          </a:p>
          <a:p>
            <a:r>
              <a:rPr lang="en-IN" sz="1400" dirty="0" err="1"/>
              <a:t>System.out.println</a:t>
            </a:r>
            <a:r>
              <a:rPr lang="en-IN" sz="1400" dirty="0"/>
              <a:t> ("t3 thread priority :" +t3.getPriority());</a:t>
            </a:r>
          </a:p>
          <a:p>
            <a:r>
              <a:rPr lang="en-IN" sz="1400" dirty="0"/>
              <a:t>		</a:t>
            </a:r>
          </a:p>
          <a:p>
            <a:r>
              <a:rPr lang="en-IN" sz="1400" dirty="0" err="1"/>
              <a:t>System.out.println</a:t>
            </a:r>
            <a:r>
              <a:rPr lang="en-IN" sz="1400" dirty="0"/>
              <a:t>("Currently Executing Thread : " + </a:t>
            </a:r>
            <a:r>
              <a:rPr lang="en-IN" sz="1400" dirty="0" err="1"/>
              <a:t>Thread.currentThread</a:t>
            </a:r>
            <a:r>
              <a:rPr lang="en-IN" sz="1400" dirty="0"/>
              <a:t>().</a:t>
            </a:r>
            <a:r>
              <a:rPr lang="en-IN" sz="1400" dirty="0" err="1"/>
              <a:t>getName</a:t>
            </a:r>
            <a:r>
              <a:rPr lang="en-IN" sz="1400" dirty="0"/>
              <a:t>());</a:t>
            </a:r>
          </a:p>
          <a:p>
            <a:r>
              <a:rPr lang="en-IN" sz="1400" dirty="0" err="1"/>
              <a:t>System.out.println</a:t>
            </a:r>
            <a:r>
              <a:rPr lang="en-IN" sz="1400" dirty="0"/>
              <a:t>("Main thread priority : " + </a:t>
            </a:r>
            <a:r>
              <a:rPr lang="en-IN" sz="1400" dirty="0" err="1"/>
              <a:t>Thread.currentThread</a:t>
            </a:r>
            <a:r>
              <a:rPr lang="en-IN" sz="1400" dirty="0"/>
              <a:t>().</a:t>
            </a:r>
            <a:r>
              <a:rPr lang="en-IN" sz="1400" dirty="0" err="1"/>
              <a:t>getPriority</a:t>
            </a:r>
            <a:r>
              <a:rPr lang="en-IN" sz="1400" dirty="0"/>
              <a:t>());</a:t>
            </a:r>
          </a:p>
          <a:p>
            <a:r>
              <a:rPr lang="en-IN" sz="1400" dirty="0" err="1"/>
              <a:t>Thread.currentThread</a:t>
            </a:r>
            <a:r>
              <a:rPr lang="en-IN" sz="1400" dirty="0"/>
              <a:t>().</a:t>
            </a:r>
            <a:r>
              <a:rPr lang="en-IN" sz="1400" dirty="0" err="1"/>
              <a:t>setPriority</a:t>
            </a:r>
            <a:r>
              <a:rPr lang="en-IN" sz="1400" dirty="0"/>
              <a:t>(10);</a:t>
            </a:r>
          </a:p>
          <a:p>
            <a:r>
              <a:rPr lang="en-IN" sz="1400" dirty="0" err="1"/>
              <a:t>System.out.println</a:t>
            </a:r>
            <a:r>
              <a:rPr lang="en-IN" sz="1400" dirty="0"/>
              <a:t>("Main thread priority : " + </a:t>
            </a:r>
            <a:r>
              <a:rPr lang="en-IN" sz="1400" dirty="0" err="1"/>
              <a:t>Thread.currentThread</a:t>
            </a:r>
            <a:r>
              <a:rPr lang="en-IN" sz="1400" dirty="0"/>
              <a:t>().</a:t>
            </a:r>
            <a:r>
              <a:rPr lang="en-IN" sz="1400" dirty="0" err="1"/>
              <a:t>getPriority</a:t>
            </a:r>
            <a:r>
              <a:rPr lang="en-IN" sz="1400" dirty="0"/>
              <a:t>());</a:t>
            </a:r>
          </a:p>
          <a:p>
            <a:r>
              <a:rPr lang="en-IN" sz="1400" dirty="0"/>
              <a:t>}</a:t>
            </a:r>
          </a:p>
          <a:p>
            <a:r>
              <a:rPr lang="en-IN" sz="1400" dirty="0"/>
              <a:t>}</a:t>
            </a:r>
          </a:p>
        </p:txBody>
      </p:sp>
      <p:sp>
        <p:nvSpPr>
          <p:cNvPr id="9" name="TextBox 8">
            <a:extLst>
              <a:ext uri="{FF2B5EF4-FFF2-40B4-BE49-F238E27FC236}">
                <a16:creationId xmlns:a16="http://schemas.microsoft.com/office/drawing/2014/main" id="{8680FB10-D1AE-D8E6-E458-180B3063CFDE}"/>
              </a:ext>
            </a:extLst>
          </p:cNvPr>
          <p:cNvSpPr txBox="1"/>
          <p:nvPr/>
        </p:nvSpPr>
        <p:spPr>
          <a:xfrm>
            <a:off x="634729" y="3995678"/>
            <a:ext cx="6094378" cy="2862322"/>
          </a:xfrm>
          <a:prstGeom prst="rect">
            <a:avLst/>
          </a:prstGeom>
          <a:noFill/>
        </p:spPr>
        <p:txBody>
          <a:bodyPr wrap="square">
            <a:spAutoFit/>
          </a:bodyPr>
          <a:lstStyle/>
          <a:p>
            <a:r>
              <a:rPr lang="en-IN" dirty="0"/>
              <a:t>C:\java\lab&gt;java </a:t>
            </a:r>
            <a:r>
              <a:rPr lang="en-IN" dirty="0" err="1"/>
              <a:t>ThreadPriority</a:t>
            </a:r>
            <a:endParaRPr lang="en-IN" dirty="0"/>
          </a:p>
          <a:p>
            <a:r>
              <a:rPr lang="en-IN" dirty="0"/>
              <a:t>t1 thread priority :5</a:t>
            </a:r>
          </a:p>
          <a:p>
            <a:r>
              <a:rPr lang="en-IN" dirty="0"/>
              <a:t>t2 thread priority :5</a:t>
            </a:r>
          </a:p>
          <a:p>
            <a:r>
              <a:rPr lang="en-IN" dirty="0"/>
              <a:t>t3 thread priority :5</a:t>
            </a:r>
          </a:p>
          <a:p>
            <a:r>
              <a:rPr lang="en-IN" dirty="0"/>
              <a:t>t1 thread priority :2</a:t>
            </a:r>
          </a:p>
          <a:p>
            <a:r>
              <a:rPr lang="en-IN" dirty="0"/>
              <a:t>t2 thread priority :5</a:t>
            </a:r>
          </a:p>
          <a:p>
            <a:r>
              <a:rPr lang="en-IN" dirty="0"/>
              <a:t>t3 thread priority :8</a:t>
            </a:r>
          </a:p>
          <a:p>
            <a:r>
              <a:rPr lang="en-IN" dirty="0"/>
              <a:t>Currently Executing Thread : main</a:t>
            </a:r>
          </a:p>
          <a:p>
            <a:r>
              <a:rPr lang="en-IN" dirty="0"/>
              <a:t>Main thread priority : 5</a:t>
            </a:r>
          </a:p>
          <a:p>
            <a:r>
              <a:rPr lang="en-IN" dirty="0"/>
              <a:t>Main thread priority : 10</a:t>
            </a:r>
          </a:p>
        </p:txBody>
      </p:sp>
    </p:spTree>
    <p:extLst>
      <p:ext uri="{BB962C8B-B14F-4D97-AF65-F5344CB8AC3E}">
        <p14:creationId xmlns:p14="http://schemas.microsoft.com/office/powerpoint/2010/main" val="3829342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091E6-AE39-3469-C60C-5A85BD73D33C}"/>
              </a:ext>
            </a:extLst>
          </p:cNvPr>
          <p:cNvSpPr>
            <a:spLocks noGrp="1"/>
          </p:cNvSpPr>
          <p:nvPr>
            <p:ph type="title"/>
          </p:nvPr>
        </p:nvSpPr>
        <p:spPr>
          <a:xfrm>
            <a:off x="838200" y="170572"/>
            <a:ext cx="10515600" cy="675735"/>
          </a:xfrm>
        </p:spPr>
        <p:txBody>
          <a:bodyPr>
            <a:normAutofit fontScale="90000"/>
          </a:bodyPr>
          <a:lstStyle/>
          <a:p>
            <a:pPr algn="ctr"/>
            <a:r>
              <a:rPr lang="en-IN" dirty="0"/>
              <a:t>Thread Synchronization</a:t>
            </a:r>
          </a:p>
        </p:txBody>
      </p:sp>
      <p:sp>
        <p:nvSpPr>
          <p:cNvPr id="3" name="Content Placeholder 2">
            <a:extLst>
              <a:ext uri="{FF2B5EF4-FFF2-40B4-BE49-F238E27FC236}">
                <a16:creationId xmlns:a16="http://schemas.microsoft.com/office/drawing/2014/main" id="{0722482D-D61F-06C4-3605-8B80B965E78A}"/>
              </a:ext>
            </a:extLst>
          </p:cNvPr>
          <p:cNvSpPr>
            <a:spLocks noGrp="1"/>
          </p:cNvSpPr>
          <p:nvPr>
            <p:ph idx="1"/>
          </p:nvPr>
        </p:nvSpPr>
        <p:spPr>
          <a:xfrm>
            <a:off x="838200" y="940407"/>
            <a:ext cx="10515600" cy="4974009"/>
          </a:xfrm>
        </p:spPr>
        <p:txBody>
          <a:bodyPr>
            <a:normAutofit lnSpcReduction="10000"/>
          </a:bodyPr>
          <a:lstStyle/>
          <a:p>
            <a:pPr algn="just"/>
            <a:r>
              <a:rPr lang="en-IN" sz="2000" dirty="0">
                <a:latin typeface="Times New Roman" panose="02020603050405020304" pitchFamily="18" charset="0"/>
                <a:cs typeface="Times New Roman" panose="02020603050405020304" pitchFamily="18" charset="0"/>
              </a:rPr>
              <a:t>When more than one thread has to use a shared resource, Java finds a way of ensuring that only one thread uses the resources at one point of time; this is called Synchronization.</a:t>
            </a:r>
          </a:p>
          <a:p>
            <a:pPr algn="just"/>
            <a:r>
              <a:rPr lang="en-IN" sz="2000" dirty="0">
                <a:latin typeface="Times New Roman" panose="02020603050405020304" pitchFamily="18" charset="0"/>
                <a:cs typeface="Times New Roman" panose="02020603050405020304" pitchFamily="18" charset="0"/>
              </a:rPr>
              <a:t>The key concept of synchronization  is the monitor. The monitor holds the exclusive lock that can be hold by only one object at a time. The monitor allows only one thread to execute a synchronized method on the object at one time.</a:t>
            </a:r>
          </a:p>
          <a:p>
            <a:pPr algn="just"/>
            <a:r>
              <a:rPr lang="en-IN" sz="2000" dirty="0">
                <a:latin typeface="Times New Roman" panose="02020603050405020304" pitchFamily="18" charset="0"/>
                <a:cs typeface="Times New Roman" panose="02020603050405020304" pitchFamily="18" charset="0"/>
              </a:rPr>
              <a:t>When the execution of the synchronized method is complete, the lock on the object is opened and monitor allow the highest priority runnable thread attempting to invoke a synchronized method to proceed.</a:t>
            </a:r>
          </a:p>
          <a:p>
            <a:pPr algn="just"/>
            <a:r>
              <a:rPr lang="en-IN" sz="2000" dirty="0">
                <a:latin typeface="Times New Roman" panose="02020603050405020304" pitchFamily="18" charset="0"/>
                <a:cs typeface="Times New Roman" panose="02020603050405020304" pitchFamily="18" charset="0"/>
              </a:rPr>
              <a:t>A thread executing in a synchronized method may determine that it can not proceed, so, it voluntarily calls </a:t>
            </a:r>
            <a:r>
              <a:rPr lang="en-IN" sz="2000" b="1" dirty="0">
                <a:latin typeface="Times New Roman" panose="02020603050405020304" pitchFamily="18" charset="0"/>
                <a:cs typeface="Times New Roman" panose="02020603050405020304" pitchFamily="18" charset="0"/>
              </a:rPr>
              <a:t>wait().</a:t>
            </a:r>
          </a:p>
          <a:p>
            <a:pPr algn="just"/>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notify() </a:t>
            </a:r>
            <a:r>
              <a:rPr lang="en-IN" sz="2000" dirty="0">
                <a:latin typeface="Times New Roman" panose="02020603050405020304" pitchFamily="18" charset="0"/>
                <a:cs typeface="Times New Roman" panose="02020603050405020304" pitchFamily="18" charset="0"/>
              </a:rPr>
              <a:t>method acts as a signal to the waiting thread that the condition satisfied for the waiting threads.</a:t>
            </a:r>
          </a:p>
          <a:p>
            <a:pPr algn="just"/>
            <a:r>
              <a:rPr lang="en-IN" sz="2000" dirty="0">
                <a:latin typeface="Times New Roman" panose="02020603050405020304" pitchFamily="18" charset="0"/>
                <a:cs typeface="Times New Roman" panose="02020603050405020304" pitchFamily="18" charset="0"/>
              </a:rPr>
              <a:t>The </a:t>
            </a:r>
            <a:r>
              <a:rPr lang="en-IN" sz="2000" b="1" dirty="0" err="1">
                <a:latin typeface="Times New Roman" panose="02020603050405020304" pitchFamily="18" charset="0"/>
                <a:cs typeface="Times New Roman" panose="02020603050405020304" pitchFamily="18" charset="0"/>
              </a:rPr>
              <a:t>notifyAll</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method acts as a signal to all the waiting threads that condition is satisfied but it can get the access based on the thread priority.</a:t>
            </a:r>
          </a:p>
          <a:p>
            <a:pPr algn="just"/>
            <a:r>
              <a:rPr lang="en-IN" sz="2000" dirty="0">
                <a:latin typeface="Times New Roman" panose="02020603050405020304" pitchFamily="18" charset="0"/>
                <a:cs typeface="Times New Roman" panose="02020603050405020304" pitchFamily="18" charset="0"/>
              </a:rPr>
              <a:t>The keyword </a:t>
            </a:r>
            <a:r>
              <a:rPr lang="en-IN" sz="2000" b="1" dirty="0">
                <a:latin typeface="Times New Roman" panose="02020603050405020304" pitchFamily="18" charset="0"/>
                <a:cs typeface="Times New Roman" panose="02020603050405020304" pitchFamily="18" charset="0"/>
              </a:rPr>
              <a:t>synchronized </a:t>
            </a:r>
            <a:r>
              <a:rPr lang="en-IN" sz="2000" dirty="0">
                <a:latin typeface="Times New Roman" panose="02020603050405020304" pitchFamily="18" charset="0"/>
                <a:cs typeface="Times New Roman" panose="02020603050405020304" pitchFamily="18" charset="0"/>
              </a:rPr>
              <a:t>is used to synchronize the thread and there are two way to do this: by using </a:t>
            </a:r>
            <a:r>
              <a:rPr lang="en-IN" sz="2000" b="1" dirty="0">
                <a:latin typeface="Times New Roman" panose="02020603050405020304" pitchFamily="18" charset="0"/>
                <a:cs typeface="Times New Roman" panose="02020603050405020304" pitchFamily="18" charset="0"/>
              </a:rPr>
              <a:t>synchronized methods </a:t>
            </a:r>
            <a:r>
              <a:rPr lang="en-IN" sz="2000" dirty="0">
                <a:latin typeface="Times New Roman" panose="02020603050405020304" pitchFamily="18" charset="0"/>
                <a:cs typeface="Times New Roman" panose="02020603050405020304" pitchFamily="18" charset="0"/>
              </a:rPr>
              <a:t>and using </a:t>
            </a:r>
            <a:r>
              <a:rPr lang="en-IN" sz="2000" b="1" dirty="0">
                <a:latin typeface="Times New Roman" panose="02020603050405020304" pitchFamily="18" charset="0"/>
                <a:cs typeface="Times New Roman" panose="02020603050405020304" pitchFamily="18" charset="0"/>
              </a:rPr>
              <a:t>a synchronized statement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949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99007-2946-A144-645C-766E8DF5749E}"/>
              </a:ext>
            </a:extLst>
          </p:cNvPr>
          <p:cNvSpPr>
            <a:spLocks noGrp="1"/>
          </p:cNvSpPr>
          <p:nvPr>
            <p:ph type="title"/>
          </p:nvPr>
        </p:nvSpPr>
        <p:spPr>
          <a:xfrm>
            <a:off x="838200" y="277576"/>
            <a:ext cx="10515600" cy="490909"/>
          </a:xfrm>
        </p:spPr>
        <p:txBody>
          <a:bodyPr>
            <a:normAutofit fontScale="90000"/>
          </a:bodyPr>
          <a:lstStyle/>
          <a:p>
            <a:pPr algn="ctr"/>
            <a:r>
              <a:rPr lang="en-IN" dirty="0"/>
              <a:t>Synchronized methods</a:t>
            </a:r>
          </a:p>
        </p:txBody>
      </p:sp>
      <p:sp>
        <p:nvSpPr>
          <p:cNvPr id="3" name="Content Placeholder 2">
            <a:extLst>
              <a:ext uri="{FF2B5EF4-FFF2-40B4-BE49-F238E27FC236}">
                <a16:creationId xmlns:a16="http://schemas.microsoft.com/office/drawing/2014/main" id="{C5549111-0965-45BF-6A75-B4446E5FBAF8}"/>
              </a:ext>
            </a:extLst>
          </p:cNvPr>
          <p:cNvSpPr>
            <a:spLocks noGrp="1"/>
          </p:cNvSpPr>
          <p:nvPr>
            <p:ph idx="1"/>
          </p:nvPr>
        </p:nvSpPr>
        <p:spPr>
          <a:xfrm>
            <a:off x="838200" y="1058778"/>
            <a:ext cx="10515600" cy="4351338"/>
          </a:xfrm>
        </p:spPr>
        <p:txBody>
          <a:bodyPr/>
          <a:lstStyle/>
          <a:p>
            <a:pPr algn="just"/>
            <a:r>
              <a:rPr lang="en-IN" dirty="0"/>
              <a:t>If two or more threads modify an object, that methods that carry the modifications are declared synchronized.</a:t>
            </a:r>
          </a:p>
          <a:p>
            <a:pPr algn="just"/>
            <a:r>
              <a:rPr lang="en-IN" dirty="0"/>
              <a:t>Constructors need not be synchronized because a new object is created in only one thread.</a:t>
            </a:r>
          </a:p>
          <a:p>
            <a:pPr algn="just"/>
            <a:r>
              <a:rPr lang="en-IN" dirty="0"/>
              <a:t>The general method for declaring a method </a:t>
            </a:r>
            <a:r>
              <a:rPr lang="en-IN" b="1" dirty="0"/>
              <a:t>synchronized</a:t>
            </a:r>
            <a:r>
              <a:rPr lang="en-IN" dirty="0"/>
              <a:t> is the following:</a:t>
            </a:r>
          </a:p>
          <a:p>
            <a:pPr marL="0" indent="0" algn="ctr">
              <a:buNone/>
            </a:pPr>
            <a:r>
              <a:rPr lang="en-IN" sz="2400" dirty="0"/>
              <a:t>Modifier synchronized &lt;</a:t>
            </a:r>
            <a:r>
              <a:rPr lang="en-IN" sz="2400" dirty="0" err="1"/>
              <a:t>return_type</a:t>
            </a:r>
            <a:r>
              <a:rPr lang="en-IN" sz="2400" dirty="0"/>
              <a:t>&gt; &lt;</a:t>
            </a:r>
            <a:r>
              <a:rPr lang="en-IN" sz="2400" dirty="0" err="1"/>
              <a:t>method_name</a:t>
            </a:r>
            <a:r>
              <a:rPr lang="en-IN" sz="2400" dirty="0"/>
              <a:t>&gt; (parameters)</a:t>
            </a:r>
            <a:endParaRPr lang="en-IN" dirty="0"/>
          </a:p>
          <a:p>
            <a:pPr marL="0" indent="0" algn="just">
              <a:buNone/>
            </a:pPr>
            <a:endParaRPr lang="en-IN" dirty="0"/>
          </a:p>
        </p:txBody>
      </p:sp>
    </p:spTree>
    <p:extLst>
      <p:ext uri="{BB962C8B-B14F-4D97-AF65-F5344CB8AC3E}">
        <p14:creationId xmlns:p14="http://schemas.microsoft.com/office/powerpoint/2010/main" val="1364427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996B71-4D32-5AE9-7B94-63FC07A947E0}"/>
              </a:ext>
            </a:extLst>
          </p:cNvPr>
          <p:cNvSpPr txBox="1"/>
          <p:nvPr/>
        </p:nvSpPr>
        <p:spPr>
          <a:xfrm>
            <a:off x="702823" y="547063"/>
            <a:ext cx="4443108" cy="5078313"/>
          </a:xfrm>
          <a:prstGeom prst="rect">
            <a:avLst/>
          </a:prstGeom>
          <a:noFill/>
        </p:spPr>
        <p:txBody>
          <a:bodyPr wrap="square">
            <a:spAutoFit/>
          </a:bodyPr>
          <a:lstStyle/>
          <a:p>
            <a:r>
              <a:rPr lang="en-IN" dirty="0"/>
              <a:t>import java.io.*;</a:t>
            </a:r>
          </a:p>
          <a:p>
            <a:r>
              <a:rPr lang="en-IN" dirty="0"/>
              <a:t>class </a:t>
            </a:r>
            <a:r>
              <a:rPr lang="en-IN" dirty="0" err="1"/>
              <a:t>ClassA</a:t>
            </a:r>
            <a:endParaRPr lang="en-IN" dirty="0"/>
          </a:p>
          <a:p>
            <a:r>
              <a:rPr lang="en-IN" dirty="0"/>
              <a:t>{</a:t>
            </a:r>
          </a:p>
          <a:p>
            <a:r>
              <a:rPr lang="en-IN" dirty="0"/>
              <a:t>synchronized void </a:t>
            </a:r>
            <a:r>
              <a:rPr lang="en-IN" dirty="0" err="1"/>
              <a:t>printvalue</a:t>
            </a:r>
            <a:r>
              <a:rPr lang="en-IN" dirty="0"/>
              <a:t> ()</a:t>
            </a:r>
          </a:p>
          <a:p>
            <a:r>
              <a:rPr lang="en-IN" dirty="0"/>
              <a:t>{</a:t>
            </a:r>
          </a:p>
          <a:p>
            <a:r>
              <a:rPr lang="en-IN" dirty="0"/>
              <a:t>try</a:t>
            </a:r>
          </a:p>
          <a:p>
            <a:r>
              <a:rPr lang="en-IN" dirty="0"/>
              <a:t>{</a:t>
            </a:r>
          </a:p>
          <a:p>
            <a:r>
              <a:rPr lang="en-IN" dirty="0"/>
              <a:t>for(int </a:t>
            </a:r>
            <a:r>
              <a:rPr lang="en-IN" dirty="0" err="1"/>
              <a:t>i</a:t>
            </a:r>
            <a:r>
              <a:rPr lang="en-IN" dirty="0"/>
              <a:t>=0;i&lt;=5;i++)</a:t>
            </a:r>
          </a:p>
          <a:p>
            <a:r>
              <a:rPr lang="en-IN" dirty="0"/>
              <a:t>{</a:t>
            </a:r>
          </a:p>
          <a:p>
            <a:r>
              <a:rPr lang="en-IN" dirty="0" err="1"/>
              <a:t>System.out.print</a:t>
            </a:r>
            <a:r>
              <a:rPr lang="en-IN" dirty="0"/>
              <a:t>(</a:t>
            </a:r>
            <a:r>
              <a:rPr lang="en-IN" dirty="0" err="1"/>
              <a:t>i</a:t>
            </a:r>
            <a:r>
              <a:rPr lang="en-IN" dirty="0"/>
              <a:t> + "  ");</a:t>
            </a:r>
          </a:p>
          <a:p>
            <a:r>
              <a:rPr lang="en-IN" dirty="0" err="1"/>
              <a:t>Thread.sleep</a:t>
            </a:r>
            <a:r>
              <a:rPr lang="en-IN" dirty="0"/>
              <a:t>(1000);</a:t>
            </a:r>
          </a:p>
          <a:p>
            <a:r>
              <a:rPr lang="en-IN" dirty="0"/>
              <a:t>}</a:t>
            </a:r>
          </a:p>
          <a:p>
            <a:r>
              <a:rPr lang="en-IN" dirty="0"/>
              <a:t>}</a:t>
            </a:r>
          </a:p>
          <a:p>
            <a:r>
              <a:rPr lang="en-IN" dirty="0"/>
              <a:t>catch (</a:t>
            </a:r>
            <a:r>
              <a:rPr lang="en-IN" dirty="0" err="1"/>
              <a:t>InterruptedException</a:t>
            </a:r>
            <a:r>
              <a:rPr lang="en-IN" dirty="0"/>
              <a:t> e)</a:t>
            </a:r>
          </a:p>
          <a:p>
            <a:r>
              <a:rPr lang="en-IN" dirty="0"/>
              <a:t>{</a:t>
            </a:r>
          </a:p>
          <a:p>
            <a:r>
              <a:rPr lang="en-IN" dirty="0"/>
              <a:t>}</a:t>
            </a:r>
          </a:p>
          <a:p>
            <a:r>
              <a:rPr lang="en-IN" dirty="0"/>
              <a:t>}</a:t>
            </a:r>
          </a:p>
          <a:p>
            <a:r>
              <a:rPr lang="en-IN" dirty="0"/>
              <a:t>}</a:t>
            </a:r>
          </a:p>
        </p:txBody>
      </p:sp>
      <p:sp>
        <p:nvSpPr>
          <p:cNvPr id="7" name="TextBox 6">
            <a:extLst>
              <a:ext uri="{FF2B5EF4-FFF2-40B4-BE49-F238E27FC236}">
                <a16:creationId xmlns:a16="http://schemas.microsoft.com/office/drawing/2014/main" id="{2ABC68D0-5382-F578-31FC-F2A3DDA58978}"/>
              </a:ext>
            </a:extLst>
          </p:cNvPr>
          <p:cNvSpPr txBox="1"/>
          <p:nvPr/>
        </p:nvSpPr>
        <p:spPr>
          <a:xfrm>
            <a:off x="4924628" y="263128"/>
            <a:ext cx="4355560" cy="6001643"/>
          </a:xfrm>
          <a:prstGeom prst="rect">
            <a:avLst/>
          </a:prstGeom>
          <a:noFill/>
        </p:spPr>
        <p:txBody>
          <a:bodyPr wrap="square">
            <a:spAutoFit/>
          </a:bodyPr>
          <a:lstStyle/>
          <a:p>
            <a:r>
              <a:rPr lang="en-IN" sz="1600" dirty="0"/>
              <a:t>class </a:t>
            </a:r>
            <a:r>
              <a:rPr lang="en-IN" sz="1600" dirty="0" err="1"/>
              <a:t>ThreadSM</a:t>
            </a:r>
            <a:r>
              <a:rPr lang="en-IN" sz="1600" dirty="0"/>
              <a:t> implements Runnable</a:t>
            </a:r>
          </a:p>
          <a:p>
            <a:r>
              <a:rPr lang="en-IN" sz="1600" dirty="0"/>
              <a:t>{</a:t>
            </a:r>
          </a:p>
          <a:p>
            <a:r>
              <a:rPr lang="en-IN" sz="1600" dirty="0" err="1"/>
              <a:t>ClassA</a:t>
            </a:r>
            <a:r>
              <a:rPr lang="en-IN" sz="1600" dirty="0"/>
              <a:t> ob1;</a:t>
            </a:r>
          </a:p>
          <a:p>
            <a:r>
              <a:rPr lang="en-IN" sz="1600" dirty="0"/>
              <a:t>Thread t;</a:t>
            </a:r>
          </a:p>
          <a:p>
            <a:r>
              <a:rPr lang="en-IN" sz="1600" dirty="0" err="1"/>
              <a:t>ThreadSM</a:t>
            </a:r>
            <a:r>
              <a:rPr lang="en-IN" sz="1600" dirty="0"/>
              <a:t>(</a:t>
            </a:r>
            <a:r>
              <a:rPr lang="en-IN" sz="1600" dirty="0" err="1"/>
              <a:t>ClassA</a:t>
            </a:r>
            <a:r>
              <a:rPr lang="en-IN" sz="1600" dirty="0"/>
              <a:t> c)</a:t>
            </a:r>
          </a:p>
          <a:p>
            <a:r>
              <a:rPr lang="en-IN" sz="1600" dirty="0"/>
              <a:t>{</a:t>
            </a:r>
          </a:p>
          <a:p>
            <a:r>
              <a:rPr lang="en-IN" sz="1600" dirty="0"/>
              <a:t>this.ob1 = c;</a:t>
            </a:r>
          </a:p>
          <a:p>
            <a:r>
              <a:rPr lang="en-IN" sz="1600" dirty="0"/>
              <a:t>t = new Thread(this);</a:t>
            </a:r>
          </a:p>
          <a:p>
            <a:r>
              <a:rPr lang="en-IN" sz="1600" dirty="0"/>
              <a:t>}</a:t>
            </a:r>
          </a:p>
          <a:p>
            <a:r>
              <a:rPr lang="en-IN" sz="1600" dirty="0"/>
              <a:t>public void run()</a:t>
            </a:r>
          </a:p>
          <a:p>
            <a:r>
              <a:rPr lang="en-IN" sz="1600" dirty="0"/>
              <a:t>{</a:t>
            </a:r>
          </a:p>
          <a:p>
            <a:r>
              <a:rPr lang="en-IN" sz="1600" dirty="0"/>
              <a:t>ob1.printvalue();</a:t>
            </a:r>
          </a:p>
          <a:p>
            <a:r>
              <a:rPr lang="en-IN" sz="1600" dirty="0"/>
              <a:t>}</a:t>
            </a:r>
          </a:p>
          <a:p>
            <a:r>
              <a:rPr lang="en-IN" sz="1600" dirty="0"/>
              <a:t>public static void main (String </a:t>
            </a:r>
            <a:r>
              <a:rPr lang="en-IN" sz="1600" dirty="0" err="1"/>
              <a:t>args</a:t>
            </a:r>
            <a:r>
              <a:rPr lang="en-IN" sz="1600" dirty="0"/>
              <a:t>[])</a:t>
            </a:r>
          </a:p>
          <a:p>
            <a:r>
              <a:rPr lang="en-IN" sz="1600" dirty="0"/>
              <a:t>{</a:t>
            </a:r>
          </a:p>
          <a:p>
            <a:r>
              <a:rPr lang="en-IN" sz="1600" dirty="0" err="1"/>
              <a:t>ClassA</a:t>
            </a:r>
            <a:r>
              <a:rPr lang="en-IN" sz="1600" dirty="0"/>
              <a:t> ca = new </a:t>
            </a:r>
            <a:r>
              <a:rPr lang="en-IN" sz="1600" dirty="0" err="1"/>
              <a:t>ClassA</a:t>
            </a:r>
            <a:r>
              <a:rPr lang="en-IN" sz="1600" dirty="0"/>
              <a:t>();</a:t>
            </a:r>
          </a:p>
          <a:p>
            <a:r>
              <a:rPr lang="en-IN" sz="1600" dirty="0" err="1"/>
              <a:t>ThreadSM</a:t>
            </a:r>
            <a:r>
              <a:rPr lang="en-IN" sz="1600" dirty="0"/>
              <a:t> one = new </a:t>
            </a:r>
            <a:r>
              <a:rPr lang="en-IN" sz="1600" dirty="0" err="1"/>
              <a:t>ThreadSM</a:t>
            </a:r>
            <a:r>
              <a:rPr lang="en-IN" sz="1600" dirty="0"/>
              <a:t>(ca);</a:t>
            </a:r>
          </a:p>
          <a:p>
            <a:r>
              <a:rPr lang="en-IN" sz="1600" dirty="0" err="1"/>
              <a:t>one.t.start</a:t>
            </a:r>
            <a:r>
              <a:rPr lang="en-IN" sz="1600" dirty="0"/>
              <a:t>();</a:t>
            </a:r>
          </a:p>
          <a:p>
            <a:r>
              <a:rPr lang="en-IN" sz="1600" dirty="0" err="1"/>
              <a:t>ThreadSM</a:t>
            </a:r>
            <a:r>
              <a:rPr lang="en-IN" sz="1600" dirty="0"/>
              <a:t> two = new </a:t>
            </a:r>
            <a:r>
              <a:rPr lang="en-IN" sz="1600" dirty="0" err="1"/>
              <a:t>ThreadSM</a:t>
            </a:r>
            <a:r>
              <a:rPr lang="en-IN" sz="1600" dirty="0"/>
              <a:t>(ca);</a:t>
            </a:r>
          </a:p>
          <a:p>
            <a:r>
              <a:rPr lang="en-IN" sz="1600" dirty="0" err="1"/>
              <a:t>two.t.start</a:t>
            </a:r>
            <a:r>
              <a:rPr lang="en-IN" sz="1600" dirty="0"/>
              <a:t>();</a:t>
            </a:r>
          </a:p>
          <a:p>
            <a:r>
              <a:rPr lang="en-IN" sz="1600" dirty="0" err="1"/>
              <a:t>ThreadSM</a:t>
            </a:r>
            <a:r>
              <a:rPr lang="en-IN" sz="1600" dirty="0"/>
              <a:t> three = new </a:t>
            </a:r>
            <a:r>
              <a:rPr lang="en-IN" sz="1600" dirty="0" err="1"/>
              <a:t>ThreadSM</a:t>
            </a:r>
            <a:r>
              <a:rPr lang="en-IN" sz="1600" dirty="0"/>
              <a:t>(ca);</a:t>
            </a:r>
          </a:p>
          <a:p>
            <a:r>
              <a:rPr lang="en-IN" sz="1600" dirty="0" err="1"/>
              <a:t>three.t.start</a:t>
            </a:r>
            <a:r>
              <a:rPr lang="en-IN" sz="1600" dirty="0"/>
              <a:t>();</a:t>
            </a:r>
          </a:p>
          <a:p>
            <a:r>
              <a:rPr lang="en-IN" sz="1600" dirty="0"/>
              <a:t>}</a:t>
            </a:r>
          </a:p>
          <a:p>
            <a:r>
              <a:rPr lang="en-IN" sz="1600" dirty="0"/>
              <a:t>}</a:t>
            </a:r>
          </a:p>
        </p:txBody>
      </p:sp>
      <p:sp>
        <p:nvSpPr>
          <p:cNvPr id="9" name="TextBox 8">
            <a:extLst>
              <a:ext uri="{FF2B5EF4-FFF2-40B4-BE49-F238E27FC236}">
                <a16:creationId xmlns:a16="http://schemas.microsoft.com/office/drawing/2014/main" id="{4B9E98D6-2674-B478-F3D2-408AB78EA961}"/>
              </a:ext>
            </a:extLst>
          </p:cNvPr>
          <p:cNvSpPr txBox="1"/>
          <p:nvPr/>
        </p:nvSpPr>
        <p:spPr>
          <a:xfrm>
            <a:off x="7407615" y="1301594"/>
            <a:ext cx="6094378" cy="1200329"/>
          </a:xfrm>
          <a:prstGeom prst="rect">
            <a:avLst/>
          </a:prstGeom>
          <a:noFill/>
        </p:spPr>
        <p:txBody>
          <a:bodyPr wrap="square">
            <a:spAutoFit/>
          </a:bodyPr>
          <a:lstStyle/>
          <a:p>
            <a:r>
              <a:rPr lang="en-IN" dirty="0"/>
              <a:t>C:\java\lab&gt;javac ThreadSM.java</a:t>
            </a:r>
          </a:p>
          <a:p>
            <a:endParaRPr lang="en-IN" dirty="0"/>
          </a:p>
          <a:p>
            <a:r>
              <a:rPr lang="en-IN" dirty="0"/>
              <a:t>C:\java\lab&gt;java </a:t>
            </a:r>
            <a:r>
              <a:rPr lang="en-IN" dirty="0" err="1"/>
              <a:t>ThreadSM</a:t>
            </a:r>
            <a:endParaRPr lang="en-IN" dirty="0"/>
          </a:p>
          <a:p>
            <a:r>
              <a:rPr lang="en-IN" dirty="0"/>
              <a:t>0  1  2  3  4  5  0  1  2  3  4  5  0  1  2  3  4  5</a:t>
            </a:r>
          </a:p>
        </p:txBody>
      </p:sp>
    </p:spTree>
    <p:extLst>
      <p:ext uri="{BB962C8B-B14F-4D97-AF65-F5344CB8AC3E}">
        <p14:creationId xmlns:p14="http://schemas.microsoft.com/office/powerpoint/2010/main" val="2076653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115CB-EB72-8F6C-A147-E338AFE7BBA6}"/>
              </a:ext>
            </a:extLst>
          </p:cNvPr>
          <p:cNvSpPr>
            <a:spLocks noGrp="1"/>
          </p:cNvSpPr>
          <p:nvPr>
            <p:ph type="title"/>
          </p:nvPr>
        </p:nvSpPr>
        <p:spPr>
          <a:xfrm>
            <a:off x="838200" y="160846"/>
            <a:ext cx="10515600" cy="636824"/>
          </a:xfrm>
        </p:spPr>
        <p:txBody>
          <a:bodyPr>
            <a:normAutofit fontScale="90000"/>
          </a:bodyPr>
          <a:lstStyle/>
          <a:p>
            <a:pPr algn="ctr"/>
            <a:r>
              <a:rPr lang="en-IN" dirty="0"/>
              <a:t>Synchronized statements</a:t>
            </a:r>
          </a:p>
        </p:txBody>
      </p:sp>
      <p:sp>
        <p:nvSpPr>
          <p:cNvPr id="3" name="Content Placeholder 2">
            <a:extLst>
              <a:ext uri="{FF2B5EF4-FFF2-40B4-BE49-F238E27FC236}">
                <a16:creationId xmlns:a16="http://schemas.microsoft.com/office/drawing/2014/main" id="{1B54432F-5F41-3F79-D876-E4709DC84721}"/>
              </a:ext>
            </a:extLst>
          </p:cNvPr>
          <p:cNvSpPr>
            <a:spLocks noGrp="1"/>
          </p:cNvSpPr>
          <p:nvPr>
            <p:ph idx="1"/>
          </p:nvPr>
        </p:nvSpPr>
        <p:spPr>
          <a:xfrm>
            <a:off x="731196" y="1253331"/>
            <a:ext cx="10515600" cy="4351338"/>
          </a:xfrm>
        </p:spPr>
        <p:txBody>
          <a:bodyPr>
            <a:normAutofit fontScale="92500"/>
          </a:bodyPr>
          <a:lstStyle/>
          <a:p>
            <a:r>
              <a:rPr lang="en-IN" dirty="0"/>
              <a:t>As an alternative to declaring a method synchronized, Java shows flexibility.</a:t>
            </a:r>
          </a:p>
          <a:p>
            <a:r>
              <a:rPr lang="en-IN" dirty="0"/>
              <a:t>The programmer can declare a part of the code as synchronized using synchronized statement.</a:t>
            </a:r>
          </a:p>
          <a:p>
            <a:r>
              <a:rPr lang="en-IN" dirty="0"/>
              <a:t>The general syntax of declaring a set of statements synchronized is as follows:</a:t>
            </a:r>
          </a:p>
          <a:p>
            <a:pPr marL="0" indent="0" algn="ctr">
              <a:buNone/>
            </a:pPr>
            <a:r>
              <a:rPr lang="en-IN" dirty="0"/>
              <a:t>synchronized &lt;object&gt; &lt;statement&gt;;</a:t>
            </a:r>
          </a:p>
          <a:p>
            <a:pPr algn="just"/>
            <a:r>
              <a:rPr lang="en-IN" dirty="0"/>
              <a:t>In the case of synchronized statements, we need to specify an object to act as a monitor for this object.</a:t>
            </a:r>
          </a:p>
          <a:p>
            <a:pPr algn="just"/>
            <a:r>
              <a:rPr lang="en-IN" dirty="0"/>
              <a:t>Each java object can act as a monitor and hence java object can be specified synchronized.</a:t>
            </a:r>
          </a:p>
        </p:txBody>
      </p:sp>
    </p:spTree>
    <p:extLst>
      <p:ext uri="{BB962C8B-B14F-4D97-AF65-F5344CB8AC3E}">
        <p14:creationId xmlns:p14="http://schemas.microsoft.com/office/powerpoint/2010/main" val="1876378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2754D3-E2BA-3A80-EA0E-0B2BADDDDA9D}"/>
              </a:ext>
            </a:extLst>
          </p:cNvPr>
          <p:cNvSpPr txBox="1"/>
          <p:nvPr/>
        </p:nvSpPr>
        <p:spPr>
          <a:xfrm>
            <a:off x="693096" y="235778"/>
            <a:ext cx="3489798" cy="3970318"/>
          </a:xfrm>
          <a:prstGeom prst="rect">
            <a:avLst/>
          </a:prstGeom>
          <a:noFill/>
        </p:spPr>
        <p:txBody>
          <a:bodyPr wrap="square">
            <a:spAutoFit/>
          </a:bodyPr>
          <a:lstStyle/>
          <a:p>
            <a:r>
              <a:rPr lang="en-IN" sz="1400" dirty="0"/>
              <a:t>import java.io.*;</a:t>
            </a:r>
          </a:p>
          <a:p>
            <a:r>
              <a:rPr lang="en-IN" sz="1400" dirty="0"/>
              <a:t>class </a:t>
            </a:r>
            <a:r>
              <a:rPr lang="en-IN" sz="1400" dirty="0" err="1"/>
              <a:t>ClassA</a:t>
            </a:r>
            <a:endParaRPr lang="en-IN" sz="1400" dirty="0"/>
          </a:p>
          <a:p>
            <a:r>
              <a:rPr lang="en-IN" sz="1400" dirty="0"/>
              <a:t>{</a:t>
            </a:r>
          </a:p>
          <a:p>
            <a:r>
              <a:rPr lang="en-IN" sz="1400" dirty="0"/>
              <a:t>synchronized void </a:t>
            </a:r>
            <a:r>
              <a:rPr lang="en-IN" sz="1400" dirty="0" err="1"/>
              <a:t>printvalue</a:t>
            </a:r>
            <a:r>
              <a:rPr lang="en-IN" sz="1400" dirty="0"/>
              <a:t> ()</a:t>
            </a:r>
          </a:p>
          <a:p>
            <a:r>
              <a:rPr lang="en-IN" sz="1400" dirty="0"/>
              <a:t>{</a:t>
            </a:r>
          </a:p>
          <a:p>
            <a:r>
              <a:rPr lang="en-IN" sz="1400" dirty="0"/>
              <a:t>try</a:t>
            </a:r>
          </a:p>
          <a:p>
            <a:r>
              <a:rPr lang="en-IN" sz="1400" dirty="0"/>
              <a:t>{</a:t>
            </a:r>
          </a:p>
          <a:p>
            <a:r>
              <a:rPr lang="en-IN" sz="1400" dirty="0"/>
              <a:t>for(int </a:t>
            </a:r>
            <a:r>
              <a:rPr lang="en-IN" sz="1400" dirty="0" err="1"/>
              <a:t>i</a:t>
            </a:r>
            <a:r>
              <a:rPr lang="en-IN" sz="1400" dirty="0"/>
              <a:t>=0;i&lt;=5;i++)</a:t>
            </a:r>
          </a:p>
          <a:p>
            <a:r>
              <a:rPr lang="en-IN" sz="1400" dirty="0"/>
              <a:t>{</a:t>
            </a:r>
          </a:p>
          <a:p>
            <a:r>
              <a:rPr lang="en-IN" sz="1400" dirty="0" err="1"/>
              <a:t>System.out.print</a:t>
            </a:r>
            <a:r>
              <a:rPr lang="en-IN" sz="1400" dirty="0"/>
              <a:t>(</a:t>
            </a:r>
            <a:r>
              <a:rPr lang="en-IN" sz="1400" dirty="0" err="1"/>
              <a:t>i</a:t>
            </a:r>
            <a:r>
              <a:rPr lang="en-IN" sz="1400" dirty="0"/>
              <a:t> + "  ");</a:t>
            </a:r>
          </a:p>
          <a:p>
            <a:r>
              <a:rPr lang="en-IN" sz="1400" dirty="0" err="1"/>
              <a:t>Thread.sleep</a:t>
            </a:r>
            <a:r>
              <a:rPr lang="en-IN" sz="1400" dirty="0"/>
              <a:t>((int)</a:t>
            </a:r>
            <a:r>
              <a:rPr lang="en-IN" sz="1400" dirty="0" err="1"/>
              <a:t>Math.random</a:t>
            </a:r>
            <a:r>
              <a:rPr lang="en-IN" sz="1400" dirty="0"/>
              <a:t>()*1000);</a:t>
            </a:r>
          </a:p>
          <a:p>
            <a:r>
              <a:rPr lang="en-IN" sz="1400" dirty="0"/>
              <a:t>}</a:t>
            </a:r>
          </a:p>
          <a:p>
            <a:r>
              <a:rPr lang="en-IN" sz="1400" dirty="0"/>
              <a:t>}</a:t>
            </a:r>
          </a:p>
          <a:p>
            <a:r>
              <a:rPr lang="en-IN" sz="1400" dirty="0"/>
              <a:t>catch (</a:t>
            </a:r>
            <a:r>
              <a:rPr lang="en-IN" sz="1400" dirty="0" err="1"/>
              <a:t>InterruptedException</a:t>
            </a:r>
            <a:r>
              <a:rPr lang="en-IN" sz="1400" dirty="0"/>
              <a:t> e)</a:t>
            </a:r>
          </a:p>
          <a:p>
            <a:r>
              <a:rPr lang="en-IN" sz="1400" dirty="0"/>
              <a:t>{</a:t>
            </a:r>
          </a:p>
          <a:p>
            <a:r>
              <a:rPr lang="en-IN" sz="1400" dirty="0"/>
              <a:t>}</a:t>
            </a:r>
          </a:p>
          <a:p>
            <a:r>
              <a:rPr lang="en-IN" sz="1400" dirty="0"/>
              <a:t>}</a:t>
            </a:r>
          </a:p>
          <a:p>
            <a:r>
              <a:rPr lang="en-IN" sz="1400" dirty="0"/>
              <a:t>}</a:t>
            </a:r>
          </a:p>
        </p:txBody>
      </p:sp>
      <p:sp>
        <p:nvSpPr>
          <p:cNvPr id="7" name="TextBox 6">
            <a:extLst>
              <a:ext uri="{FF2B5EF4-FFF2-40B4-BE49-F238E27FC236}">
                <a16:creationId xmlns:a16="http://schemas.microsoft.com/office/drawing/2014/main" id="{6062F334-4D0D-4AF6-0D8B-CA8980BC4CC5}"/>
              </a:ext>
            </a:extLst>
          </p:cNvPr>
          <p:cNvSpPr txBox="1"/>
          <p:nvPr/>
        </p:nvSpPr>
        <p:spPr>
          <a:xfrm>
            <a:off x="4000500" y="158915"/>
            <a:ext cx="4696028" cy="5909310"/>
          </a:xfrm>
          <a:prstGeom prst="rect">
            <a:avLst/>
          </a:prstGeom>
          <a:noFill/>
        </p:spPr>
        <p:txBody>
          <a:bodyPr wrap="square">
            <a:spAutoFit/>
          </a:bodyPr>
          <a:lstStyle/>
          <a:p>
            <a:r>
              <a:rPr lang="en-IN" sz="1400" dirty="0"/>
              <a:t>class </a:t>
            </a:r>
            <a:r>
              <a:rPr lang="en-IN" sz="1400" dirty="0" err="1"/>
              <a:t>ThreadSS</a:t>
            </a:r>
            <a:r>
              <a:rPr lang="en-IN" sz="1400" dirty="0"/>
              <a:t> implements Runnable</a:t>
            </a:r>
          </a:p>
          <a:p>
            <a:r>
              <a:rPr lang="en-IN" sz="1400" dirty="0"/>
              <a:t>{</a:t>
            </a:r>
          </a:p>
          <a:p>
            <a:r>
              <a:rPr lang="en-IN" sz="1400" dirty="0"/>
              <a:t>	</a:t>
            </a:r>
            <a:r>
              <a:rPr lang="en-IN" sz="1400" dirty="0" err="1"/>
              <a:t>ClassA</a:t>
            </a:r>
            <a:r>
              <a:rPr lang="en-IN" sz="1400" dirty="0"/>
              <a:t> ob1;</a:t>
            </a:r>
          </a:p>
          <a:p>
            <a:r>
              <a:rPr lang="en-IN" sz="1400" dirty="0"/>
              <a:t>	Thread t;</a:t>
            </a:r>
          </a:p>
          <a:p>
            <a:r>
              <a:rPr lang="en-IN" sz="1400" dirty="0"/>
              <a:t>	</a:t>
            </a:r>
            <a:r>
              <a:rPr lang="en-IN" sz="1400" dirty="0" err="1"/>
              <a:t>ThreadSS</a:t>
            </a:r>
            <a:r>
              <a:rPr lang="en-IN" sz="1400" dirty="0"/>
              <a:t>(</a:t>
            </a:r>
            <a:r>
              <a:rPr lang="en-IN" sz="1400" dirty="0" err="1"/>
              <a:t>ClassA</a:t>
            </a:r>
            <a:r>
              <a:rPr lang="en-IN" sz="1400" dirty="0"/>
              <a:t> c)</a:t>
            </a:r>
          </a:p>
          <a:p>
            <a:r>
              <a:rPr lang="en-IN" sz="1400" dirty="0"/>
              <a:t>	{</a:t>
            </a:r>
          </a:p>
          <a:p>
            <a:r>
              <a:rPr lang="en-IN" sz="1400" dirty="0"/>
              <a:t>		this.ob1 = c;</a:t>
            </a:r>
          </a:p>
          <a:p>
            <a:r>
              <a:rPr lang="en-IN" sz="1400" dirty="0"/>
              <a:t>		t = new Thread(this);</a:t>
            </a:r>
          </a:p>
          <a:p>
            <a:r>
              <a:rPr lang="en-IN" sz="1400" dirty="0"/>
              <a:t>	}</a:t>
            </a:r>
          </a:p>
          <a:p>
            <a:r>
              <a:rPr lang="en-IN" sz="1400" dirty="0"/>
              <a:t>	public void run()</a:t>
            </a:r>
          </a:p>
          <a:p>
            <a:r>
              <a:rPr lang="en-IN" sz="1400" dirty="0"/>
              <a:t>	{</a:t>
            </a:r>
          </a:p>
          <a:p>
            <a:r>
              <a:rPr lang="en-IN" sz="1400" dirty="0"/>
              <a:t>		synchronized(ob1)</a:t>
            </a:r>
          </a:p>
          <a:p>
            <a:r>
              <a:rPr lang="en-IN" sz="1400" dirty="0"/>
              <a:t>		{</a:t>
            </a:r>
          </a:p>
          <a:p>
            <a:r>
              <a:rPr lang="en-IN" sz="1400" dirty="0"/>
              <a:t>		ob1.printvalue();</a:t>
            </a:r>
          </a:p>
          <a:p>
            <a:r>
              <a:rPr lang="en-IN" sz="1400" dirty="0"/>
              <a:t>		}</a:t>
            </a:r>
          </a:p>
          <a:p>
            <a:r>
              <a:rPr lang="en-IN" sz="1400" dirty="0"/>
              <a:t>	}</a:t>
            </a:r>
          </a:p>
          <a:p>
            <a:r>
              <a:rPr lang="en-IN" sz="1400" dirty="0"/>
              <a:t>	public static void main (String </a:t>
            </a:r>
            <a:r>
              <a:rPr lang="en-IN" sz="1400" dirty="0" err="1"/>
              <a:t>args</a:t>
            </a:r>
            <a:r>
              <a:rPr lang="en-IN" sz="1400" dirty="0"/>
              <a:t>[])</a:t>
            </a:r>
          </a:p>
          <a:p>
            <a:r>
              <a:rPr lang="en-IN" sz="1400" dirty="0"/>
              <a:t>	{</a:t>
            </a:r>
          </a:p>
          <a:p>
            <a:r>
              <a:rPr lang="en-IN" sz="1400" dirty="0"/>
              <a:t>		</a:t>
            </a:r>
            <a:r>
              <a:rPr lang="en-IN" sz="1400" dirty="0" err="1"/>
              <a:t>ClassA</a:t>
            </a:r>
            <a:r>
              <a:rPr lang="en-IN" sz="1400" dirty="0"/>
              <a:t> ca = new </a:t>
            </a:r>
            <a:r>
              <a:rPr lang="en-IN" sz="1400" dirty="0" err="1"/>
              <a:t>ClassA</a:t>
            </a:r>
            <a:r>
              <a:rPr lang="en-IN" sz="1400" dirty="0"/>
              <a:t>();</a:t>
            </a:r>
          </a:p>
          <a:p>
            <a:r>
              <a:rPr lang="en-IN" sz="1400" dirty="0"/>
              <a:t>		</a:t>
            </a:r>
            <a:r>
              <a:rPr lang="en-IN" sz="1400" dirty="0" err="1"/>
              <a:t>ThreadSS</a:t>
            </a:r>
            <a:r>
              <a:rPr lang="en-IN" sz="1400" dirty="0"/>
              <a:t> one = new </a:t>
            </a:r>
            <a:r>
              <a:rPr lang="en-IN" sz="1400" dirty="0" err="1"/>
              <a:t>ThreadSS</a:t>
            </a:r>
            <a:r>
              <a:rPr lang="en-IN" sz="1400" dirty="0"/>
              <a:t>(ca);</a:t>
            </a:r>
          </a:p>
          <a:p>
            <a:r>
              <a:rPr lang="en-IN" sz="1400" dirty="0"/>
              <a:t>		</a:t>
            </a:r>
            <a:r>
              <a:rPr lang="en-IN" sz="1400" dirty="0" err="1"/>
              <a:t>one.t.start</a:t>
            </a:r>
            <a:r>
              <a:rPr lang="en-IN" sz="1400" dirty="0"/>
              <a:t>();</a:t>
            </a:r>
          </a:p>
          <a:p>
            <a:r>
              <a:rPr lang="en-IN" sz="1400" dirty="0"/>
              <a:t>		</a:t>
            </a:r>
            <a:r>
              <a:rPr lang="en-IN" sz="1400" dirty="0" err="1"/>
              <a:t>ThreadSS</a:t>
            </a:r>
            <a:r>
              <a:rPr lang="en-IN" sz="1400" dirty="0"/>
              <a:t> two = new </a:t>
            </a:r>
            <a:r>
              <a:rPr lang="en-IN" sz="1400" dirty="0" err="1"/>
              <a:t>ThreadSS</a:t>
            </a:r>
            <a:r>
              <a:rPr lang="en-IN" sz="1400" dirty="0"/>
              <a:t>(ca);</a:t>
            </a:r>
          </a:p>
          <a:p>
            <a:r>
              <a:rPr lang="en-IN" sz="1400" dirty="0"/>
              <a:t>		</a:t>
            </a:r>
            <a:r>
              <a:rPr lang="en-IN" sz="1400" dirty="0" err="1"/>
              <a:t>two.t.start</a:t>
            </a:r>
            <a:r>
              <a:rPr lang="en-IN" sz="1400" dirty="0"/>
              <a:t>();</a:t>
            </a:r>
          </a:p>
          <a:p>
            <a:r>
              <a:rPr lang="en-IN" sz="1400" dirty="0"/>
              <a:t>		</a:t>
            </a:r>
            <a:r>
              <a:rPr lang="en-IN" sz="1400" dirty="0" err="1"/>
              <a:t>ThreadSS</a:t>
            </a:r>
            <a:r>
              <a:rPr lang="en-IN" sz="1400" dirty="0"/>
              <a:t> three = new </a:t>
            </a:r>
            <a:r>
              <a:rPr lang="en-IN" sz="1400" dirty="0" err="1"/>
              <a:t>ThreadSS</a:t>
            </a:r>
            <a:r>
              <a:rPr lang="en-IN" sz="1400" dirty="0"/>
              <a:t>(ca);</a:t>
            </a:r>
          </a:p>
          <a:p>
            <a:r>
              <a:rPr lang="en-IN" sz="1400" dirty="0"/>
              <a:t>		</a:t>
            </a:r>
            <a:r>
              <a:rPr lang="en-IN" sz="1400" dirty="0" err="1"/>
              <a:t>three.t.start</a:t>
            </a:r>
            <a:r>
              <a:rPr lang="en-IN" sz="1400" dirty="0"/>
              <a:t>();</a:t>
            </a:r>
          </a:p>
          <a:p>
            <a:r>
              <a:rPr lang="en-IN" sz="1400" dirty="0"/>
              <a:t>	}</a:t>
            </a:r>
          </a:p>
          <a:p>
            <a:r>
              <a:rPr lang="en-IN" sz="1400" dirty="0"/>
              <a:t>}</a:t>
            </a:r>
          </a:p>
        </p:txBody>
      </p:sp>
      <p:sp>
        <p:nvSpPr>
          <p:cNvPr id="9" name="TextBox 8">
            <a:extLst>
              <a:ext uri="{FF2B5EF4-FFF2-40B4-BE49-F238E27FC236}">
                <a16:creationId xmlns:a16="http://schemas.microsoft.com/office/drawing/2014/main" id="{2C998BD7-57F8-1167-3C43-F66179B570E7}"/>
              </a:ext>
            </a:extLst>
          </p:cNvPr>
          <p:cNvSpPr txBox="1"/>
          <p:nvPr/>
        </p:nvSpPr>
        <p:spPr>
          <a:xfrm>
            <a:off x="381810" y="5328844"/>
            <a:ext cx="6094378" cy="1200329"/>
          </a:xfrm>
          <a:prstGeom prst="rect">
            <a:avLst/>
          </a:prstGeom>
          <a:noFill/>
        </p:spPr>
        <p:txBody>
          <a:bodyPr wrap="square">
            <a:spAutoFit/>
          </a:bodyPr>
          <a:lstStyle/>
          <a:p>
            <a:r>
              <a:rPr lang="en-IN" dirty="0"/>
              <a:t>C:\java\lab&gt;javac ThreadSS.java</a:t>
            </a:r>
          </a:p>
          <a:p>
            <a:endParaRPr lang="en-IN" dirty="0"/>
          </a:p>
          <a:p>
            <a:r>
              <a:rPr lang="en-IN" dirty="0"/>
              <a:t>C:\java\lab&gt;java </a:t>
            </a:r>
            <a:r>
              <a:rPr lang="en-IN" dirty="0" err="1"/>
              <a:t>ThreadSS</a:t>
            </a:r>
            <a:endParaRPr lang="en-IN" dirty="0"/>
          </a:p>
          <a:p>
            <a:r>
              <a:rPr lang="en-IN" dirty="0"/>
              <a:t>0  1  2  3  4  5  0  1  2  3  4  5  0  1  2  3  4  5</a:t>
            </a:r>
          </a:p>
        </p:txBody>
      </p:sp>
    </p:spTree>
    <p:extLst>
      <p:ext uri="{BB962C8B-B14F-4D97-AF65-F5344CB8AC3E}">
        <p14:creationId xmlns:p14="http://schemas.microsoft.com/office/powerpoint/2010/main" val="391701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2686</Words>
  <Application>Microsoft Office PowerPoint</Application>
  <PresentationFormat>Widescreen</PresentationFormat>
  <Paragraphs>308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OBJECT ORIENTED PROGRAMMING Multithreading</vt:lpstr>
      <vt:lpstr>Multithreading in Java</vt:lpstr>
      <vt:lpstr>Advantage of Java Multithreading</vt:lpstr>
      <vt:lpstr>Thread in Java </vt:lpstr>
      <vt:lpstr>Life cycle of Thread</vt:lpstr>
      <vt:lpstr>Life cycle of Thread</vt:lpstr>
      <vt:lpstr>Life cycle of Thread</vt:lpstr>
      <vt:lpstr>How to create Thread in Java</vt:lpstr>
      <vt:lpstr>Thread Class</vt:lpstr>
      <vt:lpstr>Create thread using Thread()</vt:lpstr>
      <vt:lpstr>Create thread using Thread(String str)</vt:lpstr>
      <vt:lpstr>Create thread using Thread (Runnable R)</vt:lpstr>
      <vt:lpstr>Create thread using Thread (Runnable r, String r)</vt:lpstr>
      <vt:lpstr>Multithreading in Java </vt:lpstr>
      <vt:lpstr>PowerPoint Presentation</vt:lpstr>
      <vt:lpstr>Thread Priority in java</vt:lpstr>
      <vt:lpstr>PowerPoint Presentation</vt:lpstr>
      <vt:lpstr>Thread Synchronization</vt:lpstr>
      <vt:lpstr>Synchronized methods</vt:lpstr>
      <vt:lpstr>PowerPoint Presentation</vt:lpstr>
      <vt:lpstr>Synchronized statements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Multithreading</dc:title>
  <dc:creator>ABINASH TRIPATHY</dc:creator>
  <cp:lastModifiedBy>Abinash Tripathy</cp:lastModifiedBy>
  <cp:revision>5</cp:revision>
  <dcterms:created xsi:type="dcterms:W3CDTF">2023-06-22T13:00:25Z</dcterms:created>
  <dcterms:modified xsi:type="dcterms:W3CDTF">2024-03-19T07:08:17Z</dcterms:modified>
</cp:coreProperties>
</file>